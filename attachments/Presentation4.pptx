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76" r:id="rId2"/>
    <p:sldId id="27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AD3844-4FB9-483E-A63E-0EB76A33B88E}"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D10D0-1DC1-4F23-AA16-0E734248CF32}" type="slidenum">
              <a:rPr lang="en-IN" smtClean="0"/>
              <a:t>‹#›</a:t>
            </a:fld>
            <a:endParaRPr lang="en-IN"/>
          </a:p>
        </p:txBody>
      </p:sp>
    </p:spTree>
    <p:extLst>
      <p:ext uri="{BB962C8B-B14F-4D97-AF65-F5344CB8AC3E}">
        <p14:creationId xmlns:p14="http://schemas.microsoft.com/office/powerpoint/2010/main" val="1040176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0ADE6-8E13-193D-079C-C05353DD27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710D20-F08A-5F78-D498-3FBD640AD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F065D0-77EC-5269-7229-D23CF4B8FFCF}"/>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5" name="Footer Placeholder 4">
            <a:extLst>
              <a:ext uri="{FF2B5EF4-FFF2-40B4-BE49-F238E27FC236}">
                <a16:creationId xmlns:a16="http://schemas.microsoft.com/office/drawing/2014/main" id="{B5272970-F05A-4F8F-35F8-6C923F5AEC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D24530-454D-63E2-28C3-20A42C1FC603}"/>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3882701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9D28B-5FC2-0774-8A1A-A93120403A4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FA0840-94C0-C68C-60D8-ED49FE246F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82DE70-D812-1E05-941E-AAA3FE909D46}"/>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5" name="Footer Placeholder 4">
            <a:extLst>
              <a:ext uri="{FF2B5EF4-FFF2-40B4-BE49-F238E27FC236}">
                <a16:creationId xmlns:a16="http://schemas.microsoft.com/office/drawing/2014/main" id="{D863854E-82C5-FDFB-6324-349C91C1D7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D0451A-4148-090F-52C0-9D9F68DE082C}"/>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3720714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CC76A-801B-38EB-FC99-8824F5C9086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615FC4-10E5-FED5-6013-1E8E27745E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D8BF97-A6CE-6983-6288-A22169518D2C}"/>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5" name="Footer Placeholder 4">
            <a:extLst>
              <a:ext uri="{FF2B5EF4-FFF2-40B4-BE49-F238E27FC236}">
                <a16:creationId xmlns:a16="http://schemas.microsoft.com/office/drawing/2014/main" id="{B14CB7B6-D260-D34A-6952-EE44C034D8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099C27-A882-1DB2-E4A4-D9A589D18469}"/>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1959970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DD6D1-4072-8B49-44A5-C934A47064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D8F9EAD-6722-8B4D-E195-545805A4D2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C14A3BD-FA93-8AEF-3045-93EB76E152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41FDCFE-4366-38F3-5640-A38AECD847BB}"/>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6" name="Footer Placeholder 5">
            <a:extLst>
              <a:ext uri="{FF2B5EF4-FFF2-40B4-BE49-F238E27FC236}">
                <a16:creationId xmlns:a16="http://schemas.microsoft.com/office/drawing/2014/main" id="{217EACB2-BD3F-7B18-4643-FCFDDB66ED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817560-9355-FB75-F831-F24D494A95BE}"/>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1898436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CFF98-3B12-601F-3CEF-A00FF25AF4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ADFD31-37AD-9CF7-4CA8-7EDFB65F89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6B82F3-E19E-62D5-DB98-5544808385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89F314B-96CD-C9C6-6E14-A3122D7D3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DF55E0-B626-0E09-1714-AD80C738D3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FFFB1B-982C-733B-2D43-3E2914740FEF}"/>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8" name="Footer Placeholder 7">
            <a:extLst>
              <a:ext uri="{FF2B5EF4-FFF2-40B4-BE49-F238E27FC236}">
                <a16:creationId xmlns:a16="http://schemas.microsoft.com/office/drawing/2014/main" id="{F3CC06B8-C0D7-B83D-1963-B315577B84F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A8FFEB-B38F-DE13-C47C-F936AC0F905F}"/>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2087351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4B0BB-C5C6-71CB-63C9-223BF59BD3E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6D8CC6-0BCE-44C6-06E4-4577EAFB4427}"/>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4" name="Footer Placeholder 3">
            <a:extLst>
              <a:ext uri="{FF2B5EF4-FFF2-40B4-BE49-F238E27FC236}">
                <a16:creationId xmlns:a16="http://schemas.microsoft.com/office/drawing/2014/main" id="{24846D09-9148-0798-804F-89E3D3B48A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DF5936-F0F1-326E-B0D9-8DF7A0A7327C}"/>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749569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2BE3FB-2A0A-68BD-FD1E-D643B91E793E}"/>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3" name="Footer Placeholder 2">
            <a:extLst>
              <a:ext uri="{FF2B5EF4-FFF2-40B4-BE49-F238E27FC236}">
                <a16:creationId xmlns:a16="http://schemas.microsoft.com/office/drawing/2014/main" id="{917C4CA1-33FE-860D-5504-8058692CDF4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66C6C2E-7FBC-15FB-CBEF-D83D541B2110}"/>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599756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8FD97-72EE-AEE4-E4F6-BDE483C40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5A1818F-2976-8966-C0BC-52E79DCEDB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A5A425-B372-170C-696A-7F5BDD1A4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DE5C16-BA8D-5123-3A57-113ADCFEF468}"/>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6" name="Footer Placeholder 5">
            <a:extLst>
              <a:ext uri="{FF2B5EF4-FFF2-40B4-BE49-F238E27FC236}">
                <a16:creationId xmlns:a16="http://schemas.microsoft.com/office/drawing/2014/main" id="{829BE4F5-E463-2CA0-1C76-83E8A09A11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BE58B9-D618-7AF8-1AEA-E584F38E1D75}"/>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2642153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FF8D5-4E5E-F661-FEE6-D16BAFF036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530514-B0BF-BE5D-BEC6-C18EA6943A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D68B8FD-5182-B38D-088B-08F534147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E0C60E-1E9C-F133-0AA8-C04071DE1F84}"/>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6" name="Footer Placeholder 5">
            <a:extLst>
              <a:ext uri="{FF2B5EF4-FFF2-40B4-BE49-F238E27FC236}">
                <a16:creationId xmlns:a16="http://schemas.microsoft.com/office/drawing/2014/main" id="{D9ACA394-145A-0373-E12E-62E4D93304B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AF8026-C6D6-340A-EEBE-CF4036EC0EC5}"/>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815263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A033-40F1-6F6D-F62C-BE0DB08362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06E0CAD-4625-65CA-F73D-716A06FA3B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5782B4-B7BF-A82D-E575-A1F38D18645C}"/>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5" name="Footer Placeholder 4">
            <a:extLst>
              <a:ext uri="{FF2B5EF4-FFF2-40B4-BE49-F238E27FC236}">
                <a16:creationId xmlns:a16="http://schemas.microsoft.com/office/drawing/2014/main" id="{EF0E5F68-E82C-E595-ED6D-83E06A2621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7259B4-FE7D-6C79-BCDD-3761CB3547E2}"/>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827957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C8A2FB-871B-1D8F-722E-A49FBE0FAD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670AB4-ACC6-1AF9-F76D-13FBB9FCFB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A19DD6-8C82-A191-E5B0-9169CCDCDD45}"/>
              </a:ext>
            </a:extLst>
          </p:cNvPr>
          <p:cNvSpPr>
            <a:spLocks noGrp="1"/>
          </p:cNvSpPr>
          <p:nvPr>
            <p:ph type="dt" sz="half" idx="10"/>
          </p:nvPr>
        </p:nvSpPr>
        <p:spPr/>
        <p:txBody>
          <a:bodyPr/>
          <a:lstStyle/>
          <a:p>
            <a:fld id="{37EFF54B-A024-4E8C-A20F-4866ED55B48D}" type="datetimeFigureOut">
              <a:rPr lang="en-IN" smtClean="0"/>
              <a:t>30-10-2026</a:t>
            </a:fld>
            <a:endParaRPr lang="en-IN"/>
          </a:p>
        </p:txBody>
      </p:sp>
      <p:sp>
        <p:nvSpPr>
          <p:cNvPr id="5" name="Footer Placeholder 4">
            <a:extLst>
              <a:ext uri="{FF2B5EF4-FFF2-40B4-BE49-F238E27FC236}">
                <a16:creationId xmlns:a16="http://schemas.microsoft.com/office/drawing/2014/main" id="{4D1246DB-32AD-034E-0EA3-E3E17E1E02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A461EF-B33D-6A60-EBD9-C052ED51D63D}"/>
              </a:ext>
            </a:extLst>
          </p:cNvPr>
          <p:cNvSpPr>
            <a:spLocks noGrp="1"/>
          </p:cNvSpPr>
          <p:nvPr>
            <p:ph type="sldNum" sz="quarter" idx="12"/>
          </p:nvPr>
        </p:nvSpPr>
        <p:spPr/>
        <p:txBody>
          <a:bodyPr/>
          <a:lstStyle/>
          <a:p>
            <a:fld id="{42C4799A-8BD0-4FD1-953B-121F65590F33}" type="slidenum">
              <a:rPr lang="en-IN" smtClean="0"/>
              <a:t>‹#›</a:t>
            </a:fld>
            <a:endParaRPr lang="en-IN"/>
          </a:p>
        </p:txBody>
      </p:sp>
    </p:spTree>
    <p:extLst>
      <p:ext uri="{BB962C8B-B14F-4D97-AF65-F5344CB8AC3E}">
        <p14:creationId xmlns:p14="http://schemas.microsoft.com/office/powerpoint/2010/main" val="492893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3074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3AED17-8FFC-1080-423C-9030216CF3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906F8D9-6C03-318C-7D22-7FD7DBE7FF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5E7D9B-9646-C2A9-8557-38755C174A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FF54B-A024-4E8C-A20F-4866ED55B48D}" type="datetimeFigureOut">
              <a:rPr lang="en-IN" smtClean="0"/>
              <a:t>30-10-2026</a:t>
            </a:fld>
            <a:endParaRPr lang="en-IN"/>
          </a:p>
        </p:txBody>
      </p:sp>
      <p:sp>
        <p:nvSpPr>
          <p:cNvPr id="5" name="Footer Placeholder 4">
            <a:extLst>
              <a:ext uri="{FF2B5EF4-FFF2-40B4-BE49-F238E27FC236}">
                <a16:creationId xmlns:a16="http://schemas.microsoft.com/office/drawing/2014/main" id="{A6576A9F-014D-22D8-43B0-F762760F17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7AC270F-1FD5-59F6-2235-68C2BDB6AC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C4799A-8BD0-4FD1-953B-121F65590F33}" type="slidenum">
              <a:rPr lang="en-IN" smtClean="0"/>
              <a:t>‹#›</a:t>
            </a:fld>
            <a:endParaRPr lang="en-IN"/>
          </a:p>
        </p:txBody>
      </p:sp>
    </p:spTree>
    <p:extLst>
      <p:ext uri="{BB962C8B-B14F-4D97-AF65-F5344CB8AC3E}">
        <p14:creationId xmlns:p14="http://schemas.microsoft.com/office/powerpoint/2010/main" val="3161582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5908" y="1143000"/>
            <a:ext cx="5760720" cy="4937760"/>
          </a:xfrm>
          <a:prstGeom prst="roundRect">
            <a:avLst>
              <a:gd name="adj" fmla="val 1852"/>
            </a:avLst>
          </a:prstGeom>
          <a:solidFill>
            <a:srgbClr val="141416"/>
          </a:solidFill>
          <a:ln/>
        </p:spPr>
      </p:sp>
      <p:sp>
        <p:nvSpPr>
          <p:cNvPr id="6" name="Shape 4"/>
          <p:cNvSpPr/>
          <p:nvPr/>
        </p:nvSpPr>
        <p:spPr>
          <a:xfrm>
            <a:off x="275908" y="1143000"/>
            <a:ext cx="109728" cy="4937760"/>
          </a:xfrm>
          <a:prstGeom prst="rect">
            <a:avLst/>
          </a:prstGeom>
          <a:solidFill>
            <a:srgbClr val="1D5C68"/>
          </a:solidFill>
          <a:ln/>
        </p:spPr>
      </p:sp>
      <p:sp>
        <p:nvSpPr>
          <p:cNvPr id="7" name="Text 5"/>
          <p:cNvSpPr/>
          <p:nvPr/>
        </p:nvSpPr>
        <p:spPr>
          <a:xfrm>
            <a:off x="504508" y="1280160"/>
            <a:ext cx="5303520" cy="274320"/>
          </a:xfrm>
          <a:prstGeom prst="rect">
            <a:avLst/>
          </a:prstGeom>
          <a:noFill/>
          <a:ln/>
        </p:spPr>
        <p:txBody>
          <a:bodyPr wrap="square" rtlCol="0" anchor="ctr"/>
          <a:lstStyle/>
          <a:p>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4508" y="1600200"/>
            <a:ext cx="5303520" cy="228600"/>
          </a:xfrm>
          <a:prstGeom prst="rect">
            <a:avLst/>
          </a:prstGeom>
          <a:noFill/>
          <a:ln/>
        </p:spPr>
        <p:txBody>
          <a:bodyPr wrap="square" rtlCol="0" anchor="ctr"/>
          <a:lstStyle/>
          <a:p>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4508" y="1920240"/>
            <a:ext cx="5303520" cy="38404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Pilot is 30–60 days, shadow mode first, then auto-approve on high confidence. Nine-quote golden set owned by RevOps — currently 9 of 9. Langfuse traces every hop. Escalate names a person and an SLA. Seller keeps Sent, Signed, and Converted.</a:t>
            </a:r>
            <a:endParaRPr lang="en-US" sz="1200" dirty="0"/>
          </a:p>
        </p:txBody>
      </p:sp>
      <p:sp>
        <p:nvSpPr>
          <p:cNvPr id="10" name="Shape 8"/>
          <p:cNvSpPr/>
          <p:nvPr/>
        </p:nvSpPr>
        <p:spPr>
          <a:xfrm>
            <a:off x="6219508" y="1143000"/>
            <a:ext cx="5669280" cy="4937760"/>
          </a:xfrm>
          <a:prstGeom prst="roundRect">
            <a:avLst>
              <a:gd name="adj" fmla="val 1852"/>
            </a:avLst>
          </a:prstGeom>
          <a:solidFill>
            <a:srgbClr val="141416"/>
          </a:solidFill>
          <a:ln/>
        </p:spPr>
      </p:sp>
      <p:sp>
        <p:nvSpPr>
          <p:cNvPr id="11" name="Shape 9"/>
          <p:cNvSpPr/>
          <p:nvPr/>
        </p:nvSpPr>
        <p:spPr>
          <a:xfrm>
            <a:off x="6219508" y="1143000"/>
            <a:ext cx="109728" cy="4937760"/>
          </a:xfrm>
          <a:prstGeom prst="rect">
            <a:avLst/>
          </a:prstGeom>
          <a:solidFill>
            <a:srgbClr val="2F6A4F"/>
          </a:solidFill>
          <a:ln/>
        </p:spPr>
      </p:sp>
      <p:sp>
        <p:nvSpPr>
          <p:cNvPr id="12" name="Text 10"/>
          <p:cNvSpPr/>
          <p:nvPr/>
        </p:nvSpPr>
        <p:spPr>
          <a:xfrm>
            <a:off x="6448108" y="1280160"/>
            <a:ext cx="5212080" cy="274320"/>
          </a:xfrm>
          <a:prstGeom prst="rect">
            <a:avLst/>
          </a:prstGeom>
          <a:noFill/>
          <a:ln/>
        </p:spPr>
        <p:txBody>
          <a:bodyPr wrap="square" rtlCol="0" anchor="ctr"/>
          <a:lstStyle/>
          <a:p>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8108" y="1600200"/>
            <a:ext cx="5212080" cy="228600"/>
          </a:xfrm>
          <a:prstGeom prst="rect">
            <a:avLst/>
          </a:prstGeom>
          <a:noFill/>
          <a:ln/>
        </p:spPr>
        <p:txBody>
          <a:bodyPr wrap="square" rtlCol="0" anchor="ctr"/>
          <a:lstStyle/>
          <a:p>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8108" y="1920240"/>
            <a:ext cx="5212080" cy="38404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588" y="0"/>
            <a:ext cx="12188952" cy="960120"/>
          </a:xfrm>
          <a:prstGeom prst="rect">
            <a:avLst/>
          </a:prstGeom>
          <a:solidFill>
            <a:srgbClr val="1D5C68"/>
          </a:solidFill>
          <a:ln/>
        </p:spPr>
      </p:sp>
      <p:sp>
        <p:nvSpPr>
          <p:cNvPr id="3" name="Text 1"/>
          <p:cNvSpPr/>
          <p:nvPr/>
        </p:nvSpPr>
        <p:spPr>
          <a:xfrm>
            <a:off x="413068" y="164592"/>
            <a:ext cx="9144000" cy="384048"/>
          </a:xfrm>
          <a:prstGeom prst="rect">
            <a:avLst/>
          </a:prstGeom>
          <a:noFill/>
          <a:ln/>
        </p:spPr>
        <p:txBody>
          <a:bodyPr wrap="square" rtlCol="0" anchor="ctr"/>
          <a:lstStyle/>
          <a:p>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3068" y="566928"/>
            <a:ext cx="10972800" cy="256032"/>
          </a:xfrm>
          <a:prstGeom prst="rect">
            <a:avLst/>
          </a:prstGeom>
          <a:noFill/>
          <a:ln/>
        </p:spPr>
        <p:txBody>
          <a:bodyPr wrap="square" rtlCol="0" anchor="ctr"/>
          <a:lstStyle/>
          <a:p>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5908" y="1143000"/>
            <a:ext cx="5760720" cy="4937760"/>
          </a:xfrm>
          <a:prstGeom prst="roundRect">
            <a:avLst>
              <a:gd name="adj" fmla="val 1852"/>
            </a:avLst>
          </a:prstGeom>
          <a:solidFill>
            <a:srgbClr val="141416"/>
          </a:solidFill>
          <a:ln/>
        </p:spPr>
      </p:sp>
      <p:sp>
        <p:nvSpPr>
          <p:cNvPr id="6" name="Shape 4"/>
          <p:cNvSpPr/>
          <p:nvPr/>
        </p:nvSpPr>
        <p:spPr>
          <a:xfrm>
            <a:off x="275908" y="1143000"/>
            <a:ext cx="109728" cy="4937760"/>
          </a:xfrm>
          <a:prstGeom prst="rect">
            <a:avLst/>
          </a:prstGeom>
          <a:solidFill>
            <a:srgbClr val="00D4AA"/>
          </a:solidFill>
          <a:ln/>
        </p:spPr>
      </p:sp>
      <p:sp>
        <p:nvSpPr>
          <p:cNvPr id="7" name="Text 5"/>
          <p:cNvSpPr/>
          <p:nvPr/>
        </p:nvSpPr>
        <p:spPr>
          <a:xfrm>
            <a:off x="504508" y="1280160"/>
            <a:ext cx="5303520" cy="274320"/>
          </a:xfrm>
          <a:prstGeom prst="rect">
            <a:avLst/>
          </a:prstGeom>
          <a:noFill/>
          <a:ln/>
        </p:spPr>
        <p:txBody>
          <a:bodyPr wrap="square" rtlCol="0" anchor="ctr"/>
          <a:lstStyle/>
          <a:p>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4508" y="1600200"/>
            <a:ext cx="5303520" cy="228600"/>
          </a:xfrm>
          <a:prstGeom prst="rect">
            <a:avLst/>
          </a:prstGeom>
          <a:noFill/>
          <a:ln/>
        </p:spPr>
        <p:txBody>
          <a:bodyPr wrap="square" rtlCol="0" anchor="ctr"/>
          <a:lstStyle/>
          <a:p>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4508" y="1920240"/>
            <a:ext cx="5303520" cy="38404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9508" y="1143000"/>
            <a:ext cx="5669280" cy="4937760"/>
          </a:xfrm>
          <a:prstGeom prst="roundRect">
            <a:avLst>
              <a:gd name="adj" fmla="val 1852"/>
            </a:avLst>
          </a:prstGeom>
          <a:solidFill>
            <a:srgbClr val="141416"/>
          </a:solidFill>
          <a:ln/>
        </p:spPr>
      </p:sp>
      <p:sp>
        <p:nvSpPr>
          <p:cNvPr id="11" name="Shape 9"/>
          <p:cNvSpPr/>
          <p:nvPr/>
        </p:nvSpPr>
        <p:spPr>
          <a:xfrm>
            <a:off x="6219508" y="1143000"/>
            <a:ext cx="109728" cy="4937760"/>
          </a:xfrm>
          <a:prstGeom prst="rect">
            <a:avLst/>
          </a:prstGeom>
          <a:solidFill>
            <a:srgbClr val="FF3D6E"/>
          </a:solidFill>
          <a:ln/>
        </p:spPr>
      </p:sp>
      <p:sp>
        <p:nvSpPr>
          <p:cNvPr id="12" name="Text 10"/>
          <p:cNvSpPr/>
          <p:nvPr/>
        </p:nvSpPr>
        <p:spPr>
          <a:xfrm>
            <a:off x="6448108" y="1280160"/>
            <a:ext cx="5212080" cy="274320"/>
          </a:xfrm>
          <a:prstGeom prst="rect">
            <a:avLst/>
          </a:prstGeom>
          <a:noFill/>
          <a:ln/>
        </p:spPr>
        <p:txBody>
          <a:bodyPr wrap="square" rtlCol="0" anchor="ctr"/>
          <a:lstStyle/>
          <a:p>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8108" y="1600200"/>
            <a:ext cx="5212080" cy="228600"/>
          </a:xfrm>
          <a:prstGeom prst="rect">
            <a:avLst/>
          </a:prstGeom>
          <a:noFill/>
          <a:ln/>
        </p:spPr>
        <p:txBody>
          <a:bodyPr wrap="square" rtlCol="0" anchor="ctr"/>
          <a:lstStyle/>
          <a:p>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8108" y="1920240"/>
            <a:ext cx="5212080" cy="3840480"/>
          </a:xfrm>
          <a:prstGeom prst="rect">
            <a:avLst/>
          </a:prstGeom>
          <a:noFill/>
          <a:ln/>
        </p:spPr>
        <p:txBody>
          <a:bodyPr wrap="square" rtlCol="0" anchor="ctr"/>
          <a:lstStyle/>
          <a:p>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Words>
  <Application>Microsoft Office PowerPoint</Application>
  <PresentationFormat>Widescreen</PresentationFormat>
  <Paragraphs>18</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Sarthak Jasra</dc:creator>
  <cp:lastModifiedBy>Sarthak Jasra</cp:lastModifiedBy>
  <cp:revision>1</cp:revision>
  <dcterms:created xsi:type="dcterms:W3CDTF">2026-10-30T17:45:25Z</dcterms:created>
  <dcterms:modified xsi:type="dcterms:W3CDTF">2026-10-30T17:45:29Z</dcterms:modified>
</cp:coreProperties>
</file>