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82" r:id="rId2"/>
    <p:sldId id="283"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C9800-3E68-47AD-9907-8B2CA19BC790}"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8ACFC-720A-4804-8604-BA0EFD4F9894}" type="slidenum">
              <a:rPr lang="en-IN" smtClean="0"/>
              <a:t>‹#›</a:t>
            </a:fld>
            <a:endParaRPr lang="en-IN"/>
          </a:p>
        </p:txBody>
      </p:sp>
    </p:spTree>
    <p:extLst>
      <p:ext uri="{BB962C8B-B14F-4D97-AF65-F5344CB8AC3E}">
        <p14:creationId xmlns:p14="http://schemas.microsoft.com/office/powerpoint/2010/main" val="2243286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E3BA-9B6B-F283-1F53-E3A32CEC2F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D3BE9E-5EF4-2E5D-CA0D-149B5B7FB0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CC647B-DDBE-6BD0-EC28-BDDFF1493F43}"/>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1971FEF4-1FA8-64E7-BBC5-891540E5E1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74471E-265A-5EB4-91F5-29EB746BD597}"/>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313087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A76C2-60F6-4BB2-76CD-7BCF3DCD9B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1BE0B0-E2B6-6BD0-EE3D-C6090792F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CAF9C7-6739-7BC8-8421-3763A997B278}"/>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B32F264C-1226-1DF9-D338-96EA2F3BAC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0D0FA3-029B-F339-D5EA-175EC343B8B0}"/>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815153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E6874-AC55-A257-E2EB-3C1246363B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24ED46D-2697-ACD3-0F2A-FE5F70A2AE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223A2D-7AFB-4B77-98AF-3330E56DC755}"/>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13D13412-EEBD-1547-EAE4-F468103BBB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AEC5FF-40B1-9BEF-7AAE-3032DF4C4C4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897449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C89DA-94A2-0A7F-65C2-969357EE04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A93D1C-D729-DA06-3939-8C648A086F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3595FEC-1A4A-B4D3-4154-62B3E3E2B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51233E-0A6E-7FFE-375A-84FF7FFCD2F2}"/>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6" name="Footer Placeholder 5">
            <a:extLst>
              <a:ext uri="{FF2B5EF4-FFF2-40B4-BE49-F238E27FC236}">
                <a16:creationId xmlns:a16="http://schemas.microsoft.com/office/drawing/2014/main" id="{D784CEE6-3ADC-7581-8676-4782E4D8B4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A0B0E7-3F6E-51D2-A48E-5F632D5A21AB}"/>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171546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03F93-E662-DAEA-78C5-374028AB59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D12429-2949-80AA-D55A-50E8C451FE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1A9352-037F-B8B3-7732-AFA65ACE04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43EC55-5983-629F-195D-093875C394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138021-B586-FE30-45F9-5273E7CB54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9DA8B7-0432-410B-0A3C-F40E1B985E92}"/>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8" name="Footer Placeholder 7">
            <a:extLst>
              <a:ext uri="{FF2B5EF4-FFF2-40B4-BE49-F238E27FC236}">
                <a16:creationId xmlns:a16="http://schemas.microsoft.com/office/drawing/2014/main" id="{F60656C8-048B-1F37-DB25-FA0903FA66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43703E-0596-C98A-EABE-9B9252D3BB26}"/>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41208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B0B97-5060-232A-F45A-95E5DA1DCA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5F5257-D778-F1EE-13A8-BF4F14E08BC7}"/>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4" name="Footer Placeholder 3">
            <a:extLst>
              <a:ext uri="{FF2B5EF4-FFF2-40B4-BE49-F238E27FC236}">
                <a16:creationId xmlns:a16="http://schemas.microsoft.com/office/drawing/2014/main" id="{6F0687A7-0E9B-9C8C-012C-BB7D3DE547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5B2894-64A2-E11B-ECAD-A348986C7393}"/>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3227640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139983-B373-40F7-C62F-B2A4EB0A228A}"/>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3" name="Footer Placeholder 2">
            <a:extLst>
              <a:ext uri="{FF2B5EF4-FFF2-40B4-BE49-F238E27FC236}">
                <a16:creationId xmlns:a16="http://schemas.microsoft.com/office/drawing/2014/main" id="{625CFBA7-EE0A-E8B8-3A19-5887027F5AA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12AC77-E1A6-2E34-215D-DF4427B1A9C6}"/>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063971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0FEC5-3EB4-8905-DB29-4AA0B500DC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BAE98B-D432-0C55-81EC-AB6D24A870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450CB8-C451-94B1-4D20-2A169731B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D1BE44-1700-3628-24E2-0CDBBC30D503}"/>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6" name="Footer Placeholder 5">
            <a:extLst>
              <a:ext uri="{FF2B5EF4-FFF2-40B4-BE49-F238E27FC236}">
                <a16:creationId xmlns:a16="http://schemas.microsoft.com/office/drawing/2014/main" id="{E947E205-3BDC-713A-5465-7297E1354A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47CC6-7E07-E7CC-E719-13C0FA7D679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823578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55344-FAC4-F697-425E-7B6879CB7B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316E48-EE90-1CBE-F9B4-F60E19BEFD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FBE1769-A4AF-649A-949E-9C685E932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8EBA4-AA0D-47D1-D547-19E0B7443C2B}"/>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6" name="Footer Placeholder 5">
            <a:extLst>
              <a:ext uri="{FF2B5EF4-FFF2-40B4-BE49-F238E27FC236}">
                <a16:creationId xmlns:a16="http://schemas.microsoft.com/office/drawing/2014/main" id="{7DDD4E75-17C7-FD1A-4E4E-11448B306C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83642D-31C6-8194-80C3-B861193CC73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4107053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4954-4EFD-18BB-9005-A41F70B8C7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758B00-F857-0D84-AB13-BC2C088A5F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2B97D5-6BC6-C1DD-BEDF-8245BEE08599}"/>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F103EFD8-B988-15FF-A36C-BE1E98A5B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5761A4-659C-2122-3C0C-AA590A55B9BE}"/>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42961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DDA791-2873-1292-AB1B-6E72406E36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14DA54-297A-D030-D227-75D9D6A98C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255298-174D-D522-67CC-C08DCDE50706}"/>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42C2C414-82CD-A0C0-562A-D63F687F51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D25BFB-9322-D657-1935-E424843F75B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137790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416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B890D3-047F-D4F3-0612-12CE4FF4A9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035C41-591B-B1AE-FD88-4F17B31AC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A5E3A0-0D5E-CF9A-D9DC-A85E4ACEF3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0A176B35-7750-BE34-A059-F0600BD3EA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AE907C-FD34-E577-6C69-0C4F583FD3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C75FE5-AEA0-4C43-8BB9-68E0B24B2791}" type="slidenum">
              <a:rPr lang="en-IN" smtClean="0"/>
              <a:t>‹#›</a:t>
            </a:fld>
            <a:endParaRPr lang="en-IN"/>
          </a:p>
        </p:txBody>
      </p:sp>
    </p:spTree>
    <p:extLst>
      <p:ext uri="{BB962C8B-B14F-4D97-AF65-F5344CB8AC3E}">
        <p14:creationId xmlns:p14="http://schemas.microsoft.com/office/powerpoint/2010/main" val="2684988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600" b="1" dirty="0">
                <a:solidFill>
                  <a:srgbClr val="F4F0E8"/>
                </a:solidFill>
                <a:latin typeface="Calibri" pitchFamily="34" charset="0"/>
                <a:ea typeface="Calibri" pitchFamily="34" charset="-122"/>
                <a:cs typeface="Calibri" pitchFamily="34" charset="-120"/>
              </a:rPr>
              <a:t>DETAILED PRODUCT IDEA</a:t>
            </a:r>
            <a:endParaRPr lang="en-US" sz="26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An AI approval crew that owns one hop  ·  DealFlow Approval Agents</a:t>
            </a:r>
            <a:endParaRPr lang="en-US" sz="1200" dirty="0"/>
          </a:p>
        </p:txBody>
      </p:sp>
      <p:sp>
        <p:nvSpPr>
          <p:cNvPr id="5" name="Shape 3"/>
          <p:cNvSpPr/>
          <p:nvPr/>
        </p:nvSpPr>
        <p:spPr>
          <a:xfrm>
            <a:off x="275908" y="1143000"/>
            <a:ext cx="11640312" cy="1463040"/>
          </a:xfrm>
          <a:prstGeom prst="roundRect">
            <a:avLst>
              <a:gd name="adj" fmla="val 6250"/>
            </a:avLst>
          </a:prstGeom>
          <a:solidFill>
            <a:srgbClr val="1A2530"/>
          </a:solidFill>
          <a:ln/>
        </p:spPr>
      </p:sp>
      <p:sp>
        <p:nvSpPr>
          <p:cNvPr id="6" name="Text 4"/>
          <p:cNvSpPr/>
          <p:nvPr/>
        </p:nvSpPr>
        <p:spPr>
          <a:xfrm>
            <a:off x="458788" y="1280160"/>
            <a:ext cx="10972800" cy="274320"/>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8788" y="1600200"/>
            <a:ext cx="11247120" cy="822960"/>
          </a:xfrm>
          <a:prstGeom prst="rect">
            <a:avLst/>
          </a:prstGeom>
          <a:noFill/>
          <a:ln/>
        </p:spPr>
        <p:txBody>
          <a:bodyPr wrap="square" rtlCol="0" anchor="ctr"/>
          <a:lstStyle/>
          <a:p>
            <a:r>
              <a:rPr lang="en-US" sz="1300" dirty="0">
                <a:solidFill>
                  <a:srgbClr val="E8E4DC"/>
                </a:solidFill>
                <a:latin typeface="Calibri" pitchFamily="34" charset="0"/>
                <a:ea typeface="Calibri" pitchFamily="34" charset="-122"/>
                <a:cs typeface="Calibri" pitchFamily="34" charset="-120"/>
              </a:rPr>
              <a:t>A seller submits a quote. Three agents read the live discount book and the cash book through tools, open the commercial file, and write one cited label: Approve, Escalate, or Reject. A guardrail checks that a note cannot approve the quote. Everything after Approved stays with the seller in the CPQ. The product is a specialist the CPQ can call. It is not a CPQ replacement.</a:t>
            </a:r>
            <a:endParaRPr lang="en-US" sz="1300" dirty="0"/>
          </a:p>
        </p:txBody>
      </p:sp>
      <p:sp>
        <p:nvSpPr>
          <p:cNvPr id="8" name="Shape 6"/>
          <p:cNvSpPr/>
          <p:nvPr/>
        </p:nvSpPr>
        <p:spPr>
          <a:xfrm>
            <a:off x="275908" y="2788920"/>
            <a:ext cx="3749040" cy="2743200"/>
          </a:xfrm>
          <a:prstGeom prst="roundRect">
            <a:avLst>
              <a:gd name="adj" fmla="val 3333"/>
            </a:avLst>
          </a:prstGeom>
          <a:solidFill>
            <a:srgbClr val="141416"/>
          </a:solidFill>
          <a:ln/>
        </p:spPr>
      </p:sp>
      <p:sp>
        <p:nvSpPr>
          <p:cNvPr id="9" name="Shape 7"/>
          <p:cNvSpPr/>
          <p:nvPr/>
        </p:nvSpPr>
        <p:spPr>
          <a:xfrm>
            <a:off x="275908" y="2788920"/>
            <a:ext cx="109728" cy="2743200"/>
          </a:xfrm>
          <a:prstGeom prst="rect">
            <a:avLst/>
          </a:prstGeom>
          <a:solidFill>
            <a:srgbClr val="1D5C68"/>
          </a:solidFill>
          <a:ln/>
        </p:spPr>
      </p:sp>
      <p:sp>
        <p:nvSpPr>
          <p:cNvPr id="10" name="Text 8"/>
          <p:cNvSpPr/>
          <p:nvPr/>
        </p:nvSpPr>
        <p:spPr>
          <a:xfrm>
            <a:off x="550228" y="2926080"/>
            <a:ext cx="3291840" cy="320040"/>
          </a:xfrm>
          <a:prstGeom prst="rect">
            <a:avLst/>
          </a:prstGeom>
          <a:noFill/>
          <a:ln/>
        </p:spPr>
        <p:txBody>
          <a:bodyPr wrap="square" rtlCol="0" anchor="ctr"/>
          <a:lstStyle/>
          <a:p>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50228" y="3337560"/>
            <a:ext cx="3291840" cy="196596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The stage pipeline on the live Quotes tab makes this boundary visible.</a:t>
            </a:r>
            <a:endParaRPr lang="en-US" sz="1200" dirty="0"/>
          </a:p>
        </p:txBody>
      </p:sp>
      <p:sp>
        <p:nvSpPr>
          <p:cNvPr id="12" name="Shape 10"/>
          <p:cNvSpPr/>
          <p:nvPr/>
        </p:nvSpPr>
        <p:spPr>
          <a:xfrm>
            <a:off x="4162108" y="2788920"/>
            <a:ext cx="3749040" cy="2743200"/>
          </a:xfrm>
          <a:prstGeom prst="roundRect">
            <a:avLst>
              <a:gd name="adj" fmla="val 3333"/>
            </a:avLst>
          </a:prstGeom>
          <a:solidFill>
            <a:srgbClr val="141416"/>
          </a:solidFill>
          <a:ln/>
        </p:spPr>
      </p:sp>
      <p:sp>
        <p:nvSpPr>
          <p:cNvPr id="13" name="Shape 11"/>
          <p:cNvSpPr/>
          <p:nvPr/>
        </p:nvSpPr>
        <p:spPr>
          <a:xfrm>
            <a:off x="4162108" y="2788920"/>
            <a:ext cx="109728" cy="2743200"/>
          </a:xfrm>
          <a:prstGeom prst="rect">
            <a:avLst/>
          </a:prstGeom>
          <a:solidFill>
            <a:srgbClr val="2F6A4F"/>
          </a:solidFill>
          <a:ln/>
        </p:spPr>
      </p:sp>
      <p:sp>
        <p:nvSpPr>
          <p:cNvPr id="14" name="Text 12"/>
          <p:cNvSpPr/>
          <p:nvPr/>
        </p:nvSpPr>
        <p:spPr>
          <a:xfrm>
            <a:off x="4436428" y="2926080"/>
            <a:ext cx="3291840" cy="320040"/>
          </a:xfrm>
          <a:prstGeom prst="rect">
            <a:avLst/>
          </a:prstGeom>
          <a:noFill/>
          <a:ln/>
        </p:spPr>
        <p:txBody>
          <a:bodyPr wrap="square" rtlCol="0" anchor="ctr"/>
          <a:lstStyle/>
          <a:p>
            <a:r>
              <a:rPr lang="en-US" sz="1400" b="1" dirty="0">
                <a:solidFill>
                  <a:srgbClr val="2F6A4F"/>
                </a:solidFill>
                <a:latin typeface="Calibri" pitchFamily="34" charset="0"/>
                <a:ea typeface="Calibri" pitchFamily="34" charset="-122"/>
                <a:cs typeface="Calibri" pitchFamily="34" charset="-120"/>
              </a:rPr>
              <a:t>THREE AGENTS</a:t>
            </a:r>
            <a:endParaRPr lang="en-US" sz="1400" dirty="0"/>
          </a:p>
        </p:txBody>
      </p:sp>
      <p:sp>
        <p:nvSpPr>
          <p:cNvPr id="15" name="Text 13"/>
          <p:cNvSpPr/>
          <p:nvPr/>
        </p:nvSpPr>
        <p:spPr>
          <a:xfrm>
            <a:off x="4436428" y="3337560"/>
            <a:ext cx="3291840" cy="196596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Orchestrator starts the hop and writes one label. Discount agent reads the discount book and the account file. Payment agent reads the cash book and the receivables file. LangGraph orders them. Pydantic checks each node.</a:t>
            </a:r>
            <a:endParaRPr lang="en-US" sz="1200" dirty="0"/>
          </a:p>
        </p:txBody>
      </p:sp>
      <p:sp>
        <p:nvSpPr>
          <p:cNvPr id="16" name="Shape 14"/>
          <p:cNvSpPr/>
          <p:nvPr/>
        </p:nvSpPr>
        <p:spPr>
          <a:xfrm>
            <a:off x="8048308" y="2788920"/>
            <a:ext cx="3749040" cy="2743200"/>
          </a:xfrm>
          <a:prstGeom prst="roundRect">
            <a:avLst>
              <a:gd name="adj" fmla="val 3333"/>
            </a:avLst>
          </a:prstGeom>
          <a:solidFill>
            <a:srgbClr val="141416"/>
          </a:solidFill>
          <a:ln/>
        </p:spPr>
      </p:sp>
      <p:sp>
        <p:nvSpPr>
          <p:cNvPr id="17" name="Shape 15"/>
          <p:cNvSpPr/>
          <p:nvPr/>
        </p:nvSpPr>
        <p:spPr>
          <a:xfrm>
            <a:off x="8048308" y="2788920"/>
            <a:ext cx="109728" cy="2743200"/>
          </a:xfrm>
          <a:prstGeom prst="rect">
            <a:avLst/>
          </a:prstGeom>
          <a:solidFill>
            <a:srgbClr val="00D4AA"/>
          </a:solidFill>
          <a:ln/>
        </p:spPr>
      </p:sp>
      <p:sp>
        <p:nvSpPr>
          <p:cNvPr id="18" name="Text 16"/>
          <p:cNvSpPr/>
          <p:nvPr/>
        </p:nvSpPr>
        <p:spPr>
          <a:xfrm>
            <a:off x="8322628" y="2926080"/>
            <a:ext cx="3291840" cy="320040"/>
          </a:xfrm>
          <a:prstGeom prst="rect">
            <a:avLst/>
          </a:prstGeom>
          <a:noFill/>
          <a:ln/>
        </p:spPr>
        <p:txBody>
          <a:bodyPr wrap="square" rtlCol="0" anchor="ctr"/>
          <a:lstStyle/>
          <a:p>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2628" y="3337560"/>
            <a:ext cx="3291840" cy="196596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Every decision cites DISC-POL-2026-01 or PAY-POL-2026-01. Escalate names a person, an SLA, and a reason. A note cannot force Approve. The golden set is the release gate — currently 9 of 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400" b="1" dirty="0">
                <a:solidFill>
                  <a:srgbClr val="F4F0E8"/>
                </a:solidFill>
                <a:latin typeface="Calibri" pitchFamily="34" charset="0"/>
                <a:ea typeface="Calibri" pitchFamily="34" charset="-122"/>
                <a:cs typeface="Calibri" pitchFamily="34" charset="-120"/>
              </a:rPr>
              <a:t>WHY THIS PRODUCT, AND WHAT IT DOES</a:t>
            </a:r>
            <a:endParaRPr lang="en-US" sz="24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Four real quotes from the live golden set  ·  DealFlow</a:t>
            </a:r>
            <a:endParaRPr lang="en-US" sz="1200" dirty="0"/>
          </a:p>
        </p:txBody>
      </p:sp>
      <p:sp>
        <p:nvSpPr>
          <p:cNvPr id="5" name="Shape 3"/>
          <p:cNvSpPr/>
          <p:nvPr/>
        </p:nvSpPr>
        <p:spPr>
          <a:xfrm>
            <a:off x="230188" y="1143000"/>
            <a:ext cx="2880360" cy="3657600"/>
          </a:xfrm>
          <a:prstGeom prst="roundRect">
            <a:avLst>
              <a:gd name="adj" fmla="val 3175"/>
            </a:avLst>
          </a:prstGeom>
          <a:solidFill>
            <a:srgbClr val="141416"/>
          </a:solidFill>
          <a:ln/>
        </p:spPr>
      </p:sp>
      <p:sp>
        <p:nvSpPr>
          <p:cNvPr id="6" name="Shape 4"/>
          <p:cNvSpPr/>
          <p:nvPr/>
        </p:nvSpPr>
        <p:spPr>
          <a:xfrm>
            <a:off x="230188" y="1143000"/>
            <a:ext cx="109728" cy="3657600"/>
          </a:xfrm>
          <a:prstGeom prst="rect">
            <a:avLst/>
          </a:prstGeom>
          <a:solidFill>
            <a:srgbClr val="00D4AA"/>
          </a:solidFill>
          <a:ln/>
        </p:spPr>
      </p:sp>
      <p:sp>
        <p:nvSpPr>
          <p:cNvPr id="7" name="Text 5"/>
          <p:cNvSpPr/>
          <p:nvPr/>
        </p:nvSpPr>
        <p:spPr>
          <a:xfrm>
            <a:off x="458788" y="1280160"/>
            <a:ext cx="2514600" cy="411480"/>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NORTHWIND — APPROVE</a:t>
            </a:r>
            <a:endParaRPr lang="en-US" sz="1200" dirty="0"/>
          </a:p>
        </p:txBody>
      </p:sp>
      <p:sp>
        <p:nvSpPr>
          <p:cNvPr id="8" name="Text 6"/>
          <p:cNvSpPr/>
          <p:nvPr/>
        </p:nvSpPr>
        <p:spPr>
          <a:xfrm>
            <a:off x="45878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9" name="Shape 7"/>
          <p:cNvSpPr/>
          <p:nvPr/>
        </p:nvSpPr>
        <p:spPr>
          <a:xfrm>
            <a:off x="3247708" y="1143000"/>
            <a:ext cx="2880360" cy="3657600"/>
          </a:xfrm>
          <a:prstGeom prst="roundRect">
            <a:avLst>
              <a:gd name="adj" fmla="val 3175"/>
            </a:avLst>
          </a:prstGeom>
          <a:solidFill>
            <a:srgbClr val="141416"/>
          </a:solidFill>
          <a:ln/>
        </p:spPr>
      </p:sp>
      <p:sp>
        <p:nvSpPr>
          <p:cNvPr id="10" name="Shape 8"/>
          <p:cNvSpPr/>
          <p:nvPr/>
        </p:nvSpPr>
        <p:spPr>
          <a:xfrm>
            <a:off x="3247708" y="1143000"/>
            <a:ext cx="109728" cy="3657600"/>
          </a:xfrm>
          <a:prstGeom prst="rect">
            <a:avLst/>
          </a:prstGeom>
          <a:solidFill>
            <a:srgbClr val="FF3D6E"/>
          </a:solidFill>
          <a:ln/>
        </p:spPr>
      </p:sp>
      <p:sp>
        <p:nvSpPr>
          <p:cNvPr id="11" name="Text 9"/>
          <p:cNvSpPr/>
          <p:nvPr/>
        </p:nvSpPr>
        <p:spPr>
          <a:xfrm>
            <a:off x="3476308" y="1280160"/>
            <a:ext cx="2514600" cy="411480"/>
          </a:xfrm>
          <a:prstGeom prst="rect">
            <a:avLst/>
          </a:prstGeom>
          <a:noFill/>
          <a:ln/>
        </p:spPr>
        <p:txBody>
          <a:bodyPr wrap="square" rtlCol="0" anchor="ctr"/>
          <a:lstStyle/>
          <a:p>
            <a:r>
              <a:rPr lang="en-US" sz="1200" b="1" dirty="0">
                <a:solidFill>
                  <a:srgbClr val="FF3D6E"/>
                </a:solidFill>
                <a:latin typeface="Calibri" pitchFamily="34" charset="0"/>
                <a:ea typeface="Calibri" pitchFamily="34" charset="-122"/>
                <a:cs typeface="Calibri" pitchFamily="34" charset="-120"/>
              </a:rPr>
              <a:t>HARBOR — ESCALATE</a:t>
            </a:r>
            <a:endParaRPr lang="en-US" sz="1200" dirty="0"/>
          </a:p>
        </p:txBody>
      </p:sp>
      <p:sp>
        <p:nvSpPr>
          <p:cNvPr id="12" name="Text 10"/>
          <p:cNvSpPr/>
          <p:nvPr/>
        </p:nvSpPr>
        <p:spPr>
          <a:xfrm>
            <a:off x="347630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The person can approve, reject, or return. They do not sign.</a:t>
            </a:r>
            <a:endParaRPr lang="en-US" sz="1100" dirty="0"/>
          </a:p>
        </p:txBody>
      </p:sp>
      <p:sp>
        <p:nvSpPr>
          <p:cNvPr id="13" name="Shape 11"/>
          <p:cNvSpPr/>
          <p:nvPr/>
        </p:nvSpPr>
        <p:spPr>
          <a:xfrm>
            <a:off x="6265228" y="1143000"/>
            <a:ext cx="2880360" cy="3657600"/>
          </a:xfrm>
          <a:prstGeom prst="roundRect">
            <a:avLst>
              <a:gd name="adj" fmla="val 3175"/>
            </a:avLst>
          </a:prstGeom>
          <a:solidFill>
            <a:srgbClr val="141416"/>
          </a:solidFill>
          <a:ln/>
        </p:spPr>
      </p:sp>
      <p:sp>
        <p:nvSpPr>
          <p:cNvPr id="14" name="Shape 12"/>
          <p:cNvSpPr/>
          <p:nvPr/>
        </p:nvSpPr>
        <p:spPr>
          <a:xfrm>
            <a:off x="6265228" y="1143000"/>
            <a:ext cx="109728" cy="3657600"/>
          </a:xfrm>
          <a:prstGeom prst="rect">
            <a:avLst/>
          </a:prstGeom>
          <a:solidFill>
            <a:srgbClr val="1D5C68"/>
          </a:solidFill>
          <a:ln/>
        </p:spPr>
      </p:sp>
      <p:sp>
        <p:nvSpPr>
          <p:cNvPr id="15" name="Text 13"/>
          <p:cNvSpPr/>
          <p:nvPr/>
        </p:nvSpPr>
        <p:spPr>
          <a:xfrm>
            <a:off x="6493828" y="1280160"/>
            <a:ext cx="2514600" cy="411480"/>
          </a:xfrm>
          <a:prstGeom prst="rect">
            <a:avLst/>
          </a:prstGeom>
          <a:noFill/>
          <a:ln/>
        </p:spPr>
        <p:txBody>
          <a:bodyPr wrap="square" rtlCol="0" anchor="ctr"/>
          <a:lstStyle/>
          <a:p>
            <a:r>
              <a:rPr lang="en-US" sz="1200" b="1" dirty="0">
                <a:solidFill>
                  <a:srgbClr val="1D5C68"/>
                </a:solidFill>
                <a:latin typeface="Calibri" pitchFamily="34" charset="0"/>
                <a:ea typeface="Calibri" pitchFamily="34" charset="-122"/>
                <a:cs typeface="Calibri" pitchFamily="34" charset="-120"/>
              </a:rPr>
              <a:t>PINNACLE — REJECT</a:t>
            </a:r>
            <a:endParaRPr lang="en-US" sz="1200" dirty="0"/>
          </a:p>
        </p:txBody>
      </p:sp>
      <p:sp>
        <p:nvSpPr>
          <p:cNvPr id="16" name="Text 14"/>
          <p:cNvSpPr/>
          <p:nvPr/>
        </p:nvSpPr>
        <p:spPr>
          <a:xfrm>
            <a:off x="649382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a:t>
            </a:r>
            <a:endParaRPr lang="en-US" sz="1100" dirty="0"/>
          </a:p>
        </p:txBody>
      </p:sp>
      <p:sp>
        <p:nvSpPr>
          <p:cNvPr id="17" name="Shape 15"/>
          <p:cNvSpPr/>
          <p:nvPr/>
        </p:nvSpPr>
        <p:spPr>
          <a:xfrm>
            <a:off x="9282748" y="1143000"/>
            <a:ext cx="2880360" cy="3657600"/>
          </a:xfrm>
          <a:prstGeom prst="roundRect">
            <a:avLst>
              <a:gd name="adj" fmla="val 3175"/>
            </a:avLst>
          </a:prstGeom>
          <a:solidFill>
            <a:srgbClr val="141416"/>
          </a:solidFill>
          <a:ln/>
        </p:spPr>
      </p:sp>
      <p:sp>
        <p:nvSpPr>
          <p:cNvPr id="18" name="Shape 16"/>
          <p:cNvSpPr/>
          <p:nvPr/>
        </p:nvSpPr>
        <p:spPr>
          <a:xfrm>
            <a:off x="9282748" y="1143000"/>
            <a:ext cx="109728" cy="3657600"/>
          </a:xfrm>
          <a:prstGeom prst="rect">
            <a:avLst/>
          </a:prstGeom>
          <a:solidFill>
            <a:srgbClr val="2F6A4F"/>
          </a:solidFill>
          <a:ln/>
        </p:spPr>
      </p:sp>
      <p:sp>
        <p:nvSpPr>
          <p:cNvPr id="19" name="Text 17"/>
          <p:cNvSpPr/>
          <p:nvPr/>
        </p:nvSpPr>
        <p:spPr>
          <a:xfrm>
            <a:off x="9511348" y="1280160"/>
            <a:ext cx="2514600" cy="411480"/>
          </a:xfrm>
          <a:prstGeom prst="rect">
            <a:avLst/>
          </a:prstGeom>
          <a:noFill/>
          <a:ln/>
        </p:spPr>
        <p:txBody>
          <a:bodyPr wrap="square" rtlCol="0" anchor="ctr"/>
          <a:lstStyle/>
          <a:p>
            <a:r>
              <a:rPr lang="en-US" sz="1200" b="1" dirty="0">
                <a:solidFill>
                  <a:srgbClr val="2F6A4F"/>
                </a:solidFill>
                <a:latin typeface="Calibri" pitchFamily="34" charset="0"/>
                <a:ea typeface="Calibri" pitchFamily="34" charset="-122"/>
                <a:cs typeface="Calibri" pitchFamily="34" charset="-120"/>
              </a:rPr>
              <a:t>KITE — NOTE ATTACK</a:t>
            </a:r>
            <a:endParaRPr lang="en-US" sz="1200" dirty="0"/>
          </a:p>
        </p:txBody>
      </p:sp>
      <p:sp>
        <p:nvSpPr>
          <p:cNvPr id="20" name="Text 18"/>
          <p:cNvSpPr/>
          <p:nvPr/>
        </p:nvSpPr>
        <p:spPr>
          <a:xfrm>
            <a:off x="951134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a:t>
            </a:r>
            <a:endParaRPr lang="en-US" sz="1100" dirty="0"/>
          </a:p>
        </p:txBody>
      </p:sp>
      <p:sp>
        <p:nvSpPr>
          <p:cNvPr id="21" name="Shape 19"/>
          <p:cNvSpPr/>
          <p:nvPr/>
        </p:nvSpPr>
        <p:spPr>
          <a:xfrm>
            <a:off x="230188" y="4983480"/>
            <a:ext cx="11731752" cy="1554480"/>
          </a:xfrm>
          <a:prstGeom prst="roundRect">
            <a:avLst>
              <a:gd name="adj" fmla="val 5882"/>
            </a:avLst>
          </a:prstGeom>
          <a:solidFill>
            <a:srgbClr val="1A2530"/>
          </a:solidFill>
          <a:ln/>
        </p:spPr>
      </p:sp>
      <p:sp>
        <p:nvSpPr>
          <p:cNvPr id="22" name="Text 20"/>
          <p:cNvSpPr/>
          <p:nvPr/>
        </p:nvSpPr>
        <p:spPr>
          <a:xfrm>
            <a:off x="413068" y="5120640"/>
            <a:ext cx="10972800" cy="274320"/>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WHY NOT A RULE ENGINE, AND WHY NOT GENERATIVE AI ALONE</a:t>
            </a:r>
            <a:endParaRPr lang="en-US" sz="1200" dirty="0"/>
          </a:p>
        </p:txBody>
      </p:sp>
      <p:sp>
        <p:nvSpPr>
          <p:cNvPr id="23" name="Text 21"/>
          <p:cNvSpPr/>
          <p:nvPr/>
        </p:nvSpPr>
        <p:spPr>
          <a:xfrm>
            <a:off x="413068" y="5486400"/>
            <a:ext cx="11338560" cy="8686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that says “mark this Approved.” A model can write a reason. It cannot be trusted to write the stage. The product needs a goal, tools, a stricter-of-two rule, and a guardrail that a note cannot override.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Words>
  <Application>Microsoft Office PowerPoint</Application>
  <PresentationFormat>Widescreen</PresentationFormat>
  <Paragraphs>24</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Sarthak Jasra</dc:creator>
  <cp:lastModifiedBy>Sarthak Jasra</cp:lastModifiedBy>
  <cp:revision>1</cp:revision>
  <dcterms:created xsi:type="dcterms:W3CDTF">2026-10-30T16:47:06Z</dcterms:created>
  <dcterms:modified xsi:type="dcterms:W3CDTF">2026-10-30T16:47:20Z</dcterms:modified>
</cp:coreProperties>
</file>