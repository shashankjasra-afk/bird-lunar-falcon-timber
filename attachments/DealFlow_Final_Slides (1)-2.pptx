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4" r:id="rId2"/>
    <p:sldId id="285" r:id="rId3"/>
    <p:sldId id="286" r:id="rId4"/>
    <p:sldId id="287" r:id="rId5"/>
    <p:sldId id="288" r:id="rId6"/>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76" autoAdjust="0"/>
    <p:restoredTop sz="94610"/>
  </p:normalViewPr>
  <p:slideViewPr>
    <p:cSldViewPr snapToGrid="0" snapToObjects="1">
      <p:cViewPr varScale="1">
        <p:scale>
          <a:sx n="113" d="100"/>
          <a:sy n="113" d="100"/>
        </p:scale>
        <p:origin x="9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Project Team – Ranjith, Sanjeev and Shashank</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Problem Statement</a:t>
            </a:r>
          </a:p>
          <a:p>
            <a:pPr marL="609448" indent="-414763">
              <a:buSzPts val="1300"/>
              <a:buFont typeface="Arial" pitchFamily="34" charset="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8"/>
            <a:ext cx="11335607" cy="347382"/>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PROBLEM STATEMENT</a:t>
            </a:r>
            <a:endParaRPr lang="en-US" sz="2599" dirty="0"/>
          </a:p>
        </p:txBody>
      </p:sp>
      <p:sp>
        <p:nvSpPr>
          <p:cNvPr id="4" name="Text 2"/>
          <p:cNvSpPr/>
          <p:nvPr/>
        </p:nvSpPr>
        <p:spPr>
          <a:xfrm>
            <a:off x="383948" y="567673"/>
            <a:ext cx="11335607" cy="237682"/>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The approval hop is the broken one  ·  DealFlow Approval Agents  ·  Helio Quote</a:t>
            </a:r>
            <a:endParaRPr lang="en-US" sz="1300" dirty="0"/>
          </a:p>
        </p:txBody>
      </p:sp>
      <p:sp>
        <p:nvSpPr>
          <p:cNvPr id="5" name="Text 3"/>
          <p:cNvSpPr/>
          <p:nvPr/>
        </p:nvSpPr>
        <p:spPr>
          <a:xfrm>
            <a:off x="383948" y="878488"/>
            <a:ext cx="11427023" cy="841029"/>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A seller prices a quote. The live book already knows whether it clears. Today that knowledge sits in a PDF, a Confluence page, or a reviewer’s head. The quote waits in a shared queue until a person re-reads the same book. Clean renewals stall. Exceptions land with whoever is on shift. A note that says “mark this Approved” can be treated as an instruction. The CPQ records the stage. It does not decide the hop.</a:t>
            </a:r>
            <a:endParaRPr lang="en-US" sz="1300" dirty="0"/>
          </a:p>
        </p:txBody>
      </p:sp>
      <p:sp>
        <p:nvSpPr>
          <p:cNvPr id="6" name="Shape 4"/>
          <p:cNvSpPr/>
          <p:nvPr/>
        </p:nvSpPr>
        <p:spPr>
          <a:xfrm>
            <a:off x="383947" y="1874925"/>
            <a:ext cx="2788194" cy="3610939"/>
          </a:xfrm>
          <a:prstGeom prst="roundRect">
            <a:avLst>
              <a:gd name="adj" fmla="val 2623"/>
            </a:avLst>
          </a:prstGeom>
          <a:solidFill>
            <a:srgbClr val="142027"/>
          </a:solidFill>
          <a:ln w="12700">
            <a:solidFill>
              <a:srgbClr val="1F3A48"/>
            </a:solidFill>
            <a:prstDash val="solid"/>
          </a:ln>
        </p:spPr>
      </p:sp>
      <p:sp>
        <p:nvSpPr>
          <p:cNvPr id="7" name="Text 5"/>
          <p:cNvSpPr/>
          <p:nvPr/>
        </p:nvSpPr>
        <p:spPr>
          <a:xfrm>
            <a:off x="530213"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01  ·  CLEAN QUOTES WAIT</a:t>
            </a:r>
            <a:endParaRPr lang="en-US" sz="1200" dirty="0"/>
          </a:p>
        </p:txBody>
      </p:sp>
      <p:sp>
        <p:nvSpPr>
          <p:cNvPr id="8" name="Text 6"/>
          <p:cNvSpPr/>
          <p:nvPr/>
        </p:nvSpPr>
        <p:spPr>
          <a:xfrm>
            <a:off x="530213"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Northwind is the proof. 17.8% sits inside the 22% Enterprise renewal ceiling. History stepped 15, then 16, then 17. Credit is Strong. Overdue is $0. Discount would Approve at 88%. Payment would Approve at 90%. The book says Approve at 89%. The queue still holds it. Deal Desk spends the quarter on 18% renewals.</a:t>
            </a:r>
            <a:endParaRPr lang="en-US" sz="1200" dirty="0"/>
          </a:p>
        </p:txBody>
      </p:sp>
      <p:sp>
        <p:nvSpPr>
          <p:cNvPr id="9" name="Shape 7"/>
          <p:cNvSpPr/>
          <p:nvPr/>
        </p:nvSpPr>
        <p:spPr>
          <a:xfrm>
            <a:off x="3309265" y="1874925"/>
            <a:ext cx="2788194" cy="3610939"/>
          </a:xfrm>
          <a:prstGeom prst="roundRect">
            <a:avLst>
              <a:gd name="adj" fmla="val 2623"/>
            </a:avLst>
          </a:prstGeom>
          <a:solidFill>
            <a:srgbClr val="142027"/>
          </a:solidFill>
          <a:ln w="12700">
            <a:solidFill>
              <a:srgbClr val="1F3A48"/>
            </a:solidFill>
            <a:prstDash val="solid"/>
          </a:ln>
        </p:spPr>
      </p:sp>
      <p:sp>
        <p:nvSpPr>
          <p:cNvPr id="10" name="Text 8"/>
          <p:cNvSpPr/>
          <p:nvPr/>
        </p:nvSpPr>
        <p:spPr>
          <a:xfrm>
            <a:off x="3455531" y="1993766"/>
            <a:ext cx="2495662"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02  ·  SAME BOOK, TWO LABELS</a:t>
            </a:r>
            <a:endParaRPr lang="en-US" sz="1200" dirty="0"/>
          </a:p>
        </p:txBody>
      </p:sp>
      <p:sp>
        <p:nvSpPr>
          <p:cNvPr id="11" name="Text 9"/>
          <p:cNvSpPr/>
          <p:nvPr/>
        </p:nvSpPr>
        <p:spPr>
          <a:xfrm>
            <a:off x="3455531"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past the exception ceiling. Closed years were 18, 20, 22. Credit is clean. Price is why it fails. Today the label depends on who is on shift. Tuesday it clears. Thursday it holds. A 42% expansion should fail the same way at 9 a.m. and at quarter-end. A static chain cannot do that.</a:t>
            </a:r>
            <a:endParaRPr lang="en-US" sz="1200" dirty="0"/>
          </a:p>
        </p:txBody>
      </p:sp>
      <p:sp>
        <p:nvSpPr>
          <p:cNvPr id="12" name="Shape 10"/>
          <p:cNvSpPr/>
          <p:nvPr/>
        </p:nvSpPr>
        <p:spPr>
          <a:xfrm>
            <a:off x="6234583" y="1874925"/>
            <a:ext cx="2788194" cy="3610939"/>
          </a:xfrm>
          <a:prstGeom prst="roundRect">
            <a:avLst>
              <a:gd name="adj" fmla="val 2623"/>
            </a:avLst>
          </a:prstGeom>
          <a:solidFill>
            <a:srgbClr val="142027"/>
          </a:solidFill>
          <a:ln w="12700">
            <a:solidFill>
              <a:srgbClr val="1F3A48"/>
            </a:solidFill>
            <a:prstDash val="solid"/>
          </a:ln>
        </p:spPr>
      </p:sp>
      <p:sp>
        <p:nvSpPr>
          <p:cNvPr id="13" name="Text 11"/>
          <p:cNvSpPr/>
          <p:nvPr/>
        </p:nvSpPr>
        <p:spPr>
          <a:xfrm>
            <a:off x="6380849" y="1993766"/>
            <a:ext cx="2495662"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03  ·  ESCALATE IS A PILE</a:t>
            </a:r>
            <a:endParaRPr lang="en-US" sz="1200" dirty="0"/>
          </a:p>
        </p:txBody>
      </p:sp>
      <p:sp>
        <p:nvSpPr>
          <p:cNvPr id="14" name="Text 12"/>
          <p:cNvSpPr/>
          <p:nvPr/>
        </p:nvSpPr>
        <p:spPr>
          <a:xfrm>
            <a:off x="6380849"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Harbor’s discount is ordinary. 14% sits inside the mid-market renewal ceiling, so the discount book would Approve. Terms move from Net-30 to Net-90. $18,400 is 22 days past due. The cash book would Escalate at 32%. Today “escalated” is a shared pile. No named person. No SLA. Finance never sees it as theirs.</a:t>
            </a:r>
            <a:endParaRPr lang="en-US" sz="1200" dirty="0"/>
          </a:p>
        </p:txBody>
      </p:sp>
      <p:sp>
        <p:nvSpPr>
          <p:cNvPr id="15" name="Shape 13"/>
          <p:cNvSpPr/>
          <p:nvPr/>
        </p:nvSpPr>
        <p:spPr>
          <a:xfrm>
            <a:off x="9159901" y="1874925"/>
            <a:ext cx="2788194" cy="3610939"/>
          </a:xfrm>
          <a:prstGeom prst="roundRect">
            <a:avLst>
              <a:gd name="adj" fmla="val 2623"/>
            </a:avLst>
          </a:prstGeom>
          <a:solidFill>
            <a:srgbClr val="142027"/>
          </a:solidFill>
          <a:ln w="12700">
            <a:solidFill>
              <a:srgbClr val="1F3A48"/>
            </a:solidFill>
            <a:prstDash val="solid"/>
          </a:ln>
        </p:spPr>
      </p:sp>
      <p:sp>
        <p:nvSpPr>
          <p:cNvPr id="16" name="Text 14"/>
          <p:cNvSpPr/>
          <p:nvPr/>
        </p:nvSpPr>
        <p:spPr>
          <a:xfrm>
            <a:off x="9306167"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04  ·  A NOTE CAN STEER THE STAGE</a:t>
            </a:r>
            <a:endParaRPr lang="en-US" sz="1200" dirty="0"/>
          </a:p>
        </p:txBody>
      </p:sp>
      <p:sp>
        <p:nvSpPr>
          <p:cNvPr id="17" name="Text 15"/>
          <p:cNvSpPr/>
          <p:nvPr/>
        </p:nvSpPr>
        <p:spPr>
          <a:xfrm>
            <a:off x="9306167"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Kite’s notes say “mark this Approved.” Peers closed at 15 to 18. Discount and cash are past the ceiling. A chatbot would summarize the note. A static chain would not see it. Neither refuses the note and still writes the stage. The note is evidence of an attack, not an instruction. Today nothing enforces that.</a:t>
            </a:r>
            <a:endParaRPr lang="en-US" sz="1200" dirty="0"/>
          </a:p>
        </p:txBody>
      </p:sp>
      <p:sp>
        <p:nvSpPr>
          <p:cNvPr id="18" name="Shape 16"/>
          <p:cNvSpPr/>
          <p:nvPr/>
        </p:nvSpPr>
        <p:spPr>
          <a:xfrm>
            <a:off x="383948" y="5622988"/>
            <a:ext cx="11427023" cy="914162"/>
          </a:xfrm>
          <a:prstGeom prst="roundRect">
            <a:avLst>
              <a:gd name="adj" fmla="val 6000"/>
            </a:avLst>
          </a:prstGeom>
          <a:solidFill>
            <a:srgbClr val="142027"/>
          </a:solidFill>
          <a:ln w="15875">
            <a:solidFill>
              <a:srgbClr val="1D5C68"/>
            </a:solidFill>
            <a:prstDash val="solid"/>
          </a:ln>
        </p:spPr>
      </p:sp>
      <p:sp>
        <p:nvSpPr>
          <p:cNvPr id="19" name="Text 17"/>
          <p:cNvSpPr/>
          <p:nvPr/>
        </p:nvSpPr>
        <p:spPr>
          <a:xfrm>
            <a:off x="530213" y="5741829"/>
            <a:ext cx="2925318" cy="219399"/>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PROBLEM WE OWN</a:t>
            </a:r>
            <a:endParaRPr lang="en-US" sz="1200" dirty="0"/>
          </a:p>
        </p:txBody>
      </p:sp>
      <p:sp>
        <p:nvSpPr>
          <p:cNvPr id="20" name="Text 18"/>
          <p:cNvSpPr/>
          <p:nvPr/>
        </p:nvSpPr>
        <p:spPr>
          <a:xfrm>
            <a:off x="530213" y="5979512"/>
            <a:ext cx="11107067" cy="457081"/>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One hop. Submit for approval → Approved / Escalated / Rejected. Sent, Signed, and Converted stay with the seller. The product is a specialist the CPQ can call. It is not a CPQ replacement. Salesforce CPQ, Revenue Cloud, DealHub, Conga, and Zuora stay the system of record.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9"/>
            <a:ext cx="11335607" cy="329098"/>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WHAT THE PROBLEM COSTS</a:t>
            </a:r>
            <a:endParaRPr lang="en-US" sz="2599" dirty="0"/>
          </a:p>
        </p:txBody>
      </p:sp>
      <p:sp>
        <p:nvSpPr>
          <p:cNvPr id="4" name="Text 2"/>
          <p:cNvSpPr/>
          <p:nvPr/>
        </p:nvSpPr>
        <p:spPr>
          <a:xfrm>
            <a:off x="383948" y="549390"/>
            <a:ext cx="11335607" cy="219399"/>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Four costs a Product Leader can underwrite  ·  and the boundary we will not cross</a:t>
            </a:r>
            <a:endParaRPr lang="en-US" sz="1300" dirty="0"/>
          </a:p>
        </p:txBody>
      </p:sp>
      <p:sp>
        <p:nvSpPr>
          <p:cNvPr id="5" name="Shape 3"/>
          <p:cNvSpPr/>
          <p:nvPr/>
        </p:nvSpPr>
        <p:spPr>
          <a:xfrm>
            <a:off x="2440812" y="974609"/>
            <a:ext cx="3839480" cy="1572358"/>
          </a:xfrm>
          <a:prstGeom prst="roundRect">
            <a:avLst>
              <a:gd name="adj" fmla="val 4651"/>
            </a:avLst>
          </a:prstGeom>
          <a:solidFill>
            <a:srgbClr val="142027"/>
          </a:solidFill>
          <a:ln w="12700">
            <a:solidFill>
              <a:srgbClr val="1F3A48"/>
            </a:solidFill>
            <a:prstDash val="solid"/>
          </a:ln>
        </p:spPr>
      </p:sp>
      <p:sp>
        <p:nvSpPr>
          <p:cNvPr id="6" name="Text 4"/>
          <p:cNvSpPr/>
          <p:nvPr/>
        </p:nvSpPr>
        <p:spPr>
          <a:xfrm>
            <a:off x="2587078" y="1084309"/>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CYCLE TIME</a:t>
            </a:r>
            <a:endParaRPr lang="en-US" sz="1200" dirty="0"/>
          </a:p>
        </p:txBody>
      </p:sp>
      <p:sp>
        <p:nvSpPr>
          <p:cNvPr id="7" name="Text 5"/>
          <p:cNvSpPr/>
          <p:nvPr/>
        </p:nvSpPr>
        <p:spPr>
          <a:xfrm>
            <a:off x="2587078" y="1358557"/>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A Northwind-class renewal — 17.8% inside 22%, credit Strong, $0 overdue — should clear without a desk touch. Today it waits for a person. Deal Desk spends the quarter on quotes the book already cleared.</a:t>
            </a:r>
            <a:endParaRPr lang="en-US" sz="1200" dirty="0"/>
          </a:p>
        </p:txBody>
      </p:sp>
      <p:sp>
        <p:nvSpPr>
          <p:cNvPr id="8" name="Shape 6"/>
          <p:cNvSpPr/>
          <p:nvPr/>
        </p:nvSpPr>
        <p:spPr>
          <a:xfrm>
            <a:off x="6417417" y="974609"/>
            <a:ext cx="3839480" cy="1572358"/>
          </a:xfrm>
          <a:prstGeom prst="roundRect">
            <a:avLst>
              <a:gd name="adj" fmla="val 4651"/>
            </a:avLst>
          </a:prstGeom>
          <a:solidFill>
            <a:srgbClr val="142027"/>
          </a:solidFill>
          <a:ln w="12700">
            <a:solidFill>
              <a:srgbClr val="1F3A48"/>
            </a:solidFill>
            <a:prstDash val="solid"/>
          </a:ln>
        </p:spPr>
      </p:sp>
      <p:sp>
        <p:nvSpPr>
          <p:cNvPr id="9" name="Text 7"/>
          <p:cNvSpPr/>
          <p:nvPr/>
        </p:nvSpPr>
        <p:spPr>
          <a:xfrm>
            <a:off x="6563683" y="1084309"/>
            <a:ext cx="3546948"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10" name="Text 8"/>
          <p:cNvSpPr/>
          <p:nvPr/>
        </p:nvSpPr>
        <p:spPr>
          <a:xfrm>
            <a:off x="6563683" y="1358557"/>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Reject at 13% because the ask is past the exception ceiling, not because of who was on shift. Without a callable book, a 42% expansion clears when the reviewer is generous and holds when they are not.</a:t>
            </a:r>
            <a:endParaRPr lang="en-US" sz="1200" dirty="0"/>
          </a:p>
        </p:txBody>
      </p:sp>
      <p:sp>
        <p:nvSpPr>
          <p:cNvPr id="11" name="Shape 9"/>
          <p:cNvSpPr/>
          <p:nvPr/>
        </p:nvSpPr>
        <p:spPr>
          <a:xfrm>
            <a:off x="2440812" y="2665809"/>
            <a:ext cx="3839480" cy="1572358"/>
          </a:xfrm>
          <a:prstGeom prst="roundRect">
            <a:avLst>
              <a:gd name="adj" fmla="val 4651"/>
            </a:avLst>
          </a:prstGeom>
          <a:solidFill>
            <a:srgbClr val="142027"/>
          </a:solidFill>
          <a:ln w="12700">
            <a:solidFill>
              <a:srgbClr val="1F3A48"/>
            </a:solidFill>
            <a:prstDash val="solid"/>
          </a:ln>
        </p:spPr>
      </p:sp>
      <p:sp>
        <p:nvSpPr>
          <p:cNvPr id="12" name="Text 10"/>
          <p:cNvSpPr/>
          <p:nvPr/>
        </p:nvSpPr>
        <p:spPr>
          <a:xfrm>
            <a:off x="2587078" y="2775508"/>
            <a:ext cx="3546948"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AUDIT</a:t>
            </a:r>
            <a:endParaRPr lang="en-US" sz="1200" dirty="0"/>
          </a:p>
        </p:txBody>
      </p:sp>
      <p:sp>
        <p:nvSpPr>
          <p:cNvPr id="13" name="Text 11"/>
          <p:cNvSpPr/>
          <p:nvPr/>
        </p:nvSpPr>
        <p:spPr>
          <a:xfrm>
            <a:off x="2587078" y="3049756"/>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Finance cannot replay why a 20% cleared Tuesday and held Thursday. There is no cited rule, no confidence formula, and no versioned book on the decision. DISC-POL-2026-01 and PAY-POL-2026-01 are not on the record.</a:t>
            </a:r>
            <a:endParaRPr lang="en-US" sz="1200" dirty="0"/>
          </a:p>
        </p:txBody>
      </p:sp>
      <p:sp>
        <p:nvSpPr>
          <p:cNvPr id="14" name="Shape 12"/>
          <p:cNvSpPr/>
          <p:nvPr/>
        </p:nvSpPr>
        <p:spPr>
          <a:xfrm>
            <a:off x="6417417" y="2665809"/>
            <a:ext cx="3839480" cy="1572358"/>
          </a:xfrm>
          <a:prstGeom prst="roundRect">
            <a:avLst>
              <a:gd name="adj" fmla="val 4651"/>
            </a:avLst>
          </a:prstGeom>
          <a:solidFill>
            <a:srgbClr val="142027"/>
          </a:solidFill>
          <a:ln w="12700">
            <a:solidFill>
              <a:srgbClr val="1F3A48"/>
            </a:solidFill>
            <a:prstDash val="solid"/>
          </a:ln>
        </p:spPr>
      </p:sp>
      <p:sp>
        <p:nvSpPr>
          <p:cNvPr id="15" name="Text 13"/>
          <p:cNvSpPr/>
          <p:nvPr/>
        </p:nvSpPr>
        <p:spPr>
          <a:xfrm>
            <a:off x="6563683" y="2775508"/>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OWNERSHIP</a:t>
            </a:r>
            <a:endParaRPr lang="en-US" sz="1200" dirty="0"/>
          </a:p>
        </p:txBody>
      </p:sp>
      <p:sp>
        <p:nvSpPr>
          <p:cNvPr id="16" name="Text 14"/>
          <p:cNvSpPr/>
          <p:nvPr/>
        </p:nvSpPr>
        <p:spPr>
          <a:xfrm>
            <a:off x="6563683" y="3049756"/>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 should land with Finance, 24h — only cash failed. A large deal with weak terms should land with VP Sales + Finance. A pure quarter-end flag should land with Deal Desk Lead, 12h. Today none of these resolve.</a:t>
            </a:r>
            <a:endParaRPr lang="en-US" sz="1200" dirty="0"/>
          </a:p>
        </p:txBody>
      </p:sp>
      <p:sp>
        <p:nvSpPr>
          <p:cNvPr id="21" name="Shape 19"/>
          <p:cNvSpPr/>
          <p:nvPr/>
        </p:nvSpPr>
        <p:spPr>
          <a:xfrm>
            <a:off x="383948" y="4480286"/>
            <a:ext cx="11408740" cy="2011156"/>
          </a:xfrm>
          <a:prstGeom prst="roundRect">
            <a:avLst>
              <a:gd name="adj" fmla="val 2727"/>
            </a:avLst>
          </a:prstGeom>
          <a:solidFill>
            <a:srgbClr val="142027"/>
          </a:solidFill>
          <a:ln w="15875">
            <a:solidFill>
              <a:srgbClr val="1D5C68"/>
            </a:solidFill>
            <a:prstDash val="solid"/>
          </a:ln>
        </p:spPr>
      </p:sp>
      <p:sp>
        <p:nvSpPr>
          <p:cNvPr id="22" name="Text 20"/>
          <p:cNvSpPr/>
          <p:nvPr/>
        </p:nvSpPr>
        <p:spPr>
          <a:xfrm>
            <a:off x="530213" y="4608269"/>
            <a:ext cx="2742486"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ASK</a:t>
            </a:r>
            <a:endParaRPr lang="en-US" sz="1200" dirty="0"/>
          </a:p>
        </p:txBody>
      </p:sp>
      <p:sp>
        <p:nvSpPr>
          <p:cNvPr id="23" name="Text 21"/>
          <p:cNvSpPr/>
          <p:nvPr/>
        </p:nvSpPr>
        <p:spPr>
          <a:xfrm>
            <a:off x="530213" y="4864234"/>
            <a:ext cx="11061359" cy="255965"/>
          </a:xfrm>
          <a:prstGeom prst="rect">
            <a:avLst/>
          </a:prstGeom>
          <a:noFill/>
          <a:ln/>
        </p:spPr>
        <p:txBody>
          <a:bodyPr wrap="square" lIns="0" tIns="0" rIns="0" bIns="0" rtlCol="0" anchor="ctr"/>
          <a:lstStyle/>
          <a:p>
            <a:r>
              <a:rPr lang="en-US" sz="1600" b="1" dirty="0">
                <a:solidFill>
                  <a:srgbClr val="F4F0E8"/>
                </a:solidFill>
                <a:latin typeface="Calibri" pitchFamily="34" charset="0"/>
                <a:ea typeface="Calibri" pitchFamily="34" charset="-122"/>
                <a:cs typeface="Calibri" pitchFamily="34" charset="-120"/>
              </a:rPr>
              <a:t>Own the hop. Keep the CPQ. Make the live book the decision.</a:t>
            </a:r>
            <a:endParaRPr lang="en-US" sz="1600" dirty="0"/>
          </a:p>
        </p:txBody>
      </p:sp>
      <p:sp>
        <p:nvSpPr>
          <p:cNvPr id="24" name="Text 22"/>
          <p:cNvSpPr/>
          <p:nvPr/>
        </p:nvSpPr>
        <p:spPr>
          <a:xfrm>
            <a:off x="530213" y="5175049"/>
            <a:ext cx="11061359" cy="1096994"/>
          </a:xfrm>
          <a:prstGeom prst="rect">
            <a:avLst/>
          </a:prstGeom>
          <a:noFill/>
          <a:ln/>
        </p:spPr>
        <p:txBody>
          <a:bodyPr wrap="square" lIns="0" tIns="0" rIns="0" bIns="0" rtlCol="0" anchor="ctr"/>
          <a:lstStyle/>
          <a:p>
            <a:r>
              <a:rPr lang="en-US" sz="1400" dirty="0">
                <a:solidFill>
                  <a:srgbClr val="E8E4DC"/>
                </a:solidFill>
                <a:latin typeface="Calibri" pitchFamily="34" charset="0"/>
                <a:ea typeface="Calibri" pitchFamily="34" charset="-122"/>
                <a:cs typeface="Calibri" pitchFamily="34" charset="-120"/>
              </a:rPr>
              <a:t>Three agents read DISC-POL-2026-01 and PAY-POL-2026-01 through tools, open the commercial file, and write one cited label. The golden set is the release gate — currently 9 of 9. A note that demands Approve still fails. An exception lands with a named person and an SLA that resolves to a Salesforce queue or a DealHub group. Everything after Approved stays with the seller.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7" y="893"/>
            <a:ext cx="12185778" cy="959870"/>
          </a:xfrm>
          <a:prstGeom prst="rect">
            <a:avLst/>
          </a:prstGeom>
          <a:solidFill>
            <a:srgbClr val="1D5C68"/>
          </a:solidFill>
          <a:ln/>
        </p:spPr>
      </p:sp>
      <p:sp>
        <p:nvSpPr>
          <p:cNvPr id="3" name="Text 1"/>
          <p:cNvSpPr/>
          <p:nvPr/>
        </p:nvSpPr>
        <p:spPr>
          <a:xfrm>
            <a:off x="412960" y="165442"/>
            <a:ext cx="9141619" cy="383948"/>
          </a:xfrm>
          <a:prstGeom prst="rect">
            <a:avLst/>
          </a:prstGeom>
          <a:noFill/>
          <a:ln/>
        </p:spPr>
        <p:txBody>
          <a:bodyPr wrap="square" rtlCol="0" anchor="ctr"/>
          <a:lstStyle/>
          <a:p>
            <a:r>
              <a:rPr lang="en-US" sz="2599" b="1" dirty="0">
                <a:solidFill>
                  <a:srgbClr val="F4F0E8"/>
                </a:solidFill>
                <a:latin typeface="Calibri" pitchFamily="34" charset="0"/>
                <a:ea typeface="Calibri" pitchFamily="34" charset="-122"/>
                <a:cs typeface="Calibri" pitchFamily="34" charset="-120"/>
              </a:rPr>
              <a:t>DETAILED PRODUCT IDEA</a:t>
            </a:r>
            <a:endParaRPr lang="en-US" sz="2599" dirty="0"/>
          </a:p>
        </p:txBody>
      </p:sp>
      <p:sp>
        <p:nvSpPr>
          <p:cNvPr id="4" name="Text 2"/>
          <p:cNvSpPr/>
          <p:nvPr/>
        </p:nvSpPr>
        <p:spPr>
          <a:xfrm>
            <a:off x="412960" y="567673"/>
            <a:ext cx="10969943" cy="255965"/>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Given a structured quote and the live books, write one cited label and assign the right owner  ·  DealFlow</a:t>
            </a:r>
            <a:endParaRPr lang="en-US" sz="1200" dirty="0"/>
          </a:p>
        </p:txBody>
      </p:sp>
      <p:sp>
        <p:nvSpPr>
          <p:cNvPr id="5" name="Shape 3"/>
          <p:cNvSpPr/>
          <p:nvPr/>
        </p:nvSpPr>
        <p:spPr>
          <a:xfrm>
            <a:off x="275835" y="1143595"/>
            <a:ext cx="11637281" cy="1462659"/>
          </a:xfrm>
          <a:prstGeom prst="roundRect">
            <a:avLst>
              <a:gd name="adj" fmla="val 6250"/>
            </a:avLst>
          </a:prstGeom>
          <a:solidFill>
            <a:srgbClr val="1A2530"/>
          </a:solidFill>
          <a:ln/>
        </p:spPr>
      </p:sp>
      <p:sp>
        <p:nvSpPr>
          <p:cNvPr id="6" name="Text 4"/>
          <p:cNvSpPr/>
          <p:nvPr/>
        </p:nvSpPr>
        <p:spPr>
          <a:xfrm>
            <a:off x="458668" y="1280719"/>
            <a:ext cx="10969943" cy="274249"/>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8668" y="1600676"/>
            <a:ext cx="11244191" cy="822746"/>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A policy-grounded crew that auto-approves routine quotes and assigns exceptions to the right human. Multi-agents read the live discount book and the cash book through tools, open the commercial file, and write one cited label: Approve, Escalate, or Reject. Everything after Approved stays with the seller. Not a Deal Desk replacement. Not a CPQ.</a:t>
            </a:r>
            <a:endParaRPr lang="en-US" sz="1300" dirty="0"/>
          </a:p>
        </p:txBody>
      </p:sp>
      <p:sp>
        <p:nvSpPr>
          <p:cNvPr id="8" name="Shape 6"/>
          <p:cNvSpPr/>
          <p:nvPr/>
        </p:nvSpPr>
        <p:spPr>
          <a:xfrm>
            <a:off x="275835" y="2789087"/>
            <a:ext cx="3748064" cy="2742486"/>
          </a:xfrm>
          <a:prstGeom prst="roundRect">
            <a:avLst>
              <a:gd name="adj" fmla="val 3333"/>
            </a:avLst>
          </a:prstGeom>
          <a:solidFill>
            <a:srgbClr val="141416"/>
          </a:solidFill>
          <a:ln/>
        </p:spPr>
      </p:sp>
      <p:sp>
        <p:nvSpPr>
          <p:cNvPr id="9" name="Shape 7"/>
          <p:cNvSpPr/>
          <p:nvPr/>
        </p:nvSpPr>
        <p:spPr>
          <a:xfrm>
            <a:off x="275836" y="2789087"/>
            <a:ext cx="109699" cy="2742486"/>
          </a:xfrm>
          <a:prstGeom prst="rect">
            <a:avLst/>
          </a:prstGeom>
          <a:solidFill>
            <a:srgbClr val="1D5C68"/>
          </a:solidFill>
          <a:ln/>
        </p:spPr>
      </p:sp>
      <p:sp>
        <p:nvSpPr>
          <p:cNvPr id="10" name="Text 8"/>
          <p:cNvSpPr/>
          <p:nvPr/>
        </p:nvSpPr>
        <p:spPr>
          <a:xfrm>
            <a:off x="550084" y="2926211"/>
            <a:ext cx="3290983" cy="319957"/>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50084"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Non-goals: no judgment on complex or high-value strategic deals, no continuous learning from overrides in the MVP, no legal redlining. The live Quotes tab makes this boundary visible.</a:t>
            </a:r>
            <a:endParaRPr lang="en-US" sz="1200" dirty="0"/>
          </a:p>
        </p:txBody>
      </p:sp>
      <p:sp>
        <p:nvSpPr>
          <p:cNvPr id="12" name="Shape 10"/>
          <p:cNvSpPr/>
          <p:nvPr/>
        </p:nvSpPr>
        <p:spPr>
          <a:xfrm>
            <a:off x="4161023" y="2789087"/>
            <a:ext cx="3748064" cy="2742486"/>
          </a:xfrm>
          <a:prstGeom prst="roundRect">
            <a:avLst>
              <a:gd name="adj" fmla="val 3333"/>
            </a:avLst>
          </a:prstGeom>
          <a:solidFill>
            <a:srgbClr val="141416"/>
          </a:solidFill>
          <a:ln/>
        </p:spPr>
      </p:sp>
      <p:sp>
        <p:nvSpPr>
          <p:cNvPr id="13" name="Shape 11"/>
          <p:cNvSpPr/>
          <p:nvPr/>
        </p:nvSpPr>
        <p:spPr>
          <a:xfrm>
            <a:off x="4161024" y="2789087"/>
            <a:ext cx="109699" cy="2742486"/>
          </a:xfrm>
          <a:prstGeom prst="rect">
            <a:avLst/>
          </a:prstGeom>
          <a:solidFill>
            <a:srgbClr val="2F6A4F"/>
          </a:solidFill>
          <a:ln/>
        </p:spPr>
      </p:sp>
      <p:sp>
        <p:nvSpPr>
          <p:cNvPr id="14" name="Text 12"/>
          <p:cNvSpPr/>
          <p:nvPr/>
        </p:nvSpPr>
        <p:spPr>
          <a:xfrm>
            <a:off x="4435272" y="2926211"/>
            <a:ext cx="3290983" cy="319957"/>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MULTI AGENTS</a:t>
            </a:r>
            <a:endParaRPr lang="en-US" sz="1400" dirty="0"/>
          </a:p>
        </p:txBody>
      </p:sp>
      <p:sp>
        <p:nvSpPr>
          <p:cNvPr id="15" name="Text 13"/>
          <p:cNvSpPr/>
          <p:nvPr/>
        </p:nvSpPr>
        <p:spPr>
          <a:xfrm>
            <a:off x="4435272"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holds the threshold and the assignment matrix. Discount agent holds the matrix by segment and quote type — knowledge no other agent has. Payment agent holds preferred, elevated, and high-risk terms, owned by Finance. LangGraph orders them. Pydantic checks each node. None can be a tool call.</a:t>
            </a:r>
            <a:endParaRPr lang="en-US" sz="1200" dirty="0"/>
          </a:p>
        </p:txBody>
      </p:sp>
      <p:sp>
        <p:nvSpPr>
          <p:cNvPr id="16" name="Shape 14"/>
          <p:cNvSpPr/>
          <p:nvPr/>
        </p:nvSpPr>
        <p:spPr>
          <a:xfrm>
            <a:off x="8046211" y="2789087"/>
            <a:ext cx="3748064" cy="2742486"/>
          </a:xfrm>
          <a:prstGeom prst="roundRect">
            <a:avLst>
              <a:gd name="adj" fmla="val 3333"/>
            </a:avLst>
          </a:prstGeom>
          <a:solidFill>
            <a:srgbClr val="141416"/>
          </a:solidFill>
          <a:ln/>
        </p:spPr>
      </p:sp>
      <p:sp>
        <p:nvSpPr>
          <p:cNvPr id="17" name="Shape 15"/>
          <p:cNvSpPr/>
          <p:nvPr/>
        </p:nvSpPr>
        <p:spPr>
          <a:xfrm>
            <a:off x="8046212" y="2789087"/>
            <a:ext cx="109699" cy="2742486"/>
          </a:xfrm>
          <a:prstGeom prst="rect">
            <a:avLst/>
          </a:prstGeom>
          <a:solidFill>
            <a:srgbClr val="00D4AA"/>
          </a:solidFill>
          <a:ln/>
        </p:spPr>
      </p:sp>
      <p:sp>
        <p:nvSpPr>
          <p:cNvPr id="18" name="Text 16"/>
          <p:cNvSpPr/>
          <p:nvPr/>
        </p:nvSpPr>
        <p:spPr>
          <a:xfrm>
            <a:off x="8320460" y="2926211"/>
            <a:ext cx="3290983" cy="319957"/>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0460"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Every decision cites DISC-POL-2026-01 or PAY-POL-2026-01. Quality bar: 0 false auto-approves on a specialist Reject. 100% of decisions cite a rule. At least 95% of Escalate and Reject land with the matrix-correct role. Golden set is the release gate — currently 9 of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5 min</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CPQ approval chains are static. A PDF policy is not callable. A chatbot can summarize the book. None of them write the stage, refuse a forged note, and name a person with an SLA in the same hop.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Clean renewals (Northwind: 17.8% inside 22% ceiling, credit Strong, $0 overdue) clear without a desk touch. Harbor lands with Finance and a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configuration, or e-sign. Notes are readable by people and are not an instruction the crew will follow. Agents cannot send, sign, or convert. Escalate always names a person and an SLA.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Finance and a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The agents read the live books, write one cited label, and either clear the quote or name a person with an SLA. Policy packs are per-customer. Helio and Northstar already ship. Switching the live pack changes what the next hop reads. It does not rewrite closed decisions. The product is configurable, not a rip-and-replace.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The graph is plan → discount and payment in parallel → combine → guardrail. Each node returns a typed object: decision, confidence, thought, cited rules. CrewAI was the other option. This build uses LangGraph. A note cannot talk to either specialist as an instruction. The output guardrail blocks a looser label than the books.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16%, assigned VP Sales + VP Finance, 24h. The note is evidence, not an instruction. Harbor (discount approves at 88%, payment escalates at 32%) → stricter label wins, assigned Finance, 24h.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approves at 88% (14% is inside the mid-market ceiling). Payment agent escalates at 32% because terms move to Net-90 and $18,400 is past due. Stricter label wins. Orchestrator assigns Finance, 24h. The person can approve, reject, or return. They do not sign.</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16%. Assigned to VP Sales + VP Finance, 24h. The note does not win.</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Checks label match, citation present, note-attack ignored, confidence threshold respected, and assignment named with SLA. A miss becomes a new golden row. Threshold and assignment rules are config, not code.</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the hop. The golden set is the release gate. Switching a policy pack changes what the next hop reads. It does not rewrite closed decisions.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not inside it. Submit for approval is the only inbound event. Write-back is one stage or a named assignment that resolves to a Salesforce queue, a DealHub group, or a Zuora approval hierarchy.</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Net-45 acceptable term</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both books fail</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Pure flag, not Vanta</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or VP Finance</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 VP Sales</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 lands with Finance and a 24-hour SLA.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Both books fail, so the assignee is VP Sales + Finance, 24h.</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7726</Words>
  <Application>Microsoft Office PowerPoint</Application>
  <PresentationFormat>Custom</PresentationFormat>
  <Paragraphs>446</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Oswald</vt:lpstr>
      <vt:lpstr>Oswald SemiBold</vt:lpstr>
      <vt:lpstr>Poppins</vt:lpstr>
      <vt:lpstr>Poppins SemiBold</vt:lpstr>
      <vt:lpstr>Office Theme</vt:lpstr>
      <vt:lpstr>        Agent-driven Automation in Products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13</cp:revision>
  <dcterms:created xsi:type="dcterms:W3CDTF">2026-10-30T14:41:01Z</dcterms:created>
  <dcterms:modified xsi:type="dcterms:W3CDTF">2026-10-30T16:53:11Z</dcterms:modified>
</cp:coreProperties>
</file>