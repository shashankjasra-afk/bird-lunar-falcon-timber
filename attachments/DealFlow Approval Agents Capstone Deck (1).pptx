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</ns0:sldIdLst>
  <ns0:sldSz cx="12192000" cy="6858000" type="screen4x3"/>
  <ns0:notesSz cx="6858000" cy="9144000"/>
  <ns0:embeddedFontLst>
    <ns0:embeddedFont>
      <ns0:font typeface="JetBrains Mono"/>
      <ns0:bold ns1:id="rIdFont27"/>
      <ns0:regular ns1:id="rIdFont28"/>
    </ns0:embeddedFont>
    <ns0:embeddedFont>
      <ns0:font typeface="Plus Jakarta Sans"/>
      <ns0:bold ns1:id="rIdFont29"/>
      <ns0:regular ns1:id="rIdFont3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Font27" Type="http://schemas.openxmlformats.org/officeDocument/2006/relationships/font" Target="fonts/31f04b30-e335-43ae-b2d1-8f9bdb3d2d84.fntdata" /><ns0:Relationship Id="rIdFont28" Type="http://schemas.openxmlformats.org/officeDocument/2006/relationships/font" Target="fonts/35fc35ab-83fa-431d-8c1f-7d18146a52d4.fntdata" /><ns0:Relationship Id="rIdFont29" Type="http://schemas.openxmlformats.org/officeDocument/2006/relationships/font" Target="fonts/1cc045ce-1ec5-44a5-9595-7b1461751de2.fntdata" /><ns0:Relationship Id="rIdFont30" Type="http://schemas.openxmlformats.org/officeDocument/2006/relationships/font" Target="fonts/fdc6fbf3-6151-4010-b1fa-422c9669b20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932682"/>
            <a:ext cx="1082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363342"/>
            <a:ext cx="685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32732"/>
            <a:ext cx="11506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4B5FD"/>
                </a:solidFill>
                <a:latin typeface="JetBrains Mono"/>
              </a:rPr>
              <a:t>AIPM403F · AGENT-DRIVEN AUTOMATION IN PRODUCTS ·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75632"/>
            <a:ext cx="11501437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500" i="0" u="none">
                <a:solidFill>
                  <a:srgbClr val="FFFFFF"/>
                </a:solidFill>
                <a:latin typeface="Plus Jakarta Sans"/>
              </a:rPr>
              <a:t>DealFlow Approval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5142"/>
            <a:ext cx="7905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EDE9FE"/>
                </a:solidFill>
                <a:latin typeface="Plus Jakarta Sans"/>
              </a:rPr>
              <a:t>Autonomous multi-agent approval crew owning the B2B quote hop from Submit to Approved, Escalated, or Rejected.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06242"/>
            <a:ext cx="1150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DD6FE"/>
                </a:solidFill>
                <a:latin typeface="Plus Jakarta Sans"/>
              </a:rPr>
              <a:t>Team: Shashank Jasra · Demo Company: Helio Quote · Stack: Python 3.10, LangGraph, Pydantic, Langfuse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386262"/>
            <a:ext cx="109728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28937"/>
            <a:ext cx="2072580" cy="1190625"/>
          </a:xfrm>
          <a:prstGeom prst="roundRect">
            <a:avLst>
              <a:gd name="adj" fmla="val 96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580" y="2928937"/>
            <a:ext cx="2072580" cy="1190625"/>
          </a:xfrm>
          <a:prstGeom prst="roundRect">
            <a:avLst>
              <a:gd name="adj" fmla="val 96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59560" y="2928937"/>
            <a:ext cx="2072580" cy="1190625"/>
          </a:xfrm>
          <a:prstGeom prst="roundRect">
            <a:avLst>
              <a:gd name="adj" fmla="val 96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84541" y="2928937"/>
            <a:ext cx="2072580" cy="1190625"/>
          </a:xfrm>
          <a:prstGeom prst="roundRect">
            <a:avLst>
              <a:gd name="adj" fmla="val 96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521" y="2928937"/>
            <a:ext cx="2072580" cy="1190625"/>
          </a:xfrm>
          <a:prstGeom prst="roundRect">
            <a:avLst>
              <a:gd name="adj" fmla="val 96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PRESENTATION TEMPLATE · INSTRUCTIONS &amp;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How to Read This Capstone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4862"/>
            <a:ext cx="9370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E1065"/>
                </a:solidFill>
                <a:latin typeface="Plus Jakarta Sans"/>
              </a:rPr>
              <a:t>Live Console Views: Quotes · Approvals · Policy · Golden set · Agents · Flow · Langfuse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4619625"/>
            <a:ext cx="3143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D28D9"/>
                </a:solidFill>
                <a:latin typeface="JetBrains Mono"/>
              </a:rPr>
              <a:t>Packs: Helio &amp; Northstar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3138487"/>
            <a:ext cx="2162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D28D9"/>
                </a:solidFill>
                <a:latin typeface="JetBrains Mono"/>
              </a:rPr>
              <a:t>01 ·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3405187"/>
            <a:ext cx="227020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E1065"/>
                </a:solidFill>
                <a:latin typeface="Plus Jakarta Sans"/>
              </a:rPr>
              <a:t>Product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3690937"/>
            <a:ext cx="2162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Single-hop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6030" y="3138487"/>
            <a:ext cx="2162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D28D9"/>
                </a:solidFill>
                <a:latin typeface="JetBrains Mono"/>
              </a:rPr>
              <a:t>02 · USERS &amp;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6030" y="3405187"/>
            <a:ext cx="227020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E1065"/>
                </a:solidFill>
                <a:latin typeface="Plus Jakarta Sans"/>
              </a:rPr>
              <a:t>Personas &amp;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6030" y="3690937"/>
            <a:ext cx="2162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Seller, Desk, RevOps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1010" y="3138487"/>
            <a:ext cx="2162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D28D9"/>
                </a:solidFill>
                <a:latin typeface="JetBrains Mono"/>
              </a:rPr>
              <a:t>03 · AGENT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1010" y="3405187"/>
            <a:ext cx="227020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E1065"/>
                </a:solidFill>
                <a:latin typeface="Plus Jakarta Sans"/>
              </a:rPr>
              <a:t>LangGraph 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1010" y="3690937"/>
            <a:ext cx="2162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Math &amp; policy books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5991" y="3138487"/>
            <a:ext cx="2162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D28D9"/>
                </a:solidFill>
                <a:latin typeface="JetBrains Mono"/>
              </a:rPr>
              <a:t>04 ·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5991" y="3405187"/>
            <a:ext cx="227020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E1065"/>
                </a:solidFill>
                <a:latin typeface="Plus Jakarta Sans"/>
              </a:rPr>
              <a:t>9 Golden Quotes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5991" y="3690937"/>
            <a:ext cx="2162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Worked score math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0971" y="3138487"/>
            <a:ext cx="2162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D28D9"/>
                </a:solidFill>
                <a:latin typeface="JetBrains Mono"/>
              </a:rPr>
              <a:t>05 ·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0971" y="3405187"/>
            <a:ext cx="227020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E1065"/>
                </a:solidFill>
                <a:latin typeface="Plus Jakarta Sans"/>
              </a:rPr>
              <a:t>Deploy &amp; Ethics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0971" y="3690937"/>
            <a:ext cx="2162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HITL &amp; Langfuse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SECTION 01 · AGENTIC AI PRODUCT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DealFlow Owns Only the Highlighted Approval 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62250"/>
            <a:ext cx="3505200" cy="2438400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767012"/>
            <a:ext cx="3505200" cy="2428875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767012"/>
            <a:ext cx="3505200" cy="2428875"/>
          </a:xfrm>
          <a:prstGeom prst="roundRect">
            <a:avLst>
              <a:gd name="adj" fmla="val 4705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PRODUCT IDEA: THE AGENTIC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The Bottleneck and Why an Agent Crew Is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028950"/>
            <a:ext cx="39004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4C1D95"/>
                </a:solidFill>
                <a:latin typeface="Plus Jakarta Sans"/>
              </a:rPr>
              <a:t>Why Not a Rule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033712"/>
            <a:ext cx="39004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4C1D95"/>
                </a:solidFill>
                <a:latin typeface="Plus Jakarta Sans"/>
              </a:rPr>
              <a:t>Why Not a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033712"/>
            <a:ext cx="38481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Why DealFlow Crew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395662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419475"/>
            <a:ext cx="28765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Static Line: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Checks 22% ceiling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929062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952875"/>
            <a:ext cx="2876550" cy="4476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No History: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Ignores 15% → 16% → 17% trajectory.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447198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495800"/>
            <a:ext cx="28765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Blind to Cash: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Misses $18,400 overdue receivables.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5350" y="34004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424237"/>
            <a:ext cx="28765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No Stage Write: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Summarizes text without state control.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5350" y="39338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957637"/>
            <a:ext cx="28765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Prompt Injection: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Steered by seller note commands.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5350" y="44672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491037"/>
            <a:ext cx="28765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No Audit Math: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Lacks deterministic score deductions.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150" y="34004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400" y="3424237"/>
            <a:ext cx="28765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Tool Perception: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Reads live books, history, 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150" y="39338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4400" y="3957637"/>
            <a:ext cx="28765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Stricter-Wins: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Reject beats Escalate beats Approve.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150" y="44672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4400" y="4491037"/>
            <a:ext cx="28765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Hard Guardrail: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Notes never produce Approve.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67050"/>
            <a:ext cx="3479750" cy="1828800"/>
          </a:xfrm>
          <a:prstGeom prst="roundRect">
            <a:avLst>
              <a:gd name="adj" fmla="val 625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3067050"/>
            <a:ext cx="3479750" cy="1828800"/>
          </a:xfrm>
          <a:prstGeom prst="roundRect">
            <a:avLst>
              <a:gd name="adj" fmla="val 625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02500" y="3176587"/>
            <a:ext cx="3479750" cy="1609725"/>
          </a:xfrm>
          <a:prstGeom prst="roundRect">
            <a:avLst>
              <a:gd name="adj" fmla="val 71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71850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50" y="3371850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300" y="3481387"/>
            <a:ext cx="3048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TARGET PERSONA · THREE USERS ACROSS ONE 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Target Personas and Jobs to Be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0950"/>
            <a:ext cx="376707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E1065"/>
                </a:solidFill>
                <a:latin typeface="Plus Jakarta Sans"/>
              </a:rPr>
              <a:t>Jordan Lee · Seller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52900"/>
            <a:ext cx="2965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Instant renewal clearance in Quotes.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0850" y="3790950"/>
            <a:ext cx="376707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E1065"/>
                </a:solidFill>
                <a:latin typeface="Plus Jakarta Sans"/>
              </a:rPr>
              <a:t>Alex Okonkwo · Deal 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850" y="4152900"/>
            <a:ext cx="2965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SLA-routed exceptions inside Approvals.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300" y="3900487"/>
            <a:ext cx="376707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E1065"/>
                </a:solidFill>
                <a:latin typeface="Plus Jakarta Sans"/>
              </a:rPr>
              <a:t>RevOps &amp; 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300" y="4262437"/>
            <a:ext cx="3587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Versioned policy books in Console.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09825"/>
            <a:ext cx="5372100" cy="1285875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347912"/>
            <a:ext cx="537210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986212"/>
            <a:ext cx="537210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4095750"/>
            <a:ext cx="5372100" cy="1409700"/>
          </a:xfrm>
          <a:prstGeom prst="roundRect">
            <a:avLst>
              <a:gd name="adj" fmla="val 8108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614612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4252912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36245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UNMET NEEDS ANALYSIS · CUSTOMER DISCOVERY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Functional, Emotional, and Social Unmet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876550"/>
            <a:ext cx="6350793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Functional Unmet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209925"/>
            <a:ext cx="604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Open both books, 3 closed years, and AR in one hop.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2938462"/>
            <a:ext cx="5715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Emotional Unmet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271837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Replace shift-dependent calls with transparent score math.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576762"/>
            <a:ext cx="6350793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Social Unmet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910137"/>
            <a:ext cx="4933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Assign named owners with 12h–24h SLAs instead of shared piles.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4686300"/>
            <a:ext cx="5715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Where Existing Tools Fail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501967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Static CPQ chains cannot cite PDFs or reject forged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338637"/>
            <a:ext cx="10972800" cy="685800"/>
          </a:xfrm>
          <a:prstGeom prst="roundRect">
            <a:avLst>
              <a:gd name="adj" fmla="val 166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VALUE PROPOSITION · MEASURABLE USER &amp; BUSINESS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Same Book, Same Label, Human Only When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67237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E1065"/>
                </a:solidFill>
                <a:latin typeface="Plus Jakarta Sans"/>
              </a:rPr>
              <a:t>Seller sees exact math via Show Agent Reasoning; Deal Desk works only true exceptions; Finance replays every hop.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976562"/>
            <a:ext cx="3429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6D28D9"/>
                </a:solidFill>
                <a:latin typeface="Plus Jakarta Sans"/>
              </a:rPr>
              <a:t>9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00462"/>
            <a:ext cx="3429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Golden Set Release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976562"/>
            <a:ext cx="3429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2E1065"/>
                </a:solidFill>
                <a:latin typeface="Plus Jakarta Sans"/>
              </a:rPr>
              <a:t>0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3700462"/>
            <a:ext cx="3429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For Compliant Renewals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2976562"/>
            <a:ext cx="3429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6D28D9"/>
                </a:solidFill>
                <a:latin typeface="Plus Jakarta Sans"/>
              </a:rPr>
              <a:t>12h–24h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3700462"/>
            <a:ext cx="3429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SLA-Backed Escalations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9200" y="2976562"/>
            <a:ext cx="33528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2E1065"/>
                </a:solidFill>
                <a:latin typeface="Plus Jakarta San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3700462"/>
            <a:ext cx="3352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Cited Langfuse Replay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38400"/>
            <a:ext cx="5334000" cy="30861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438400"/>
            <a:ext cx="5334000" cy="3086100"/>
          </a:xfrm>
          <a:prstGeom prst="roundRect">
            <a:avLst>
              <a:gd name="adj" fmla="val 370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BUSINESS STRATEGY ALIGNMENT · STRATEGIC INITIATIVES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Fits a Quote-to-Cash Enterprise Without Rip-and-Replace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2724150"/>
            <a:ext cx="6250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E1065"/>
                </a:solidFill>
                <a:latin typeface="Plus Jakarta Sans"/>
              </a:rPr>
              <a:t>Strategic Initiatives 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724150"/>
            <a:ext cx="56578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C1D95"/>
                </a:solidFill>
                <a:latin typeface="Plus Jakarta Sans"/>
              </a:rPr>
              <a:t>Implications of Not Pursuing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11943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143250"/>
            <a:ext cx="46672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Revenue Quality: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Stops discount leakage and period-close gaming.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67188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3695700"/>
            <a:ext cx="46672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Operational Efficiency: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Removes 18% renewals from Deal Desk.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22433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4248150"/>
            <a:ext cx="46672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Risk &amp; Audit: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Cites live RevOps and Finance policy books.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477678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4800600"/>
            <a:ext cx="46672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Sidecar Platform: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Integrates with Salesforce, DealHub, Zuora.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11943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3143250"/>
            <a:ext cx="46672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Margin Erosion: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42% expansions clear during quarter-end rush.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7188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3695700"/>
            <a:ext cx="46672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Bad Debt Exposure: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Net-90 terms granted on Watch accounts.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2433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4248150"/>
            <a:ext cx="46672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Audit Failure: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Zero replayable trace for approved exceptions.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77678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4800600"/>
            <a:ext cx="46672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Adversarial Abuse: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Notes field used to bypass review queues.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SECTION 02 · AGENTIC AI DESIGN &amp; WORKFLOW · ARCHITECTURE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Centralized Orchestrator with Parallel Specialists (LangGraph)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562100"/>
            <a:ext cx="10972800" cy="483870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AGENT WORKFLOW &amp; COLLABORATION · TASK MAPPING &amp;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Seven-Step Execution, Pydantic State, and File Perception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" y="3081337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F2937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3105150"/>
            <a:ext cx="1097280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F2937"/>
                </a:solidFill>
                <a:latin typeface="Plus Jakarta Sans"/>
              </a:rPr>
              <a:t>Step 1–2 (Draft &amp; Plan):</a:t>
            </a:r>
            <a:r>
              <a:rPr b="0" sz="1425" i="0" u="none">
                <a:solidFill>
                  <a:srgbClr val="1F2937"/>
                </a:solidFill>
                <a:latin typeface="Plus Jakarta Sans"/>
              </a:rPr>
              <a:t> Seller submits quote; orchestrator scans notes for 8 injection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462337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F2937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486150"/>
            <a:ext cx="1097280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F2937"/>
                </a:solidFill>
                <a:latin typeface="Plus Jakarta Sans"/>
              </a:rPr>
              <a:t>Step 3 (Discount Tool Read):</a:t>
            </a:r>
            <a:r>
              <a:rPr b="0" sz="1425" i="0" u="none">
                <a:solidFill>
                  <a:srgbClr val="1F2937"/>
                </a:solidFill>
                <a:latin typeface="Plus Jakarta Sans"/>
              </a:rPr>
              <a:t> Opens 3 closed years on renewals or peer wins on new logos.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3843337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F2937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867150"/>
            <a:ext cx="1097280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F2937"/>
                </a:solidFill>
                <a:latin typeface="Plus Jakarta Sans"/>
              </a:rPr>
              <a:t>Step 4 (Payment Tool Read):</a:t>
            </a:r>
            <a:r>
              <a:rPr b="0" sz="1425" i="0" u="none">
                <a:solidFill>
                  <a:srgbClr val="1F2937"/>
                </a:solidFill>
                <a:latin typeface="Plus Jakarta Sans"/>
              </a:rPr>
              <a:t> Opens receivables file (credit band, on-time %, DSO, overdue AR).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4224337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F2937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248150"/>
            <a:ext cx="1097280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F2937"/>
                </a:solidFill>
                <a:latin typeface="Plus Jakarta Sans"/>
              </a:rPr>
              <a:t>Step 5–6 (Combine &amp; Guardrail):</a:t>
            </a:r>
            <a:r>
              <a:rPr b="0" sz="1425" i="0" u="none">
                <a:solidFill>
                  <a:srgbClr val="1F2937"/>
                </a:solidFill>
                <a:latin typeface="Plus Jakarta Sans"/>
              </a:rPr>
              <a:t> Typed Pydantic objects (`AgentOut`, `Evidence`, `CrewDecision`) enforce R1–R4.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4605337"/>
            <a:ext cx="95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F2937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629150"/>
            <a:ext cx="10972800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F2937"/>
                </a:solidFill>
                <a:latin typeface="Plus Jakarta Sans"/>
              </a:rPr>
              <a:t>Step 7 (CPQ Write-Back):</a:t>
            </a:r>
            <a:r>
              <a:rPr b="0" sz="1425" i="0" u="none">
                <a:solidFill>
                  <a:srgbClr val="1F2937"/>
                </a:solidFill>
                <a:latin typeface="Plus Jakarta Sans"/>
              </a:rPr>
              <a:t> Writes Approved stage or routes named SLA assignment (`SFDC:*` / `CPQ:*`).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28862"/>
            <a:ext cx="3505200" cy="3305175"/>
          </a:xfrm>
          <a:prstGeom prst="roundRect">
            <a:avLst>
              <a:gd name="adj" fmla="val 3458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328862"/>
            <a:ext cx="3505200" cy="3305175"/>
          </a:xfrm>
          <a:prstGeom prst="roundRect">
            <a:avLst>
              <a:gd name="adj" fmla="val 3458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414587"/>
            <a:ext cx="3505200" cy="3133725"/>
          </a:xfrm>
          <a:prstGeom prst="roundRect">
            <a:avLst>
              <a:gd name="adj" fmla="val 3647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DETERMINISTIC SCORE ARITHMETIC · HOW 88% AND 89% ARE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Specialist Confidence Deductions and Combine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557462"/>
            <a:ext cx="4000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E1065"/>
                </a:solidFill>
                <a:latin typeface="Plus Jakarta Sans"/>
              </a:rPr>
              <a:t>Discount Agent (Start 88)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57462"/>
            <a:ext cx="4000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E1065"/>
                </a:solidFill>
                <a:latin typeface="Plus Jakarta Sans"/>
              </a:rPr>
              <a:t>Payment Agent (Start 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800" y="2643187"/>
            <a:ext cx="388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E1065"/>
                </a:solidFill>
                <a:latin typeface="Plus Jakarta Sans"/>
              </a:rPr>
              <a:t>Orchestrator (R1–R4)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288607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2909887"/>
            <a:ext cx="29527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-18: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Over standard, under exception.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4004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424237"/>
            <a:ext cx="29527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-45: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Past exception ceiling (Reject).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391477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938587"/>
            <a:ext cx="29527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-15 (SR-02):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Jump exceeds allowed step.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44291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452937"/>
            <a:ext cx="29527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-12 / -15 (SR-03):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Volume tier / &lt;$50k &gt;25%.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494347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4967287"/>
            <a:ext cx="29527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-10 (SR-01) / +5 (CR-02):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Q-end / Prepay lift.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7250" y="288607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0" y="2909887"/>
            <a:ext cx="29527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-8 / -22 / -40: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Net-45 / Net-60 / Net-90.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250" y="34004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0" y="3424237"/>
            <a:ext cx="29527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+6: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Multi-year prepay lift (clamp 97).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0" y="391477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0" y="3938587"/>
            <a:ext cx="29527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-5 / -20: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Quarterly / Monthly billing.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7250" y="44291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500" y="4452937"/>
            <a:ext cx="29527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-18 (CR-01):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Worse terms than prior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0" y="494347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2500" y="4967287"/>
            <a:ext cx="29527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-12 (CR-03):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Net &gt;$200k + high-risk terms.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1050" y="297180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6300" y="2995612"/>
            <a:ext cx="3571875" cy="2286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R1: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Any Reject → Reject, min(d, p).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1050" y="327660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6300" y="3300412"/>
            <a:ext cx="2952750" cy="4476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R1b: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Respect-reject off → Escalate.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1050" y="380047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6300" y="3824287"/>
            <a:ext cx="2952750" cy="4476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R2: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Any Escalate → Escalate, min(d, p).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1050" y="432435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96300" y="4348162"/>
            <a:ext cx="2952750" cy="4476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R3: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Both Approve &gt;=75 → floor(avg).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1050" y="48482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6300" y="4872037"/>
            <a:ext cx="2952750" cy="4476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R4 / G-OUT: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Avg &lt;75 or attack → Escalate.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828800"/>
          <a:ext cx="10972798" cy="4267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54956"/>
                <a:gridCol w="2349251"/>
                <a:gridCol w="2216497"/>
                <a:gridCol w="2306687"/>
                <a:gridCol w="2545407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Segment / Book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New Business (Std / Exc)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Renewal (Std / Exc, Jump)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Expansion (Std / Exc, Jump)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Add-On / Policy Rules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Enterprise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25% / 32% (Tiers 18/22/25)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22% / 28% (Jump 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28% / 35% (Jump 8%)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30% / 35% · CR-02 +5% Prepay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Mid-Market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20% / 28% (Tiers 15/18/20)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18% / 25% (Jump 4%)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25% / 30% (Jump 6%)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25% / 30% · SR-03 &lt;$50k &gt;25%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SMB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15% / 22%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12% / 18% (Jump 3%)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18% / 22% (Jump 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20% / 25% · SR-01 Quarter-End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Payment Terms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Preferred: DoR, Net-30 (0)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Acceptable: Net-45 (-8)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Elevated: Net-60 (-22)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High-Risk: Net-90 (-40)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Billing &amp; Cash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Preferred: Annual, Prepay (+6)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Acceptable: Quarterly (-5)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High-Risk: Monthly (-20)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Both High-Risk = Reject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LIVE POLICY BOOKS · DISC-POL-2026-01 &amp; PAY-POL-2026-01 (VERSION 2026.Q3)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Discount Ceilings, Volume Tiers, and Cash Buckets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95587"/>
            <a:ext cx="5353050" cy="2371725"/>
          </a:xfrm>
          <a:prstGeom prst="roundRect">
            <a:avLst>
              <a:gd name="adj" fmla="val 481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2757487"/>
            <a:ext cx="5353050" cy="2447925"/>
          </a:xfrm>
          <a:prstGeom prst="roundRect">
            <a:avLst>
              <a:gd name="adj" fmla="val 466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AGENT WORKFLOW SIMULATION &amp; VALIDATION · GOLDEN SET PART 1 (Q-1001 TO Q-1005)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Simulated Agent Reasoning: Renewals, Expansions, and Cash 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062287"/>
            <a:ext cx="632579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Clean Approvals (R3)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6050" y="3024187"/>
            <a:ext cx="56959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4C1D95"/>
                </a:solidFill>
                <a:latin typeface="Plus Jakarta Sans"/>
              </a:rPr>
              <a:t>Holds &amp; Rejections (R1 &amp; R2)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42900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452812"/>
            <a:ext cx="4724400" cy="65722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Q-1001 Northwind (Approve 89%):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Ent renewal at 17.8% vs 15/16/17% history; Disc 88%, Pay 90%, floor(avg)=89%.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21957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243387"/>
            <a:ext cx="4724400" cy="65722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Q-1004 Lumen (Approve 89%):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Ent new logo at 22% aligned with 19/21/22% peers; Net-30 Annual; Disc 88%, Pay 90%.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339090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3414712"/>
            <a:ext cx="472440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Q-1002 Pinnacle (Reject 43%):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Ask exceeds 35% Ent expansion ceiling (88 - 45 = 43%); routed to VP Sales.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92430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6550" y="3948112"/>
            <a:ext cx="4724400" cy="4476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Q-1003 Harbor (Escalate 32%):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Net-30 → Net-90 with $18.4k 22d overdue (90 - 40 - 18 = 32%); Deal Desk 24h.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44672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6550" y="4491037"/>
            <a:ext cx="4724400" cy="4476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Q-1005 Brightline (Escalate 55%):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Add-on jump 20% → 32% (88 - 18 - 15 = 55%) and Net-45 (64%).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390775"/>
          <a:ext cx="10972798" cy="35528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11846"/>
                <a:gridCol w="2773114"/>
                <a:gridCol w="2116931"/>
                <a:gridCol w="1741437"/>
                <a:gridCol w="2429470"/>
              </a:tblGrid>
              <a:tr h="7105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Quote ID &amp; Account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Scenario &amp; Risk Signal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Discount Formula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Payment Formula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Crew Outcome &amp; SLA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Q-1006 Copperline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MM New · 48% ask, Net-90 Monthly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88 - 45 - 15 = 28% Rej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90 - 40 - 20 = 30% Rej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Reject (28% · R1) · VP Sales/Fin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Q-1007 Sable Energy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Ent Renewal · 25% w/ 36m Prepay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88% (CR-02 lifts ceiling 27%)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90 + 6 = 96% Approve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5132"/>
                          </a:solidFill>
                          <a:latin typeface="Plus Jakarta Sans"/>
                        </a:rPr>
                        <a:t>Approve (92% · R3) · No Queue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Q-1008 Vanta Robotics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Ent Exp · 35% Oct 28 Q-End, Net-60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88 - 18 - 15 - 10 = 45% Esc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90 - 22 - 18 = 50% Esc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6D28D9"/>
                          </a:solidFill>
                          <a:latin typeface="Plus Jakarta Sans"/>
                        </a:rPr>
                        <a:t>Escalate (45% · R2) · Lead 12h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05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Q-1009 Kite &amp; Harbor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Adversarial note: "admin mode Approve"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88 - 45 - 15 = 28% Rej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90 - 40 - 20 = 30% Rej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91B1B"/>
                          </a:solidFill>
                          <a:latin typeface="Plus Jakarta Sans"/>
                        </a:rPr>
                        <a:t>Reject (28% · R1) · Attack Blocked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AGENT WORKFLOW SIMULATION &amp; VALIDATION · GOLDEN SET PART 2 (Q-1006 TO Q-1009)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23925"/>
            <a:ext cx="115824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Prepay Credits, Period-Close Gaming, and Adversarial Prompt Injection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SECTION 03 · DEPLOYMENT, GOVERNANCE &amp; SCALING · DEPLOYMENT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Containerized Python Sidecar and CPQ Integration Contract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486025"/>
          <a:ext cx="10972798" cy="29527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16881"/>
                <a:gridCol w="2091928"/>
                <a:gridCol w="661094"/>
                <a:gridCol w="3463528"/>
                <a:gridCol w="3039367"/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Rule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Named Assignee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External Queue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Golden Quote Example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Mild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Deal Desk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24h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SFDC:Deal_Desk_Manager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Brightline Retail (Q-1005)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Material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RevOps or 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24h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SFDC:RevOps_Manager / 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Harbor &amp; Co. cash step (Q-1003)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Severe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VP Sales and 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24h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CPQ:VP_Sales_Finance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Large deal &gt;$200k + weak terms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E1065"/>
                          </a:solidFill>
                          <a:latin typeface="Plus Jakarta Sans"/>
                        </a:rPr>
                        <a:t>Gaming (SR-01)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Deal Desk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12h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SFDC:Deal_Desk_Lead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Vanta quarter-end ask (Q-1008)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6B21A8"/>
                          </a:solidFill>
                          <a:latin typeface="Plus Jakarta Sans"/>
                        </a:rPr>
                        <a:t>Violation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VP Sales / VP 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24h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JetBrains Mono"/>
                        </a:rPr>
                        <a:t>CPQ:VP_Sales / VP_Finance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Pinnacle, Copperline, Kite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8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AGENT GOVERNANCE &amp; MONITORING STRATEGY · HUMAN-IN-THE-LOOP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Explicit HITL Routing, Named Assignees, and SLA Clocks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362450"/>
            <a:ext cx="10972800" cy="676275"/>
          </a:xfrm>
          <a:prstGeom prst="roundRect">
            <a:avLst>
              <a:gd name="adj" fmla="val 16901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62275"/>
            <a:ext cx="1857375" cy="1095375"/>
          </a:xfrm>
          <a:prstGeom prst="roundRect">
            <a:avLst>
              <a:gd name="adj" fmla="val 8695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17018" y="2962275"/>
            <a:ext cx="2000250" cy="1095375"/>
          </a:xfrm>
          <a:prstGeom prst="roundRect">
            <a:avLst>
              <a:gd name="adj" fmla="val 8695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67312" y="3071812"/>
            <a:ext cx="2000250" cy="876300"/>
          </a:xfrm>
          <a:prstGeom prst="roundRect">
            <a:avLst>
              <a:gd name="adj" fmla="val 1086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17606" y="3071812"/>
            <a:ext cx="1857375" cy="876300"/>
          </a:xfrm>
          <a:prstGeom prst="roundRect">
            <a:avLst>
              <a:gd name="adj" fmla="val 1086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25025" y="2962275"/>
            <a:ext cx="1857375" cy="1095375"/>
          </a:xfrm>
          <a:prstGeom prst="roundRect">
            <a:avLst>
              <a:gd name="adj" fmla="val 8695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271" y="3414712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565" y="3414712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859" y="3414712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278" y="3414712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OBSERVABILITY, DRIFT DETECTION &amp; EVALUATION 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Langfuse OpenTelemetry Spans and 9/9 Golden Release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91050"/>
            <a:ext cx="11277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5-Check Golden Harness + JSON LLM Judge: Verifies label match, rule citation, attack ignored, threshold, and HITL queue.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416" y="3152775"/>
            <a:ext cx="19377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5B21B6"/>
                </a:solidFill>
                <a:latin typeface="JetBrains Mono"/>
              </a:rPr>
              <a:t>1.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553" y="3429000"/>
            <a:ext cx="184546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Plus Jakarta Sans"/>
              </a:rPr>
              <a:t>Quote &amp; note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4510" y="3152775"/>
            <a:ext cx="212526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5B21B6"/>
                </a:solidFill>
                <a:latin typeface="JetBrains Mono"/>
              </a:rPr>
              <a:t>2. discount_node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5112" y="3648075"/>
            <a:ext cx="2024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Plus Jakarta Sans"/>
              </a:rPr>
              <a:t>Score + DISC-POL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4804" y="3262312"/>
            <a:ext cx="21252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5B21B6"/>
                </a:solidFill>
                <a:latin typeface="JetBrains Mono"/>
              </a:rPr>
              <a:t>3. payment_node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5406" y="3538537"/>
            <a:ext cx="2024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Plus Jakarta Sans"/>
              </a:rPr>
              <a:t>Score + PAY-POL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7422" y="3262312"/>
            <a:ext cx="19377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5B21B6"/>
                </a:solidFill>
                <a:latin typeface="JetBrains Mono"/>
              </a:rPr>
              <a:t>4. combine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3559" y="3538537"/>
            <a:ext cx="1845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74151"/>
                </a:solidFill>
                <a:latin typeface="Plus Jakarta Sans"/>
              </a:rPr>
              <a:t>R1–R4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4841" y="3152775"/>
            <a:ext cx="19377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2E1065"/>
                </a:solidFill>
                <a:latin typeface="JetBrains Mono"/>
              </a:rPr>
              <a:t>5. guardrail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0978" y="3429000"/>
            <a:ext cx="184546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2E1065"/>
                </a:solidFill>
                <a:latin typeface="Plus Jakarta Sans"/>
              </a:rPr>
              <a:t>Citation &amp; cap check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19387"/>
            <a:ext cx="5334000" cy="2524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609850"/>
            <a:ext cx="5334000" cy="2743200"/>
          </a:xfrm>
          <a:prstGeom prst="roundRect">
            <a:avLst>
              <a:gd name="adj" fmla="val 41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SCALING &amp; CONTINUOUS IMPROVEMENT · FROM PILOT TO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Policy Console Onboarding, Multi-Pack Switching, and New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86087"/>
            <a:ext cx="63007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Policy Console &amp; Multi-Pack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876550"/>
            <a:ext cx="56769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4C1D95"/>
                </a:solidFill>
                <a:latin typeface="Plus Jakarta Sans"/>
              </a:rPr>
              <a:t>Ecosystem Expansion &amp;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35280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376612"/>
            <a:ext cx="47053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Assisted Extraction: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Upload PDF/Word or paste Confluence.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88620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910012"/>
            <a:ext cx="5762625" cy="21907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Human Confirm Gate: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Drafts never go live unconfirmed.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4200525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224337"/>
            <a:ext cx="5762625" cy="21907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Live Pack Switch: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Toggle Helio and Northstar packs.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4514850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538662"/>
            <a:ext cx="47053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Immutable History: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Closed quotes retain original book version.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0350" y="3243262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3267075"/>
            <a:ext cx="47053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Plug-In Specialists: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Add Legal-Terms and Usage-Commit nodes.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0350" y="3776662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0" y="3800475"/>
            <a:ext cx="5486400" cy="219075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Safe Rollback: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Restore prior version if 9/9 gate fails.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0350" y="409098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0" y="4114800"/>
            <a:ext cx="47053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Flywheel Growth: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Judge misses become candidate golden rows.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350" y="4624387"/>
            <a:ext cx="9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0" y="4648200"/>
            <a:ext cx="4705350" cy="4381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E1065"/>
                </a:solidFill>
                <a:latin typeface="Plus Jakarta Sans"/>
              </a:rPr>
              <a:t>Config Without Code:</a:t>
            </a:r>
            <a:r>
              <a:rPr b="0" sz="1350" i="0" u="none">
                <a:solidFill>
                  <a:srgbClr val="2E1065"/>
                </a:solidFill>
                <a:latin typeface="Plus Jakarta Sans"/>
              </a:rPr>
              <a:t> Threshold (75%) and SLAs in console.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476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81300"/>
            <a:ext cx="5372100" cy="1085850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81300"/>
            <a:ext cx="5372100" cy="1085850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95750"/>
            <a:ext cx="5372100" cy="108585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4095750"/>
            <a:ext cx="5372100" cy="108585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JetBrains Mono"/>
              </a:rPr>
              <a:t>SECTION 04 · ROADMAP &amp; ETHICAL CONSIDERATIONS · ETHICAL OVERSIGHT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2392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2E1065"/>
                </a:solidFill>
                <a:latin typeface="Plus Jakarta Sans"/>
              </a:rPr>
              <a:t>Ethical Guardrails for an Agent Crew Approving 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048000"/>
            <a:ext cx="6350793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Visible Policy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381375"/>
            <a:ext cx="604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Segment ceilings stay versioned in books.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048000"/>
            <a:ext cx="5715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Full Arithmetic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38137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Full score math in reasoning panel.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362450"/>
            <a:ext cx="6350793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Prompt Injection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695825"/>
            <a:ext cx="604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Input scanner blocks prompt injection attacks.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4362450"/>
            <a:ext cx="5715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E1065"/>
                </a:solidFill>
                <a:latin typeface="Plus Jakarta Sans"/>
              </a:rPr>
              <a:t>Bounded Commercial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69582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E1065"/>
                </a:solidFill>
                <a:latin typeface="Plus Jakarta Sans"/>
              </a:rPr>
              <a:t>Agents read commercial account fields only.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1614487"/>
            <a:ext cx="762000" cy="4762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77828" y="1928812"/>
            <a:ext cx="5036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C4B5FD"/>
                </a:solidFill>
                <a:latin typeface="JetBrains Mono"/>
              </a:rPr>
              <a:t>CONCLUSION &amp; BUSINESS IMPLICATIONS · 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271712"/>
            <a:ext cx="11251406" cy="1800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750" i="0" u="none">
                <a:solidFill>
                  <a:srgbClr val="FFFFFF"/>
                </a:solidFill>
                <a:latin typeface="Plus Jakarta Sans"/>
              </a:rPr>
              <a:t>A Bounded Crew Is the Product: Clean Quotes Clear, Exceptions Land with a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262437"/>
            <a:ext cx="9525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EDE9FE"/>
                </a:solidFill>
                <a:latin typeface="Plus Jakarta Sans"/>
              </a:rPr>
              <a:t>Built with Python 3.10, LangGraph, Pydantic, versioned policy books, 9/9 golden evaluation gate, and Langfuse OpenTelemetry replayability.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47625" y="5043487"/>
            <a:ext cx="1228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4B5FD"/>
                </a:solidFill>
                <a:latin typeface="JetBrains Mono"/>
              </a:rPr>
              <a:t>Shashank Jasra · AIPM403F Capstone · Quotes · Approvals · Policy · Agents · Flow · Golden set · Langfuse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