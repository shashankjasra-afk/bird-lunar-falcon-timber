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E1A24"/>
          </a:solidFill>
          <a:ln/>
        </p:spPr>
      </p:sp>
      <p:sp>
        <p:nvSpPr>
          <p:cNvPr id="3" name="Shape 1"/>
          <p:cNvSpPr/>
          <p:nvPr/>
        </p:nvSpPr>
        <p:spPr>
          <a:xfrm>
            <a:off x="0" y="0"/>
            <a:ext cx="164592" cy="6858000"/>
          </a:xfrm>
          <a:prstGeom prst="rect">
            <a:avLst/>
          </a:prstGeom>
          <a:solidFill>
            <a:srgbClr val="1D5C68"/>
          </a:solidFill>
          <a:ln/>
        </p:spPr>
      </p:sp>
      <p:sp>
        <p:nvSpPr>
          <p:cNvPr id="4" name="Text 2"/>
          <p:cNvSpPr/>
          <p:nvPr/>
        </p:nvSpPr>
        <p:spPr>
          <a:xfrm>
            <a:off x="640080" y="1234440"/>
            <a:ext cx="10515600" cy="292608"/>
          </a:xfrm>
          <a:prstGeom prst="rect">
            <a:avLst/>
          </a:prstGeom>
          <a:noFill/>
          <a:ln/>
        </p:spPr>
        <p:txBody>
          <a:bodyPr wrap="square" lIns="0" tIns="0" rIns="0" bIns="0" rtlCol="0" anchor="ctr"/>
          <a:lstStyle/>
          <a:p>
            <a:pPr indent="0" marL="0">
              <a:buNone/>
            </a:pPr>
            <a:r>
              <a:rPr lang="en-US" sz="1300" b="1" spc="140" kern="0" dirty="0">
                <a:solidFill>
                  <a:srgbClr val="8FB8C0"/>
                </a:solidFill>
                <a:latin typeface="Calibri" pitchFamily="34" charset="0"/>
                <a:ea typeface="Calibri" pitchFamily="34" charset="-122"/>
                <a:cs typeface="Calibri" pitchFamily="34" charset="-120"/>
              </a:rPr>
              <a:t>AIPM403F  ·  AGENT-DRIVEN AUTOMATION IN PRODUCTS</a:t>
            </a:r>
            <a:endParaRPr lang="en-US" sz="1300" dirty="0"/>
          </a:p>
        </p:txBody>
      </p:sp>
      <p:sp>
        <p:nvSpPr>
          <p:cNvPr id="5" name="Text 3"/>
          <p:cNvSpPr/>
          <p:nvPr/>
        </p:nvSpPr>
        <p:spPr>
          <a:xfrm>
            <a:off x="640080" y="1645920"/>
            <a:ext cx="10058400" cy="1920240"/>
          </a:xfrm>
          <a:prstGeom prst="rect">
            <a:avLst/>
          </a:prstGeom>
          <a:noFill/>
          <a:ln/>
        </p:spPr>
        <p:txBody>
          <a:bodyPr wrap="square" lIns="0" tIns="0" rIns="0" bIns="0" rtlCol="0" anchor="ctr"/>
          <a:lstStyle/>
          <a:p>
            <a:pPr indent="0" marL="0">
              <a:buNone/>
            </a:pPr>
            <a:r>
              <a:rPr lang="en-US" sz="5400" dirty="0">
                <a:solidFill>
                  <a:srgbClr val="F7F4EE"/>
                </a:solidFill>
                <a:latin typeface="Georgia" pitchFamily="34" charset="0"/>
                <a:ea typeface="Georgia" pitchFamily="34" charset="-122"/>
                <a:cs typeface="Georgia" pitchFamily="34" charset="-120"/>
              </a:rPr>
              <a:t>DealFlow</a:t>
            </a:r>
            <a:endParaRPr lang="en-US" sz="5400" dirty="0"/>
          </a:p>
          <a:p>
            <a:pPr indent="0" marL="0">
              <a:buNone/>
            </a:pPr>
            <a:r>
              <a:rPr lang="en-US" sz="5400" dirty="0">
                <a:solidFill>
                  <a:srgbClr val="F7F4EE"/>
                </a:solidFill>
                <a:latin typeface="Georgia" pitchFamily="34" charset="0"/>
                <a:ea typeface="Georgia" pitchFamily="34" charset="-122"/>
                <a:cs typeface="Georgia" pitchFamily="34" charset="-120"/>
              </a:rPr>
              <a:t>Approval Agents</a:t>
            </a:r>
            <a:endParaRPr lang="en-US" sz="5400" dirty="0"/>
          </a:p>
        </p:txBody>
      </p:sp>
      <p:sp>
        <p:nvSpPr>
          <p:cNvPr id="6" name="Text 4"/>
          <p:cNvSpPr/>
          <p:nvPr/>
        </p:nvSpPr>
        <p:spPr>
          <a:xfrm>
            <a:off x="640080" y="3794760"/>
            <a:ext cx="8686800" cy="777240"/>
          </a:xfrm>
          <a:prstGeom prst="rect">
            <a:avLst/>
          </a:prstGeom>
          <a:noFill/>
          <a:ln/>
        </p:spPr>
        <p:txBody>
          <a:bodyPr wrap="square" lIns="0" tIns="0" rIns="0" bIns="0" rtlCol="0" anchor="ctr"/>
          <a:lstStyle/>
          <a:p>
            <a:pPr indent="0" marL="0">
              <a:buNone/>
            </a:pPr>
            <a:r>
              <a:rPr lang="en-US" sz="1600" dirty="0">
                <a:solidFill>
                  <a:srgbClr val="D5DEE2"/>
                </a:solidFill>
                <a:latin typeface="Calibri" pitchFamily="34" charset="0"/>
                <a:ea typeface="Calibri" pitchFamily="34" charset="-122"/>
                <a:cs typeface="Calibri" pitchFamily="34" charset="-120"/>
              </a:rPr>
              <a:t>An AI approval crew that owns one hop: Submit for approval to Approved, Escalated, or Rejected.</a:t>
            </a:r>
            <a:endParaRPr lang="en-US" sz="1600" dirty="0"/>
          </a:p>
          <a:p>
            <a:pPr indent="0" marL="0">
              <a:buNone/>
            </a:pPr>
            <a:r>
              <a:rPr lang="en-US" sz="1600" dirty="0">
                <a:solidFill>
                  <a:srgbClr val="D5DEE2"/>
                </a:solidFill>
                <a:latin typeface="Calibri" pitchFamily="34" charset="0"/>
                <a:ea typeface="Calibri" pitchFamily="34" charset="-122"/>
                <a:cs typeface="Calibri" pitchFamily="34" charset="-120"/>
              </a:rPr>
              <a:t>Not a CPQ. A specialist that a Salesforce, Zuora, or DealHub quote can call.</a:t>
            </a:r>
            <a:endParaRPr lang="en-US" sz="1600" dirty="0"/>
          </a:p>
        </p:txBody>
      </p:sp>
      <p:sp>
        <p:nvSpPr>
          <p:cNvPr id="7" name="Text 5"/>
          <p:cNvSpPr/>
          <p:nvPr/>
        </p:nvSpPr>
        <p:spPr>
          <a:xfrm>
            <a:off x="640080" y="5897880"/>
            <a:ext cx="9144000" cy="274320"/>
          </a:xfrm>
          <a:prstGeom prst="rect">
            <a:avLst/>
          </a:prstGeom>
          <a:noFill/>
          <a:ln/>
        </p:spPr>
        <p:txBody>
          <a:bodyPr wrap="square" lIns="0" tIns="0" rIns="0" bIns="0" rtlCol="0" anchor="ctr"/>
          <a:lstStyle/>
          <a:p>
            <a:pPr indent="0" marL="0">
              <a:buNone/>
            </a:pPr>
            <a:r>
              <a:rPr lang="en-US" sz="1300" dirty="0">
                <a:solidFill>
                  <a:srgbClr val="8FB8C0"/>
                </a:solidFill>
                <a:latin typeface="Calibri" pitchFamily="34" charset="0"/>
                <a:ea typeface="Calibri" pitchFamily="34" charset="-122"/>
                <a:cs typeface="Calibri" pitchFamily="34" charset="-120"/>
              </a:rPr>
              <a:t>Shashank Jasra   ·   Capstone presentation   ·   October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7F4EE"/>
          </a:solidFill>
          <a:ln/>
        </p:spPr>
      </p:sp>
      <p:sp>
        <p:nvSpPr>
          <p:cNvPr id="3" name="Text 1"/>
          <p:cNvSpPr/>
          <p:nvPr/>
        </p:nvSpPr>
        <p:spPr>
          <a:xfrm>
            <a:off x="411480" y="201168"/>
            <a:ext cx="11338560" cy="219456"/>
          </a:xfrm>
          <a:prstGeom prst="rect">
            <a:avLst/>
          </a:prstGeom>
          <a:noFill/>
          <a:ln/>
        </p:spPr>
        <p:txBody>
          <a:bodyPr wrap="square" lIns="0" tIns="0" rIns="0" bIns="0" rtlCol="0" anchor="ctr"/>
          <a:lstStyle/>
          <a:p>
            <a:pPr indent="0" marL="0">
              <a:buNone/>
            </a:pPr>
            <a:r>
              <a:rPr lang="en-US" sz="1100" b="1" spc="160" kern="0" dirty="0">
                <a:solidFill>
                  <a:srgbClr val="1D5C68"/>
                </a:solidFill>
                <a:latin typeface="Calibri" pitchFamily="34" charset="0"/>
                <a:ea typeface="Calibri" pitchFamily="34" charset="-122"/>
                <a:cs typeface="Calibri" pitchFamily="34" charset="-120"/>
              </a:rPr>
              <a:t>HOW TO READ THIS DECK</a:t>
            </a:r>
            <a:endParaRPr lang="en-US" sz="1100" dirty="0"/>
          </a:p>
        </p:txBody>
      </p:sp>
      <p:sp>
        <p:nvSpPr>
          <p:cNvPr id="4" name="Text 2"/>
          <p:cNvSpPr/>
          <p:nvPr/>
        </p:nvSpPr>
        <p:spPr>
          <a:xfrm>
            <a:off x="411480" y="457200"/>
            <a:ext cx="11338560" cy="438912"/>
          </a:xfrm>
          <a:prstGeom prst="rect">
            <a:avLst/>
          </a:prstGeom>
          <a:noFill/>
          <a:ln/>
        </p:spPr>
        <p:txBody>
          <a:bodyPr wrap="square" lIns="0" tIns="0" rIns="0" bIns="0" rtlCol="0" anchor="ctr"/>
          <a:lstStyle/>
          <a:p>
            <a:pPr indent="0" marL="0">
              <a:buNone/>
            </a:pPr>
            <a:r>
              <a:rPr lang="en-US" sz="2600" dirty="0">
                <a:solidFill>
                  <a:srgbClr val="0E1A24"/>
                </a:solidFill>
                <a:latin typeface="Georgia" pitchFamily="34" charset="0"/>
                <a:ea typeface="Georgia" pitchFamily="34" charset="-122"/>
                <a:cs typeface="Georgia" pitchFamily="34" charset="-120"/>
              </a:rPr>
              <a:t>The capstone path, in the template order</a:t>
            </a:r>
            <a:endParaRPr lang="en-US" sz="2600" dirty="0"/>
          </a:p>
        </p:txBody>
      </p:sp>
      <p:sp>
        <p:nvSpPr>
          <p:cNvPr id="5" name="Shape 3"/>
          <p:cNvSpPr/>
          <p:nvPr/>
        </p:nvSpPr>
        <p:spPr>
          <a:xfrm>
            <a:off x="411480" y="1325880"/>
            <a:ext cx="5577840" cy="1417320"/>
          </a:xfrm>
          <a:prstGeom prst="roundRect">
            <a:avLst>
              <a:gd name="adj" fmla="val 5161"/>
            </a:avLst>
          </a:prstGeom>
          <a:solidFill>
            <a:srgbClr val="FFFFFF"/>
          </a:solidFill>
          <a:ln w="12700">
            <a:solidFill>
              <a:srgbClr val="D8D2C6"/>
            </a:solidFill>
            <a:prstDash val="solid"/>
          </a:ln>
        </p:spPr>
      </p:sp>
      <p:sp>
        <p:nvSpPr>
          <p:cNvPr id="6" name="Text 4"/>
          <p:cNvSpPr/>
          <p:nvPr/>
        </p:nvSpPr>
        <p:spPr>
          <a:xfrm>
            <a:off x="640080" y="1527048"/>
            <a:ext cx="1005840" cy="365760"/>
          </a:xfrm>
          <a:prstGeom prst="rect">
            <a:avLst/>
          </a:prstGeom>
          <a:noFill/>
          <a:ln/>
        </p:spPr>
        <p:txBody>
          <a:bodyPr wrap="square" lIns="0" tIns="0" rIns="0" bIns="0" rtlCol="0" anchor="ctr"/>
          <a:lstStyle/>
          <a:p>
            <a:pPr indent="0" marL="0">
              <a:buNone/>
            </a:pPr>
            <a:r>
              <a:rPr lang="en-US" sz="2000" dirty="0">
                <a:solidFill>
                  <a:srgbClr val="1D5C68"/>
                </a:solidFill>
                <a:latin typeface="Georgia" pitchFamily="34" charset="0"/>
                <a:ea typeface="Georgia" pitchFamily="34" charset="-122"/>
                <a:cs typeface="Georgia" pitchFamily="34" charset="-120"/>
              </a:rPr>
              <a:t>01</a:t>
            </a:r>
            <a:endParaRPr lang="en-US" sz="2000" dirty="0"/>
          </a:p>
        </p:txBody>
      </p:sp>
      <p:sp>
        <p:nvSpPr>
          <p:cNvPr id="7" name="Text 5"/>
          <p:cNvSpPr/>
          <p:nvPr/>
        </p:nvSpPr>
        <p:spPr>
          <a:xfrm>
            <a:off x="1691640" y="1554480"/>
            <a:ext cx="4023360" cy="347472"/>
          </a:xfrm>
          <a:prstGeom prst="rect">
            <a:avLst/>
          </a:prstGeom>
          <a:noFill/>
          <a:ln/>
        </p:spPr>
        <p:txBody>
          <a:bodyPr wrap="square" lIns="0" tIns="0" rIns="0" bIns="0" rtlCol="0" anchor="ctr"/>
          <a:lstStyle/>
          <a:p>
            <a:pPr indent="0" marL="0">
              <a:buNone/>
            </a:pPr>
            <a:r>
              <a:rPr lang="en-US" sz="1600" b="1" dirty="0">
                <a:solidFill>
                  <a:srgbClr val="0E1A24"/>
                </a:solidFill>
                <a:latin typeface="Calibri" pitchFamily="34" charset="0"/>
                <a:ea typeface="Calibri" pitchFamily="34" charset="-122"/>
                <a:cs typeface="Calibri" pitchFamily="34" charset="-120"/>
              </a:rPr>
              <a:t>The agentic opportunity</a:t>
            </a:r>
            <a:endParaRPr lang="en-US" sz="1600" dirty="0"/>
          </a:p>
        </p:txBody>
      </p:sp>
      <p:sp>
        <p:nvSpPr>
          <p:cNvPr id="8" name="Text 6"/>
          <p:cNvSpPr/>
          <p:nvPr/>
        </p:nvSpPr>
        <p:spPr>
          <a:xfrm>
            <a:off x="1691640" y="1984248"/>
            <a:ext cx="4023360" cy="502920"/>
          </a:xfrm>
          <a:prstGeom prst="rect">
            <a:avLst/>
          </a:prstGeom>
          <a:noFill/>
          <a:ln/>
        </p:spPr>
        <p:txBody>
          <a:bodyPr wrap="square" lIns="0" tIns="0" rIns="0" bIns="0" rtlCol="0" anchor="ctr"/>
          <a:lstStyle/>
          <a:p>
            <a:pPr indent="0" marL="0">
              <a:buNone/>
            </a:pPr>
            <a:r>
              <a:rPr lang="en-US" sz="1300" dirty="0">
                <a:solidFill>
                  <a:srgbClr val="5E6E78"/>
                </a:solidFill>
                <a:latin typeface="Calibri" pitchFamily="34" charset="0"/>
                <a:ea typeface="Calibri" pitchFamily="34" charset="-122"/>
                <a:cs typeface="Calibri" pitchFamily="34" charset="-120"/>
              </a:rPr>
              <a:t>Why quote approval is a crew, not a rule table</a:t>
            </a:r>
            <a:endParaRPr lang="en-US" sz="1300" dirty="0"/>
          </a:p>
        </p:txBody>
      </p:sp>
      <p:sp>
        <p:nvSpPr>
          <p:cNvPr id="9" name="Shape 7"/>
          <p:cNvSpPr/>
          <p:nvPr/>
        </p:nvSpPr>
        <p:spPr>
          <a:xfrm>
            <a:off x="411480" y="2926080"/>
            <a:ext cx="5577840" cy="1417320"/>
          </a:xfrm>
          <a:prstGeom prst="roundRect">
            <a:avLst>
              <a:gd name="adj" fmla="val 5161"/>
            </a:avLst>
          </a:prstGeom>
          <a:solidFill>
            <a:srgbClr val="FFFFFF"/>
          </a:solidFill>
          <a:ln w="12700">
            <a:solidFill>
              <a:srgbClr val="D8D2C6"/>
            </a:solidFill>
            <a:prstDash val="solid"/>
          </a:ln>
        </p:spPr>
      </p:sp>
      <p:sp>
        <p:nvSpPr>
          <p:cNvPr id="10" name="Text 8"/>
          <p:cNvSpPr/>
          <p:nvPr/>
        </p:nvSpPr>
        <p:spPr>
          <a:xfrm>
            <a:off x="640080" y="3127248"/>
            <a:ext cx="1005840" cy="365760"/>
          </a:xfrm>
          <a:prstGeom prst="rect">
            <a:avLst/>
          </a:prstGeom>
          <a:noFill/>
          <a:ln/>
        </p:spPr>
        <p:txBody>
          <a:bodyPr wrap="square" lIns="0" tIns="0" rIns="0" bIns="0" rtlCol="0" anchor="ctr"/>
          <a:lstStyle/>
          <a:p>
            <a:pPr indent="0" marL="0">
              <a:buNone/>
            </a:pPr>
            <a:r>
              <a:rPr lang="en-US" sz="2000" dirty="0">
                <a:solidFill>
                  <a:srgbClr val="1D5C68"/>
                </a:solidFill>
                <a:latin typeface="Georgia" pitchFamily="34" charset="0"/>
                <a:ea typeface="Georgia" pitchFamily="34" charset="-122"/>
                <a:cs typeface="Georgia" pitchFamily="34" charset="-120"/>
              </a:rPr>
              <a:t>02</a:t>
            </a:r>
            <a:endParaRPr lang="en-US" sz="2000" dirty="0"/>
          </a:p>
        </p:txBody>
      </p:sp>
      <p:sp>
        <p:nvSpPr>
          <p:cNvPr id="11" name="Text 9"/>
          <p:cNvSpPr/>
          <p:nvPr/>
        </p:nvSpPr>
        <p:spPr>
          <a:xfrm>
            <a:off x="1691640" y="3154680"/>
            <a:ext cx="4023360" cy="347472"/>
          </a:xfrm>
          <a:prstGeom prst="rect">
            <a:avLst/>
          </a:prstGeom>
          <a:noFill/>
          <a:ln/>
        </p:spPr>
        <p:txBody>
          <a:bodyPr wrap="square" lIns="0" tIns="0" rIns="0" bIns="0" rtlCol="0" anchor="ctr"/>
          <a:lstStyle/>
          <a:p>
            <a:pPr indent="0" marL="0">
              <a:buNone/>
            </a:pPr>
            <a:r>
              <a:rPr lang="en-US" sz="1600" b="1" dirty="0">
                <a:solidFill>
                  <a:srgbClr val="0E1A24"/>
                </a:solidFill>
                <a:latin typeface="Calibri" pitchFamily="34" charset="0"/>
                <a:ea typeface="Calibri" pitchFamily="34" charset="-122"/>
                <a:cs typeface="Calibri" pitchFamily="34" charset="-120"/>
              </a:rPr>
              <a:t>Persona and unmet need</a:t>
            </a:r>
            <a:endParaRPr lang="en-US" sz="1600" dirty="0"/>
          </a:p>
        </p:txBody>
      </p:sp>
      <p:sp>
        <p:nvSpPr>
          <p:cNvPr id="12" name="Text 10"/>
          <p:cNvSpPr/>
          <p:nvPr/>
        </p:nvSpPr>
        <p:spPr>
          <a:xfrm>
            <a:off x="1691640" y="3584448"/>
            <a:ext cx="4023360" cy="502920"/>
          </a:xfrm>
          <a:prstGeom prst="rect">
            <a:avLst/>
          </a:prstGeom>
          <a:noFill/>
          <a:ln/>
        </p:spPr>
        <p:txBody>
          <a:bodyPr wrap="square" lIns="0" tIns="0" rIns="0" bIns="0" rtlCol="0" anchor="ctr"/>
          <a:lstStyle/>
          <a:p>
            <a:pPr indent="0" marL="0">
              <a:buNone/>
            </a:pPr>
            <a:r>
              <a:rPr lang="en-US" sz="1300" dirty="0">
                <a:solidFill>
                  <a:srgbClr val="5E6E78"/>
                </a:solidFill>
                <a:latin typeface="Calibri" pitchFamily="34" charset="0"/>
                <a:ea typeface="Calibri" pitchFamily="34" charset="-122"/>
                <a:cs typeface="Calibri" pitchFamily="34" charset="-120"/>
              </a:rPr>
              <a:t>Seller, Deal Desk, RevOps — and what fails today</a:t>
            </a:r>
            <a:endParaRPr lang="en-US" sz="1300" dirty="0"/>
          </a:p>
        </p:txBody>
      </p:sp>
      <p:sp>
        <p:nvSpPr>
          <p:cNvPr id="13" name="Shape 11"/>
          <p:cNvSpPr/>
          <p:nvPr/>
        </p:nvSpPr>
        <p:spPr>
          <a:xfrm>
            <a:off x="411480" y="4526280"/>
            <a:ext cx="5577840" cy="1417320"/>
          </a:xfrm>
          <a:prstGeom prst="roundRect">
            <a:avLst>
              <a:gd name="adj" fmla="val 5161"/>
            </a:avLst>
          </a:prstGeom>
          <a:solidFill>
            <a:srgbClr val="FFFFFF"/>
          </a:solidFill>
          <a:ln w="12700">
            <a:solidFill>
              <a:srgbClr val="D8D2C6"/>
            </a:solidFill>
            <a:prstDash val="solid"/>
          </a:ln>
        </p:spPr>
      </p:sp>
      <p:sp>
        <p:nvSpPr>
          <p:cNvPr id="14" name="Text 12"/>
          <p:cNvSpPr/>
          <p:nvPr/>
        </p:nvSpPr>
        <p:spPr>
          <a:xfrm>
            <a:off x="640080" y="4727448"/>
            <a:ext cx="1005840" cy="365760"/>
          </a:xfrm>
          <a:prstGeom prst="rect">
            <a:avLst/>
          </a:prstGeom>
          <a:noFill/>
          <a:ln/>
        </p:spPr>
        <p:txBody>
          <a:bodyPr wrap="square" lIns="0" tIns="0" rIns="0" bIns="0" rtlCol="0" anchor="ctr"/>
          <a:lstStyle/>
          <a:p>
            <a:pPr indent="0" marL="0">
              <a:buNone/>
            </a:pPr>
            <a:r>
              <a:rPr lang="en-US" sz="2000" dirty="0">
                <a:solidFill>
                  <a:srgbClr val="1D5C68"/>
                </a:solidFill>
                <a:latin typeface="Georgia" pitchFamily="34" charset="0"/>
                <a:ea typeface="Georgia" pitchFamily="34" charset="-122"/>
                <a:cs typeface="Georgia" pitchFamily="34" charset="-120"/>
              </a:rPr>
              <a:t>03</a:t>
            </a:r>
            <a:endParaRPr lang="en-US" sz="2000" dirty="0"/>
          </a:p>
        </p:txBody>
      </p:sp>
      <p:sp>
        <p:nvSpPr>
          <p:cNvPr id="15" name="Text 13"/>
          <p:cNvSpPr/>
          <p:nvPr/>
        </p:nvSpPr>
        <p:spPr>
          <a:xfrm>
            <a:off x="1691640" y="4754880"/>
            <a:ext cx="4023360" cy="347472"/>
          </a:xfrm>
          <a:prstGeom prst="rect">
            <a:avLst/>
          </a:prstGeom>
          <a:noFill/>
          <a:ln/>
        </p:spPr>
        <p:txBody>
          <a:bodyPr wrap="square" lIns="0" tIns="0" rIns="0" bIns="0" rtlCol="0" anchor="ctr"/>
          <a:lstStyle/>
          <a:p>
            <a:pPr indent="0" marL="0">
              <a:buNone/>
            </a:pPr>
            <a:r>
              <a:rPr lang="en-US" sz="1600" b="1" dirty="0">
                <a:solidFill>
                  <a:srgbClr val="0E1A24"/>
                </a:solidFill>
                <a:latin typeface="Calibri" pitchFamily="34" charset="0"/>
                <a:ea typeface="Calibri" pitchFamily="34" charset="-122"/>
                <a:cs typeface="Calibri" pitchFamily="34" charset="-120"/>
              </a:rPr>
              <a:t>Value and strategy</a:t>
            </a:r>
            <a:endParaRPr lang="en-US" sz="1600" dirty="0"/>
          </a:p>
        </p:txBody>
      </p:sp>
      <p:sp>
        <p:nvSpPr>
          <p:cNvPr id="16" name="Text 14"/>
          <p:cNvSpPr/>
          <p:nvPr/>
        </p:nvSpPr>
        <p:spPr>
          <a:xfrm>
            <a:off x="1691640" y="5184648"/>
            <a:ext cx="4023360" cy="502920"/>
          </a:xfrm>
          <a:prstGeom prst="rect">
            <a:avLst/>
          </a:prstGeom>
          <a:noFill/>
          <a:ln/>
        </p:spPr>
        <p:txBody>
          <a:bodyPr wrap="square" lIns="0" tIns="0" rIns="0" bIns="0" rtlCol="0" anchor="ctr"/>
          <a:lstStyle/>
          <a:p>
            <a:pPr indent="0" marL="0">
              <a:buNone/>
            </a:pPr>
            <a:r>
              <a:rPr lang="en-US" sz="1300" dirty="0">
                <a:solidFill>
                  <a:srgbClr val="5E6E78"/>
                </a:solidFill>
                <a:latin typeface="Calibri" pitchFamily="34" charset="0"/>
                <a:ea typeface="Calibri" pitchFamily="34" charset="-122"/>
                <a:cs typeface="Calibri" pitchFamily="34" charset="-120"/>
              </a:rPr>
              <a:t>What the hop is worth, and why the business cares</a:t>
            </a:r>
            <a:endParaRPr lang="en-US" sz="1300" dirty="0"/>
          </a:p>
        </p:txBody>
      </p:sp>
      <p:sp>
        <p:nvSpPr>
          <p:cNvPr id="17" name="Shape 15"/>
          <p:cNvSpPr/>
          <p:nvPr/>
        </p:nvSpPr>
        <p:spPr>
          <a:xfrm>
            <a:off x="6263640" y="1325880"/>
            <a:ext cx="5577840" cy="1417320"/>
          </a:xfrm>
          <a:prstGeom prst="roundRect">
            <a:avLst>
              <a:gd name="adj" fmla="val 5161"/>
            </a:avLst>
          </a:prstGeom>
          <a:solidFill>
            <a:srgbClr val="FFFFFF"/>
          </a:solidFill>
          <a:ln w="12700">
            <a:solidFill>
              <a:srgbClr val="D8D2C6"/>
            </a:solidFill>
            <a:prstDash val="solid"/>
          </a:ln>
        </p:spPr>
      </p:sp>
      <p:sp>
        <p:nvSpPr>
          <p:cNvPr id="18" name="Text 16"/>
          <p:cNvSpPr/>
          <p:nvPr/>
        </p:nvSpPr>
        <p:spPr>
          <a:xfrm>
            <a:off x="6492240" y="1527048"/>
            <a:ext cx="1005840" cy="365760"/>
          </a:xfrm>
          <a:prstGeom prst="rect">
            <a:avLst/>
          </a:prstGeom>
          <a:noFill/>
          <a:ln/>
        </p:spPr>
        <p:txBody>
          <a:bodyPr wrap="square" lIns="0" tIns="0" rIns="0" bIns="0" rtlCol="0" anchor="ctr"/>
          <a:lstStyle/>
          <a:p>
            <a:pPr indent="0" marL="0">
              <a:buNone/>
            </a:pPr>
            <a:r>
              <a:rPr lang="en-US" sz="2000" dirty="0">
                <a:solidFill>
                  <a:srgbClr val="1D5C68"/>
                </a:solidFill>
                <a:latin typeface="Georgia" pitchFamily="34" charset="0"/>
                <a:ea typeface="Georgia" pitchFamily="34" charset="-122"/>
                <a:cs typeface="Georgia" pitchFamily="34" charset="-120"/>
              </a:rPr>
              <a:t>04</a:t>
            </a:r>
            <a:endParaRPr lang="en-US" sz="2000" dirty="0"/>
          </a:p>
        </p:txBody>
      </p:sp>
      <p:sp>
        <p:nvSpPr>
          <p:cNvPr id="19" name="Text 17"/>
          <p:cNvSpPr/>
          <p:nvPr/>
        </p:nvSpPr>
        <p:spPr>
          <a:xfrm>
            <a:off x="7543800" y="1554480"/>
            <a:ext cx="4023360" cy="347472"/>
          </a:xfrm>
          <a:prstGeom prst="rect">
            <a:avLst/>
          </a:prstGeom>
          <a:noFill/>
          <a:ln/>
        </p:spPr>
        <p:txBody>
          <a:bodyPr wrap="square" lIns="0" tIns="0" rIns="0" bIns="0" rtlCol="0" anchor="ctr"/>
          <a:lstStyle/>
          <a:p>
            <a:pPr indent="0" marL="0">
              <a:buNone/>
            </a:pPr>
            <a:r>
              <a:rPr lang="en-US" sz="1600" b="1" dirty="0">
                <a:solidFill>
                  <a:srgbClr val="0E1A24"/>
                </a:solidFill>
                <a:latin typeface="Calibri" pitchFamily="34" charset="0"/>
                <a:ea typeface="Calibri" pitchFamily="34" charset="-122"/>
                <a:cs typeface="Calibri" pitchFamily="34" charset="-120"/>
              </a:rPr>
              <a:t>Design and workflow</a:t>
            </a:r>
            <a:endParaRPr lang="en-US" sz="1600" dirty="0"/>
          </a:p>
        </p:txBody>
      </p:sp>
      <p:sp>
        <p:nvSpPr>
          <p:cNvPr id="20" name="Text 18"/>
          <p:cNvSpPr/>
          <p:nvPr/>
        </p:nvSpPr>
        <p:spPr>
          <a:xfrm>
            <a:off x="7543800" y="1984248"/>
            <a:ext cx="4023360" cy="502920"/>
          </a:xfrm>
          <a:prstGeom prst="rect">
            <a:avLst/>
          </a:prstGeom>
          <a:noFill/>
          <a:ln/>
        </p:spPr>
        <p:txBody>
          <a:bodyPr wrap="square" lIns="0" tIns="0" rIns="0" bIns="0" rtlCol="0" anchor="ctr"/>
          <a:lstStyle/>
          <a:p>
            <a:pPr indent="0" marL="0">
              <a:buNone/>
            </a:pPr>
            <a:r>
              <a:rPr lang="en-US" sz="1300" dirty="0">
                <a:solidFill>
                  <a:srgbClr val="5E6E78"/>
                </a:solidFill>
                <a:latin typeface="Calibri" pitchFamily="34" charset="0"/>
                <a:ea typeface="Calibri" pitchFamily="34" charset="-122"/>
                <a:cs typeface="Calibri" pitchFamily="34" charset="-120"/>
              </a:rPr>
              <a:t>Three agents, one graph, one write-back</a:t>
            </a:r>
            <a:endParaRPr lang="en-US" sz="1300" dirty="0"/>
          </a:p>
        </p:txBody>
      </p:sp>
      <p:sp>
        <p:nvSpPr>
          <p:cNvPr id="21" name="Shape 19"/>
          <p:cNvSpPr/>
          <p:nvPr/>
        </p:nvSpPr>
        <p:spPr>
          <a:xfrm>
            <a:off x="6263640" y="2926080"/>
            <a:ext cx="5577840" cy="1417320"/>
          </a:xfrm>
          <a:prstGeom prst="roundRect">
            <a:avLst>
              <a:gd name="adj" fmla="val 5161"/>
            </a:avLst>
          </a:prstGeom>
          <a:solidFill>
            <a:srgbClr val="FFFFFF"/>
          </a:solidFill>
          <a:ln w="12700">
            <a:solidFill>
              <a:srgbClr val="D8D2C6"/>
            </a:solidFill>
            <a:prstDash val="solid"/>
          </a:ln>
        </p:spPr>
      </p:sp>
      <p:sp>
        <p:nvSpPr>
          <p:cNvPr id="22" name="Text 20"/>
          <p:cNvSpPr/>
          <p:nvPr/>
        </p:nvSpPr>
        <p:spPr>
          <a:xfrm>
            <a:off x="6492240" y="3127248"/>
            <a:ext cx="1005840" cy="365760"/>
          </a:xfrm>
          <a:prstGeom prst="rect">
            <a:avLst/>
          </a:prstGeom>
          <a:noFill/>
          <a:ln/>
        </p:spPr>
        <p:txBody>
          <a:bodyPr wrap="square" lIns="0" tIns="0" rIns="0" bIns="0" rtlCol="0" anchor="ctr"/>
          <a:lstStyle/>
          <a:p>
            <a:pPr indent="0" marL="0">
              <a:buNone/>
            </a:pPr>
            <a:r>
              <a:rPr lang="en-US" sz="2000" dirty="0">
                <a:solidFill>
                  <a:srgbClr val="1D5C68"/>
                </a:solidFill>
                <a:latin typeface="Georgia" pitchFamily="34" charset="0"/>
                <a:ea typeface="Georgia" pitchFamily="34" charset="-122"/>
                <a:cs typeface="Georgia" pitchFamily="34" charset="-120"/>
              </a:rPr>
              <a:t>05</a:t>
            </a:r>
            <a:endParaRPr lang="en-US" sz="2000" dirty="0"/>
          </a:p>
        </p:txBody>
      </p:sp>
      <p:sp>
        <p:nvSpPr>
          <p:cNvPr id="23" name="Text 21"/>
          <p:cNvSpPr/>
          <p:nvPr/>
        </p:nvSpPr>
        <p:spPr>
          <a:xfrm>
            <a:off x="7543800" y="3154680"/>
            <a:ext cx="4023360" cy="347472"/>
          </a:xfrm>
          <a:prstGeom prst="rect">
            <a:avLst/>
          </a:prstGeom>
          <a:noFill/>
          <a:ln/>
        </p:spPr>
        <p:txBody>
          <a:bodyPr wrap="square" lIns="0" tIns="0" rIns="0" bIns="0" rtlCol="0" anchor="ctr"/>
          <a:lstStyle/>
          <a:p>
            <a:pPr indent="0" marL="0">
              <a:buNone/>
            </a:pPr>
            <a:r>
              <a:rPr lang="en-US" sz="1600" b="1" dirty="0">
                <a:solidFill>
                  <a:srgbClr val="0E1A24"/>
                </a:solidFill>
                <a:latin typeface="Calibri" pitchFamily="34" charset="0"/>
                <a:ea typeface="Calibri" pitchFamily="34" charset="-122"/>
                <a:cs typeface="Calibri" pitchFamily="34" charset="-120"/>
              </a:rPr>
              <a:t>Simulation</a:t>
            </a:r>
            <a:endParaRPr lang="en-US" sz="1600" dirty="0"/>
          </a:p>
        </p:txBody>
      </p:sp>
      <p:sp>
        <p:nvSpPr>
          <p:cNvPr id="24" name="Text 22"/>
          <p:cNvSpPr/>
          <p:nvPr/>
        </p:nvSpPr>
        <p:spPr>
          <a:xfrm>
            <a:off x="7543800" y="3584448"/>
            <a:ext cx="4023360" cy="502920"/>
          </a:xfrm>
          <a:prstGeom prst="rect">
            <a:avLst/>
          </a:prstGeom>
          <a:noFill/>
          <a:ln/>
        </p:spPr>
        <p:txBody>
          <a:bodyPr wrap="square" lIns="0" tIns="0" rIns="0" bIns="0" rtlCol="0" anchor="ctr"/>
          <a:lstStyle/>
          <a:p>
            <a:pPr indent="0" marL="0">
              <a:buNone/>
            </a:pPr>
            <a:r>
              <a:rPr lang="en-US" sz="1300" dirty="0">
                <a:solidFill>
                  <a:srgbClr val="5E6E78"/>
                </a:solidFill>
                <a:latin typeface="Calibri" pitchFamily="34" charset="0"/>
                <a:ea typeface="Calibri" pitchFamily="34" charset="-122"/>
                <a:cs typeface="Calibri" pitchFamily="34" charset="-120"/>
              </a:rPr>
              <a:t>Real quotes: Northwind, Harbor, Pinnacle, Kite</a:t>
            </a:r>
            <a:endParaRPr lang="en-US" sz="1300" dirty="0"/>
          </a:p>
        </p:txBody>
      </p:sp>
      <p:sp>
        <p:nvSpPr>
          <p:cNvPr id="25" name="Shape 23"/>
          <p:cNvSpPr/>
          <p:nvPr/>
        </p:nvSpPr>
        <p:spPr>
          <a:xfrm>
            <a:off x="6263640" y="4526280"/>
            <a:ext cx="5577840" cy="1417320"/>
          </a:xfrm>
          <a:prstGeom prst="roundRect">
            <a:avLst>
              <a:gd name="adj" fmla="val 5161"/>
            </a:avLst>
          </a:prstGeom>
          <a:solidFill>
            <a:srgbClr val="FFFFFF"/>
          </a:solidFill>
          <a:ln w="12700">
            <a:solidFill>
              <a:srgbClr val="D8D2C6"/>
            </a:solidFill>
            <a:prstDash val="solid"/>
          </a:ln>
        </p:spPr>
      </p:sp>
      <p:sp>
        <p:nvSpPr>
          <p:cNvPr id="26" name="Text 24"/>
          <p:cNvSpPr/>
          <p:nvPr/>
        </p:nvSpPr>
        <p:spPr>
          <a:xfrm>
            <a:off x="6492240" y="4727448"/>
            <a:ext cx="1005840" cy="365760"/>
          </a:xfrm>
          <a:prstGeom prst="rect">
            <a:avLst/>
          </a:prstGeom>
          <a:noFill/>
          <a:ln/>
        </p:spPr>
        <p:txBody>
          <a:bodyPr wrap="square" lIns="0" tIns="0" rIns="0" bIns="0" rtlCol="0" anchor="ctr"/>
          <a:lstStyle/>
          <a:p>
            <a:pPr indent="0" marL="0">
              <a:buNone/>
            </a:pPr>
            <a:r>
              <a:rPr lang="en-US" sz="2000" dirty="0">
                <a:solidFill>
                  <a:srgbClr val="1D5C68"/>
                </a:solidFill>
                <a:latin typeface="Georgia" pitchFamily="34" charset="0"/>
                <a:ea typeface="Georgia" pitchFamily="34" charset="-122"/>
                <a:cs typeface="Georgia" pitchFamily="34" charset="-120"/>
              </a:rPr>
              <a:t>06</a:t>
            </a:r>
            <a:endParaRPr lang="en-US" sz="2000" dirty="0"/>
          </a:p>
        </p:txBody>
      </p:sp>
      <p:sp>
        <p:nvSpPr>
          <p:cNvPr id="27" name="Text 25"/>
          <p:cNvSpPr/>
          <p:nvPr/>
        </p:nvSpPr>
        <p:spPr>
          <a:xfrm>
            <a:off x="7543800" y="4754880"/>
            <a:ext cx="4023360" cy="347472"/>
          </a:xfrm>
          <a:prstGeom prst="rect">
            <a:avLst/>
          </a:prstGeom>
          <a:noFill/>
          <a:ln/>
        </p:spPr>
        <p:txBody>
          <a:bodyPr wrap="square" lIns="0" tIns="0" rIns="0" bIns="0" rtlCol="0" anchor="ctr"/>
          <a:lstStyle/>
          <a:p>
            <a:pPr indent="0" marL="0">
              <a:buNone/>
            </a:pPr>
            <a:r>
              <a:rPr lang="en-US" sz="1600" b="1" dirty="0">
                <a:solidFill>
                  <a:srgbClr val="0E1A24"/>
                </a:solidFill>
                <a:latin typeface="Calibri" pitchFamily="34" charset="0"/>
                <a:ea typeface="Calibri" pitchFamily="34" charset="-122"/>
                <a:cs typeface="Calibri" pitchFamily="34" charset="-120"/>
              </a:rPr>
              <a:t>Deploy, govern, scale</a:t>
            </a:r>
            <a:endParaRPr lang="en-US" sz="1600" dirty="0"/>
          </a:p>
        </p:txBody>
      </p:sp>
      <p:sp>
        <p:nvSpPr>
          <p:cNvPr id="28" name="Text 26"/>
          <p:cNvSpPr/>
          <p:nvPr/>
        </p:nvSpPr>
        <p:spPr>
          <a:xfrm>
            <a:off x="7543800" y="5184648"/>
            <a:ext cx="4023360" cy="502920"/>
          </a:xfrm>
          <a:prstGeom prst="rect">
            <a:avLst/>
          </a:prstGeom>
          <a:noFill/>
          <a:ln/>
        </p:spPr>
        <p:txBody>
          <a:bodyPr wrap="square" lIns="0" tIns="0" rIns="0" bIns="0" rtlCol="0" anchor="ctr"/>
          <a:lstStyle/>
          <a:p>
            <a:pPr indent="0" marL="0">
              <a:buNone/>
            </a:pPr>
            <a:r>
              <a:rPr lang="en-US" sz="1300" dirty="0">
                <a:solidFill>
                  <a:srgbClr val="5E6E78"/>
                </a:solidFill>
                <a:latin typeface="Calibri" pitchFamily="34" charset="0"/>
                <a:ea typeface="Calibri" pitchFamily="34" charset="-122"/>
                <a:cs typeface="Calibri" pitchFamily="34" charset="-120"/>
              </a:rPr>
              <a:t>Python runtime, Langfuse, HITL, ethics</a:t>
            </a:r>
            <a:endParaRPr lang="en-US" sz="1300" dirty="0"/>
          </a:p>
        </p:txBody>
      </p:sp>
      <p:sp>
        <p:nvSpPr>
          <p:cNvPr id="29" name="Shape 27"/>
          <p:cNvSpPr/>
          <p:nvPr/>
        </p:nvSpPr>
        <p:spPr>
          <a:xfrm>
            <a:off x="0" y="6601968"/>
            <a:ext cx="12188952" cy="256032"/>
          </a:xfrm>
          <a:prstGeom prst="rect">
            <a:avLst/>
          </a:prstGeom>
          <a:solidFill>
            <a:srgbClr val="0E1A24"/>
          </a:solidFill>
          <a:ln/>
        </p:spPr>
      </p:sp>
      <p:sp>
        <p:nvSpPr>
          <p:cNvPr id="30" name="Text 28"/>
          <p:cNvSpPr/>
          <p:nvPr/>
        </p:nvSpPr>
        <p:spPr>
          <a:xfrm>
            <a:off x="365760" y="6620256"/>
            <a:ext cx="7315200" cy="201168"/>
          </a:xfrm>
          <a:prstGeom prst="rect">
            <a:avLst/>
          </a:prstGeom>
          <a:noFill/>
          <a:ln/>
        </p:spPr>
        <p:txBody>
          <a:bodyPr wrap="square" lIns="0" tIns="0" rIns="0" bIns="0" rtlCol="0" anchor="ctr"/>
          <a:lstStyle/>
          <a:p>
            <a:pPr indent="0" marL="0">
              <a:buNone/>
            </a:pPr>
            <a:r>
              <a:rPr lang="en-US" sz="1000" dirty="0">
                <a:solidFill>
                  <a:srgbClr val="C9D4D8"/>
                </a:solidFill>
                <a:latin typeface="Calibri" pitchFamily="34" charset="0"/>
                <a:ea typeface="Calibri" pitchFamily="34" charset="-122"/>
                <a:cs typeface="Calibri" pitchFamily="34" charset="-120"/>
              </a:rPr>
              <a:t>DealFlow Approval Agents  ·  AIPM403F Capstone</a:t>
            </a:r>
            <a:endParaRPr lang="en-US" sz="1000" dirty="0"/>
          </a:p>
        </p:txBody>
      </p:sp>
      <p:sp>
        <p:nvSpPr>
          <p:cNvPr id="31" name="Text 29"/>
          <p:cNvSpPr/>
          <p:nvPr/>
        </p:nvSpPr>
        <p:spPr>
          <a:xfrm>
            <a:off x="10241280" y="6620256"/>
            <a:ext cx="1554480" cy="201168"/>
          </a:xfrm>
          <a:prstGeom prst="rect">
            <a:avLst/>
          </a:prstGeom>
          <a:noFill/>
          <a:ln/>
        </p:spPr>
        <p:txBody>
          <a:bodyPr wrap="square" lIns="0" tIns="0" rIns="0" bIns="0" rtlCol="0" anchor="ctr"/>
          <a:lstStyle/>
          <a:p>
            <a:pPr algn="r" indent="0" marL="0">
              <a:buNone/>
            </a:pPr>
            <a:r>
              <a:rPr lang="en-US" sz="1000" dirty="0">
                <a:solidFill>
                  <a:srgbClr val="C9D4D8"/>
                </a:solidFill>
                <a:latin typeface="Calibri" pitchFamily="34" charset="0"/>
                <a:ea typeface="Calibri" pitchFamily="34" charset="-122"/>
                <a:cs typeface="Calibri" pitchFamily="34" charset="-120"/>
              </a:rPr>
              <a:t>02 / 18</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7F4EE"/>
          </a:solidFill>
          <a:ln/>
        </p:spPr>
      </p:sp>
      <p:sp>
        <p:nvSpPr>
          <p:cNvPr id="3" name="Text 1"/>
          <p:cNvSpPr/>
          <p:nvPr/>
        </p:nvSpPr>
        <p:spPr>
          <a:xfrm>
            <a:off x="411480" y="201168"/>
            <a:ext cx="11338560" cy="219456"/>
          </a:xfrm>
          <a:prstGeom prst="rect">
            <a:avLst/>
          </a:prstGeom>
          <a:noFill/>
          <a:ln/>
        </p:spPr>
        <p:txBody>
          <a:bodyPr wrap="square" lIns="0" tIns="0" rIns="0" bIns="0" rtlCol="0" anchor="ctr"/>
          <a:lstStyle/>
          <a:p>
            <a:pPr indent="0" marL="0">
              <a:buNone/>
            </a:pPr>
            <a:r>
              <a:rPr lang="en-US" sz="1100" b="1" spc="160" kern="0" dirty="0">
                <a:solidFill>
                  <a:srgbClr val="1D5C68"/>
                </a:solidFill>
                <a:latin typeface="Calibri" pitchFamily="34" charset="0"/>
                <a:ea typeface="Calibri" pitchFamily="34" charset="-122"/>
                <a:cs typeface="Calibri" pitchFamily="34" charset="-120"/>
              </a:rPr>
              <a:t>PRODUCT IDEA  ·  THE AGENTIC OPPORTUNITY</a:t>
            </a:r>
            <a:endParaRPr lang="en-US" sz="1100" dirty="0"/>
          </a:p>
        </p:txBody>
      </p:sp>
      <p:sp>
        <p:nvSpPr>
          <p:cNvPr id="4" name="Text 2"/>
          <p:cNvSpPr/>
          <p:nvPr/>
        </p:nvSpPr>
        <p:spPr>
          <a:xfrm>
            <a:off x="411480" y="457200"/>
            <a:ext cx="11338560" cy="438912"/>
          </a:xfrm>
          <a:prstGeom prst="rect">
            <a:avLst/>
          </a:prstGeom>
          <a:noFill/>
          <a:ln/>
        </p:spPr>
        <p:txBody>
          <a:bodyPr wrap="square" lIns="0" tIns="0" rIns="0" bIns="0" rtlCol="0" anchor="ctr"/>
          <a:lstStyle/>
          <a:p>
            <a:pPr indent="0" marL="0">
              <a:buNone/>
            </a:pPr>
            <a:r>
              <a:rPr lang="en-US" sz="2600" dirty="0">
                <a:solidFill>
                  <a:srgbClr val="0E1A24"/>
                </a:solidFill>
                <a:latin typeface="Georgia" pitchFamily="34" charset="0"/>
                <a:ea typeface="Georgia" pitchFamily="34" charset="-122"/>
                <a:cs typeface="Georgia" pitchFamily="34" charset="-120"/>
              </a:rPr>
              <a:t>Approval is a hop. Today it is a queue.</a:t>
            </a:r>
            <a:endParaRPr lang="en-US" sz="2600" dirty="0"/>
          </a:p>
        </p:txBody>
      </p:sp>
      <p:sp>
        <p:nvSpPr>
          <p:cNvPr id="5" name="Text 3"/>
          <p:cNvSpPr/>
          <p:nvPr/>
        </p:nvSpPr>
        <p:spPr>
          <a:xfrm>
            <a:off x="411480" y="1143000"/>
            <a:ext cx="11338560" cy="777240"/>
          </a:xfrm>
          <a:prstGeom prst="rect">
            <a:avLst/>
          </a:prstGeom>
          <a:noFill/>
          <a:ln/>
        </p:spPr>
        <p:txBody>
          <a:bodyPr wrap="square" lIns="0" tIns="0" rIns="0" bIns="0" rtlCol="0" anchor="ctr"/>
          <a:lstStyle/>
          <a:p>
            <a:pPr indent="0" marL="0">
              <a:buNone/>
            </a:pPr>
            <a:r>
              <a:rPr lang="en-US" sz="1500" dirty="0">
                <a:solidFill>
                  <a:srgbClr val="0E1A24"/>
                </a:solidFill>
                <a:latin typeface="Calibri" pitchFamily="34" charset="0"/>
                <a:ea typeface="Calibri" pitchFamily="34" charset="-122"/>
                <a:cs typeface="Calibri" pitchFamily="34" charset="-120"/>
              </a:rPr>
              <a:t>A seller submits a quote. Someone on Deal Desk opens the discount book, the cash book, last year’s terms, and the open invoices. They write Approve, Escalate, or Reject. That work is slow, uneven at quarter-end, and easy to game with a note in the quote.</a:t>
            </a:r>
            <a:endParaRPr lang="en-US" sz="1500" dirty="0"/>
          </a:p>
        </p:txBody>
      </p:sp>
      <p:sp>
        <p:nvSpPr>
          <p:cNvPr id="6" name="Shape 4"/>
          <p:cNvSpPr/>
          <p:nvPr/>
        </p:nvSpPr>
        <p:spPr>
          <a:xfrm>
            <a:off x="411480" y="2103120"/>
            <a:ext cx="3657600" cy="4023360"/>
          </a:xfrm>
          <a:prstGeom prst="roundRect">
            <a:avLst>
              <a:gd name="adj" fmla="val 2000"/>
            </a:avLst>
          </a:prstGeom>
          <a:solidFill>
            <a:srgbClr val="FFFFFF"/>
          </a:solidFill>
          <a:ln w="12700">
            <a:solidFill>
              <a:srgbClr val="D8D2C6"/>
            </a:solidFill>
            <a:prstDash val="solid"/>
          </a:ln>
        </p:spPr>
      </p:sp>
      <p:sp>
        <p:nvSpPr>
          <p:cNvPr id="7" name="Shape 5"/>
          <p:cNvSpPr/>
          <p:nvPr/>
        </p:nvSpPr>
        <p:spPr>
          <a:xfrm>
            <a:off x="411480" y="2103120"/>
            <a:ext cx="3657600" cy="73152"/>
          </a:xfrm>
          <a:prstGeom prst="rect">
            <a:avLst/>
          </a:prstGeom>
          <a:solidFill>
            <a:srgbClr val="1D5C68"/>
          </a:solidFill>
          <a:ln/>
        </p:spPr>
      </p:sp>
      <p:sp>
        <p:nvSpPr>
          <p:cNvPr id="8" name="Text 6"/>
          <p:cNvSpPr/>
          <p:nvPr/>
        </p:nvSpPr>
        <p:spPr>
          <a:xfrm>
            <a:off x="640080" y="2331720"/>
            <a:ext cx="3200400" cy="640080"/>
          </a:xfrm>
          <a:prstGeom prst="rect">
            <a:avLst/>
          </a:prstGeom>
          <a:noFill/>
          <a:ln/>
        </p:spPr>
        <p:txBody>
          <a:bodyPr wrap="square" lIns="0" tIns="0" rIns="0" bIns="0" rtlCol="0" anchor="ctr"/>
          <a:lstStyle/>
          <a:p>
            <a:pPr indent="0" marL="0">
              <a:buNone/>
            </a:pPr>
            <a:r>
              <a:rPr lang="en-US" sz="1800" dirty="0">
                <a:solidFill>
                  <a:srgbClr val="0E1A24"/>
                </a:solidFill>
                <a:latin typeface="Georgia" pitchFamily="34" charset="0"/>
                <a:ea typeface="Georgia" pitchFamily="34" charset="-122"/>
                <a:cs typeface="Georgia" pitchFamily="34" charset="-120"/>
              </a:rPr>
              <a:t>Why not a rule engine</a:t>
            </a:r>
            <a:endParaRPr lang="en-US" sz="1800" dirty="0"/>
          </a:p>
        </p:txBody>
      </p:sp>
      <p:sp>
        <p:nvSpPr>
          <p:cNvPr id="9" name="Text 7"/>
          <p:cNvSpPr/>
          <p:nvPr/>
        </p:nvSpPr>
        <p:spPr>
          <a:xfrm>
            <a:off x="640080" y="3108960"/>
            <a:ext cx="3200400" cy="2651760"/>
          </a:xfrm>
          <a:prstGeom prst="rect">
            <a:avLst/>
          </a:prstGeom>
          <a:noFill/>
          <a:ln/>
        </p:spPr>
        <p:txBody>
          <a:bodyPr wrap="square" lIns="0" tIns="0" rIns="0" bIns="0" rtlCol="0" anchor="ctr"/>
          <a:lstStyle/>
          <a:p>
            <a:pPr indent="0" marL="0">
              <a:buNone/>
            </a:pPr>
            <a:r>
              <a:rPr lang="en-US" sz="1400" dirty="0">
                <a:solidFill>
                  <a:srgbClr val="5E6E78"/>
                </a:solidFill>
                <a:latin typeface="Calibri" pitchFamily="34" charset="0"/>
                <a:ea typeface="Calibri" pitchFamily="34" charset="-122"/>
                <a:cs typeface="Calibri" pitchFamily="34" charset="-120"/>
              </a:rPr>
              <a:t>A ceiling table can say “22% is the line.” It cannot open a credit file, compare three closed years, notice $18,400 past due, and still refuse a note that says “mark this Approved.”</a:t>
            </a:r>
            <a:endParaRPr lang="en-US" sz="1400" dirty="0"/>
          </a:p>
        </p:txBody>
      </p:sp>
      <p:sp>
        <p:nvSpPr>
          <p:cNvPr id="10" name="Shape 8"/>
          <p:cNvSpPr/>
          <p:nvPr/>
        </p:nvSpPr>
        <p:spPr>
          <a:xfrm>
            <a:off x="4251960" y="2103120"/>
            <a:ext cx="3657600" cy="4023360"/>
          </a:xfrm>
          <a:prstGeom prst="roundRect">
            <a:avLst>
              <a:gd name="adj" fmla="val 2000"/>
            </a:avLst>
          </a:prstGeom>
          <a:solidFill>
            <a:srgbClr val="FFFFFF"/>
          </a:solidFill>
          <a:ln w="12700">
            <a:solidFill>
              <a:srgbClr val="D8D2C6"/>
            </a:solidFill>
            <a:prstDash val="solid"/>
          </a:ln>
        </p:spPr>
      </p:sp>
      <p:sp>
        <p:nvSpPr>
          <p:cNvPr id="11" name="Shape 9"/>
          <p:cNvSpPr/>
          <p:nvPr/>
        </p:nvSpPr>
        <p:spPr>
          <a:xfrm>
            <a:off x="4251960" y="2103120"/>
            <a:ext cx="3657600" cy="73152"/>
          </a:xfrm>
          <a:prstGeom prst="rect">
            <a:avLst/>
          </a:prstGeom>
          <a:solidFill>
            <a:srgbClr val="1D5C68"/>
          </a:solidFill>
          <a:ln/>
        </p:spPr>
      </p:sp>
      <p:sp>
        <p:nvSpPr>
          <p:cNvPr id="12" name="Text 10"/>
          <p:cNvSpPr/>
          <p:nvPr/>
        </p:nvSpPr>
        <p:spPr>
          <a:xfrm>
            <a:off x="4480560" y="2331720"/>
            <a:ext cx="3200400" cy="640080"/>
          </a:xfrm>
          <a:prstGeom prst="rect">
            <a:avLst/>
          </a:prstGeom>
          <a:noFill/>
          <a:ln/>
        </p:spPr>
        <p:txBody>
          <a:bodyPr wrap="square" lIns="0" tIns="0" rIns="0" bIns="0" rtlCol="0" anchor="ctr"/>
          <a:lstStyle/>
          <a:p>
            <a:pPr indent="0" marL="0">
              <a:buNone/>
            </a:pPr>
            <a:r>
              <a:rPr lang="en-US" sz="1800" dirty="0">
                <a:solidFill>
                  <a:srgbClr val="0E1A24"/>
                </a:solidFill>
                <a:latin typeface="Georgia" pitchFamily="34" charset="0"/>
                <a:ea typeface="Georgia" pitchFamily="34" charset="-122"/>
                <a:cs typeface="Georgia" pitchFamily="34" charset="-120"/>
              </a:rPr>
              <a:t>Why not generative AI alone</a:t>
            </a:r>
            <a:endParaRPr lang="en-US" sz="1800" dirty="0"/>
          </a:p>
        </p:txBody>
      </p:sp>
      <p:sp>
        <p:nvSpPr>
          <p:cNvPr id="13" name="Text 11"/>
          <p:cNvSpPr/>
          <p:nvPr/>
        </p:nvSpPr>
        <p:spPr>
          <a:xfrm>
            <a:off x="4480560" y="3108960"/>
            <a:ext cx="3200400" cy="2651760"/>
          </a:xfrm>
          <a:prstGeom prst="rect">
            <a:avLst/>
          </a:prstGeom>
          <a:noFill/>
          <a:ln/>
        </p:spPr>
        <p:txBody>
          <a:bodyPr wrap="square" lIns="0" tIns="0" rIns="0" bIns="0" rtlCol="0" anchor="ctr"/>
          <a:lstStyle/>
          <a:p>
            <a:pPr indent="0" marL="0">
              <a:buNone/>
            </a:pPr>
            <a:r>
              <a:rPr lang="en-US" sz="1400" dirty="0">
                <a:solidFill>
                  <a:srgbClr val="5E6E78"/>
                </a:solidFill>
                <a:latin typeface="Calibri" pitchFamily="34" charset="0"/>
                <a:ea typeface="Calibri" pitchFamily="34" charset="-122"/>
                <a:cs typeface="Calibri" pitchFamily="34" charset="-120"/>
              </a:rPr>
              <a:t>A model can write a reason. It cannot be trusted to write the stage. The product needs a goal, tools, a stricter-of-two rule, and a guardrail that a note cannot override.</a:t>
            </a:r>
            <a:endParaRPr lang="en-US" sz="1400" dirty="0"/>
          </a:p>
        </p:txBody>
      </p:sp>
      <p:sp>
        <p:nvSpPr>
          <p:cNvPr id="14" name="Shape 12"/>
          <p:cNvSpPr/>
          <p:nvPr/>
        </p:nvSpPr>
        <p:spPr>
          <a:xfrm>
            <a:off x="8092440" y="2103120"/>
            <a:ext cx="3657600" cy="4023360"/>
          </a:xfrm>
          <a:prstGeom prst="roundRect">
            <a:avLst>
              <a:gd name="adj" fmla="val 2000"/>
            </a:avLst>
          </a:prstGeom>
          <a:solidFill>
            <a:srgbClr val="FFFFFF"/>
          </a:solidFill>
          <a:ln w="12700">
            <a:solidFill>
              <a:srgbClr val="D8D2C6"/>
            </a:solidFill>
            <a:prstDash val="solid"/>
          </a:ln>
        </p:spPr>
      </p:sp>
      <p:sp>
        <p:nvSpPr>
          <p:cNvPr id="15" name="Shape 13"/>
          <p:cNvSpPr/>
          <p:nvPr/>
        </p:nvSpPr>
        <p:spPr>
          <a:xfrm>
            <a:off x="8092440" y="2103120"/>
            <a:ext cx="3657600" cy="73152"/>
          </a:xfrm>
          <a:prstGeom prst="rect">
            <a:avLst/>
          </a:prstGeom>
          <a:solidFill>
            <a:srgbClr val="1D5C68"/>
          </a:solidFill>
          <a:ln/>
        </p:spPr>
      </p:sp>
      <p:sp>
        <p:nvSpPr>
          <p:cNvPr id="16" name="Text 14"/>
          <p:cNvSpPr/>
          <p:nvPr/>
        </p:nvSpPr>
        <p:spPr>
          <a:xfrm>
            <a:off x="8321040" y="2331720"/>
            <a:ext cx="3200400" cy="640080"/>
          </a:xfrm>
          <a:prstGeom prst="rect">
            <a:avLst/>
          </a:prstGeom>
          <a:noFill/>
          <a:ln/>
        </p:spPr>
        <p:txBody>
          <a:bodyPr wrap="square" lIns="0" tIns="0" rIns="0" bIns="0" rtlCol="0" anchor="ctr"/>
          <a:lstStyle/>
          <a:p>
            <a:pPr indent="0" marL="0">
              <a:buNone/>
            </a:pPr>
            <a:r>
              <a:rPr lang="en-US" sz="1800" dirty="0">
                <a:solidFill>
                  <a:srgbClr val="0E1A24"/>
                </a:solidFill>
                <a:latin typeface="Georgia" pitchFamily="34" charset="0"/>
                <a:ea typeface="Georgia" pitchFamily="34" charset="-122"/>
                <a:cs typeface="Georgia" pitchFamily="34" charset="-120"/>
              </a:rPr>
              <a:t>Why an agent crew</a:t>
            </a:r>
            <a:endParaRPr lang="en-US" sz="1800" dirty="0"/>
          </a:p>
        </p:txBody>
      </p:sp>
      <p:sp>
        <p:nvSpPr>
          <p:cNvPr id="17" name="Text 15"/>
          <p:cNvSpPr/>
          <p:nvPr/>
        </p:nvSpPr>
        <p:spPr>
          <a:xfrm>
            <a:off x="8321040" y="3108960"/>
            <a:ext cx="3200400" cy="2651760"/>
          </a:xfrm>
          <a:prstGeom prst="rect">
            <a:avLst/>
          </a:prstGeom>
          <a:noFill/>
          <a:ln/>
        </p:spPr>
        <p:txBody>
          <a:bodyPr wrap="square" lIns="0" tIns="0" rIns="0" bIns="0" rtlCol="0" anchor="ctr"/>
          <a:lstStyle/>
          <a:p>
            <a:pPr indent="0" marL="0">
              <a:buNone/>
            </a:pPr>
            <a:r>
              <a:rPr lang="en-US" sz="1400" dirty="0">
                <a:solidFill>
                  <a:srgbClr val="5E6E78"/>
                </a:solidFill>
                <a:latin typeface="Calibri" pitchFamily="34" charset="0"/>
                <a:ea typeface="Calibri" pitchFamily="34" charset="-122"/>
                <a:cs typeface="Calibri" pitchFamily="34" charset="-120"/>
              </a:rPr>
              <a:t>Three specialists share one goal: one label, cited to a live policy, written back to the CPQ. Autonomy is bounded. The hop is the only thing they own.</a:t>
            </a:r>
            <a:endParaRPr lang="en-US" sz="1400" dirty="0"/>
          </a:p>
        </p:txBody>
      </p:sp>
      <p:sp>
        <p:nvSpPr>
          <p:cNvPr id="18" name="Shape 16"/>
          <p:cNvSpPr/>
          <p:nvPr/>
        </p:nvSpPr>
        <p:spPr>
          <a:xfrm>
            <a:off x="0" y="6601968"/>
            <a:ext cx="12188952" cy="256032"/>
          </a:xfrm>
          <a:prstGeom prst="rect">
            <a:avLst/>
          </a:prstGeom>
          <a:solidFill>
            <a:srgbClr val="0E1A24"/>
          </a:solidFill>
          <a:ln/>
        </p:spPr>
      </p:sp>
      <p:sp>
        <p:nvSpPr>
          <p:cNvPr id="19" name="Text 17"/>
          <p:cNvSpPr/>
          <p:nvPr/>
        </p:nvSpPr>
        <p:spPr>
          <a:xfrm>
            <a:off x="365760" y="6620256"/>
            <a:ext cx="7315200" cy="201168"/>
          </a:xfrm>
          <a:prstGeom prst="rect">
            <a:avLst/>
          </a:prstGeom>
          <a:noFill/>
          <a:ln/>
        </p:spPr>
        <p:txBody>
          <a:bodyPr wrap="square" lIns="0" tIns="0" rIns="0" bIns="0" rtlCol="0" anchor="ctr"/>
          <a:lstStyle/>
          <a:p>
            <a:pPr indent="0" marL="0">
              <a:buNone/>
            </a:pPr>
            <a:r>
              <a:rPr lang="en-US" sz="1000" dirty="0">
                <a:solidFill>
                  <a:srgbClr val="C9D4D8"/>
                </a:solidFill>
                <a:latin typeface="Calibri" pitchFamily="34" charset="0"/>
                <a:ea typeface="Calibri" pitchFamily="34" charset="-122"/>
                <a:cs typeface="Calibri" pitchFamily="34" charset="-120"/>
              </a:rPr>
              <a:t>DealFlow Approval Agents  ·  AIPM403F Capstone</a:t>
            </a:r>
            <a:endParaRPr lang="en-US" sz="1000" dirty="0"/>
          </a:p>
        </p:txBody>
      </p:sp>
      <p:sp>
        <p:nvSpPr>
          <p:cNvPr id="20" name="Text 18"/>
          <p:cNvSpPr/>
          <p:nvPr/>
        </p:nvSpPr>
        <p:spPr>
          <a:xfrm>
            <a:off x="10241280" y="6620256"/>
            <a:ext cx="1554480" cy="201168"/>
          </a:xfrm>
          <a:prstGeom prst="rect">
            <a:avLst/>
          </a:prstGeom>
          <a:noFill/>
          <a:ln/>
        </p:spPr>
        <p:txBody>
          <a:bodyPr wrap="square" lIns="0" tIns="0" rIns="0" bIns="0" rtlCol="0" anchor="ctr"/>
          <a:lstStyle/>
          <a:p>
            <a:pPr algn="r" indent="0" marL="0">
              <a:buNone/>
            </a:pPr>
            <a:r>
              <a:rPr lang="en-US" sz="1000" dirty="0">
                <a:solidFill>
                  <a:srgbClr val="C9D4D8"/>
                </a:solidFill>
                <a:latin typeface="Calibri" pitchFamily="34" charset="0"/>
                <a:ea typeface="Calibri" pitchFamily="34" charset="-122"/>
                <a:cs typeface="Calibri" pitchFamily="34" charset="-120"/>
              </a:rPr>
              <a:t>03 / 18</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7F4EE"/>
          </a:solidFill>
          <a:ln/>
        </p:spPr>
      </p:sp>
      <p:sp>
        <p:nvSpPr>
          <p:cNvPr id="3" name="Text 1"/>
          <p:cNvSpPr/>
          <p:nvPr/>
        </p:nvSpPr>
        <p:spPr>
          <a:xfrm>
            <a:off x="411480" y="201168"/>
            <a:ext cx="11338560" cy="219456"/>
          </a:xfrm>
          <a:prstGeom prst="rect">
            <a:avLst/>
          </a:prstGeom>
          <a:noFill/>
          <a:ln/>
        </p:spPr>
        <p:txBody>
          <a:bodyPr wrap="square" lIns="0" tIns="0" rIns="0" bIns="0" rtlCol="0" anchor="ctr"/>
          <a:lstStyle/>
          <a:p>
            <a:pPr indent="0" marL="0">
              <a:buNone/>
            </a:pPr>
            <a:r>
              <a:rPr lang="en-US" sz="1100" b="1" spc="160" kern="0" dirty="0">
                <a:solidFill>
                  <a:srgbClr val="1D5C68"/>
                </a:solidFill>
                <a:latin typeface="Calibri" pitchFamily="34" charset="0"/>
                <a:ea typeface="Calibri" pitchFamily="34" charset="-122"/>
                <a:cs typeface="Calibri" pitchFamily="34" charset="-120"/>
              </a:rPr>
              <a:t>THE PRODUCT</a:t>
            </a:r>
            <a:endParaRPr lang="en-US" sz="1100" dirty="0"/>
          </a:p>
        </p:txBody>
      </p:sp>
      <p:sp>
        <p:nvSpPr>
          <p:cNvPr id="4" name="Text 2"/>
          <p:cNvSpPr/>
          <p:nvPr/>
        </p:nvSpPr>
        <p:spPr>
          <a:xfrm>
            <a:off x="411480" y="457200"/>
            <a:ext cx="11338560" cy="438912"/>
          </a:xfrm>
          <a:prstGeom prst="rect">
            <a:avLst/>
          </a:prstGeom>
          <a:noFill/>
          <a:ln/>
        </p:spPr>
        <p:txBody>
          <a:bodyPr wrap="square" lIns="0" tIns="0" rIns="0" bIns="0" rtlCol="0" anchor="ctr"/>
          <a:lstStyle/>
          <a:p>
            <a:pPr indent="0" marL="0">
              <a:buNone/>
            </a:pPr>
            <a:r>
              <a:rPr lang="en-US" sz="2600" dirty="0">
                <a:solidFill>
                  <a:srgbClr val="0E1A24"/>
                </a:solidFill>
                <a:latin typeface="Georgia" pitchFamily="34" charset="0"/>
                <a:ea typeface="Georgia" pitchFamily="34" charset="-122"/>
                <a:cs typeface="Georgia" pitchFamily="34" charset="-120"/>
              </a:rPr>
              <a:t>DealFlow owns one stage transition</a:t>
            </a:r>
            <a:endParaRPr lang="en-US" sz="2600" dirty="0"/>
          </a:p>
        </p:txBody>
      </p:sp>
      <p:sp>
        <p:nvSpPr>
          <p:cNvPr id="5" name="Shape 3"/>
          <p:cNvSpPr/>
          <p:nvPr/>
        </p:nvSpPr>
        <p:spPr>
          <a:xfrm>
            <a:off x="411480" y="1280160"/>
            <a:ext cx="1737360" cy="640080"/>
          </a:xfrm>
          <a:prstGeom prst="roundRect">
            <a:avLst>
              <a:gd name="adj" fmla="val 8571"/>
            </a:avLst>
          </a:prstGeom>
          <a:solidFill>
            <a:srgbClr val="FFFFFF"/>
          </a:solidFill>
          <a:ln w="12700">
            <a:solidFill>
              <a:srgbClr val="D8D2C6"/>
            </a:solidFill>
            <a:prstDash val="solid"/>
          </a:ln>
        </p:spPr>
      </p:sp>
      <p:sp>
        <p:nvSpPr>
          <p:cNvPr id="6" name="Text 4"/>
          <p:cNvSpPr/>
          <p:nvPr/>
        </p:nvSpPr>
        <p:spPr>
          <a:xfrm>
            <a:off x="411480" y="1389888"/>
            <a:ext cx="1737360" cy="411480"/>
          </a:xfrm>
          <a:prstGeom prst="rect">
            <a:avLst/>
          </a:prstGeom>
          <a:noFill/>
          <a:ln/>
        </p:spPr>
        <p:txBody>
          <a:bodyPr wrap="square" lIns="0" tIns="0" rIns="0" bIns="0" rtlCol="0" anchor="ctr"/>
          <a:lstStyle/>
          <a:p>
            <a:pPr algn="ctr" indent="0" marL="0">
              <a:buNone/>
            </a:pPr>
            <a:r>
              <a:rPr lang="en-US" sz="1300" b="1" dirty="0">
                <a:solidFill>
                  <a:srgbClr val="0E1A24"/>
                </a:solidFill>
                <a:latin typeface="Calibri" pitchFamily="34" charset="0"/>
                <a:ea typeface="Calibri" pitchFamily="34" charset="-122"/>
                <a:cs typeface="Calibri" pitchFamily="34" charset="-120"/>
              </a:rPr>
              <a:t>Draft</a:t>
            </a:r>
            <a:endParaRPr lang="en-US" sz="1300" dirty="0"/>
          </a:p>
        </p:txBody>
      </p:sp>
      <p:sp>
        <p:nvSpPr>
          <p:cNvPr id="7" name="Text 5"/>
          <p:cNvSpPr/>
          <p:nvPr/>
        </p:nvSpPr>
        <p:spPr>
          <a:xfrm>
            <a:off x="2103120" y="1371600"/>
            <a:ext cx="274320" cy="411480"/>
          </a:xfrm>
          <a:prstGeom prst="rect">
            <a:avLst/>
          </a:prstGeom>
          <a:noFill/>
          <a:ln/>
        </p:spPr>
        <p:txBody>
          <a:bodyPr wrap="square" lIns="0" tIns="0" rIns="0" bIns="0" rtlCol="0" anchor="ctr"/>
          <a:lstStyle/>
          <a:p>
            <a:pPr indent="0" marL="0">
              <a:buNone/>
            </a:pPr>
            <a:r>
              <a:rPr lang="en-US" sz="1600" dirty="0">
                <a:solidFill>
                  <a:srgbClr val="5E6E78"/>
                </a:solidFill>
                <a:latin typeface="Calibri" pitchFamily="34" charset="0"/>
                <a:ea typeface="Calibri" pitchFamily="34" charset="-122"/>
                <a:cs typeface="Calibri" pitchFamily="34" charset="-120"/>
              </a:rPr>
              <a:t>›</a:t>
            </a:r>
            <a:endParaRPr lang="en-US" sz="1600" dirty="0"/>
          </a:p>
        </p:txBody>
      </p:sp>
      <p:sp>
        <p:nvSpPr>
          <p:cNvPr id="8" name="Shape 6"/>
          <p:cNvSpPr/>
          <p:nvPr/>
        </p:nvSpPr>
        <p:spPr>
          <a:xfrm>
            <a:off x="2331720" y="1280160"/>
            <a:ext cx="1737360" cy="640080"/>
          </a:xfrm>
          <a:prstGeom prst="roundRect">
            <a:avLst>
              <a:gd name="adj" fmla="val 8571"/>
            </a:avLst>
          </a:prstGeom>
          <a:solidFill>
            <a:srgbClr val="1D5C68"/>
          </a:solidFill>
          <a:ln w="12700">
            <a:solidFill>
              <a:srgbClr val="1D5C68"/>
            </a:solidFill>
            <a:prstDash val="solid"/>
          </a:ln>
        </p:spPr>
      </p:sp>
      <p:sp>
        <p:nvSpPr>
          <p:cNvPr id="9" name="Text 7"/>
          <p:cNvSpPr/>
          <p:nvPr/>
        </p:nvSpPr>
        <p:spPr>
          <a:xfrm>
            <a:off x="2331720" y="1389888"/>
            <a:ext cx="1737360" cy="411480"/>
          </a:xfrm>
          <a:prstGeom prst="rect">
            <a:avLst/>
          </a:prstGeom>
          <a:noFill/>
          <a:ln/>
        </p:spPr>
        <p:txBody>
          <a:bodyPr wrap="square" lIns="0" tIns="0" rIns="0" bIns="0" rtlCol="0" anchor="ctr"/>
          <a:lstStyle/>
          <a:p>
            <a:pPr algn="ctr" indent="0" marL="0">
              <a:buNone/>
            </a:pPr>
            <a:r>
              <a:rPr lang="en-US" sz="1300" b="1" dirty="0">
                <a:solidFill>
                  <a:srgbClr val="F7F4EE"/>
                </a:solidFill>
                <a:latin typeface="Calibri" pitchFamily="34" charset="0"/>
                <a:ea typeface="Calibri" pitchFamily="34" charset="-122"/>
                <a:cs typeface="Calibri" pitchFamily="34" charset="-120"/>
              </a:rPr>
              <a:t>Submit</a:t>
            </a:r>
            <a:endParaRPr lang="en-US" sz="1300" dirty="0"/>
          </a:p>
        </p:txBody>
      </p:sp>
      <p:sp>
        <p:nvSpPr>
          <p:cNvPr id="10" name="Text 8"/>
          <p:cNvSpPr/>
          <p:nvPr/>
        </p:nvSpPr>
        <p:spPr>
          <a:xfrm>
            <a:off x="4023360" y="1371600"/>
            <a:ext cx="274320" cy="411480"/>
          </a:xfrm>
          <a:prstGeom prst="rect">
            <a:avLst/>
          </a:prstGeom>
          <a:noFill/>
          <a:ln/>
        </p:spPr>
        <p:txBody>
          <a:bodyPr wrap="square" lIns="0" tIns="0" rIns="0" bIns="0" rtlCol="0" anchor="ctr"/>
          <a:lstStyle/>
          <a:p>
            <a:pPr indent="0" marL="0">
              <a:buNone/>
            </a:pPr>
            <a:r>
              <a:rPr lang="en-US" sz="1600" dirty="0">
                <a:solidFill>
                  <a:srgbClr val="5E6E78"/>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4251960" y="1280160"/>
            <a:ext cx="1737360" cy="640080"/>
          </a:xfrm>
          <a:prstGeom prst="roundRect">
            <a:avLst>
              <a:gd name="adj" fmla="val 8571"/>
            </a:avLst>
          </a:prstGeom>
          <a:solidFill>
            <a:srgbClr val="1D5C68"/>
          </a:solidFill>
          <a:ln w="12700">
            <a:solidFill>
              <a:srgbClr val="1D5C68"/>
            </a:solidFill>
            <a:prstDash val="solid"/>
          </a:ln>
        </p:spPr>
      </p:sp>
      <p:sp>
        <p:nvSpPr>
          <p:cNvPr id="12" name="Text 10"/>
          <p:cNvSpPr/>
          <p:nvPr/>
        </p:nvSpPr>
        <p:spPr>
          <a:xfrm>
            <a:off x="4251960" y="1389888"/>
            <a:ext cx="1737360" cy="411480"/>
          </a:xfrm>
          <a:prstGeom prst="rect">
            <a:avLst/>
          </a:prstGeom>
          <a:noFill/>
          <a:ln/>
        </p:spPr>
        <p:txBody>
          <a:bodyPr wrap="square" lIns="0" tIns="0" rIns="0" bIns="0" rtlCol="0" anchor="ctr"/>
          <a:lstStyle/>
          <a:p>
            <a:pPr algn="ctr" indent="0" marL="0">
              <a:buNone/>
            </a:pPr>
            <a:r>
              <a:rPr lang="en-US" sz="1300" b="1" dirty="0">
                <a:solidFill>
                  <a:srgbClr val="F7F4EE"/>
                </a:solidFill>
                <a:latin typeface="Calibri" pitchFamily="34" charset="0"/>
                <a:ea typeface="Calibri" pitchFamily="34" charset="-122"/>
                <a:cs typeface="Calibri" pitchFamily="34" charset="-120"/>
              </a:rPr>
              <a:t>Approved</a:t>
            </a:r>
            <a:endParaRPr lang="en-US" sz="1300" dirty="0"/>
          </a:p>
        </p:txBody>
      </p:sp>
      <p:sp>
        <p:nvSpPr>
          <p:cNvPr id="13" name="Text 11"/>
          <p:cNvSpPr/>
          <p:nvPr/>
        </p:nvSpPr>
        <p:spPr>
          <a:xfrm>
            <a:off x="5943600" y="1371600"/>
            <a:ext cx="274320" cy="411480"/>
          </a:xfrm>
          <a:prstGeom prst="rect">
            <a:avLst/>
          </a:prstGeom>
          <a:noFill/>
          <a:ln/>
        </p:spPr>
        <p:txBody>
          <a:bodyPr wrap="square" lIns="0" tIns="0" rIns="0" bIns="0" rtlCol="0" anchor="ctr"/>
          <a:lstStyle/>
          <a:p>
            <a:pPr indent="0" marL="0">
              <a:buNone/>
            </a:pPr>
            <a:r>
              <a:rPr lang="en-US" sz="1600" dirty="0">
                <a:solidFill>
                  <a:srgbClr val="5E6E78"/>
                </a:solidFill>
                <a:latin typeface="Calibri" pitchFamily="34" charset="0"/>
                <a:ea typeface="Calibri" pitchFamily="34" charset="-122"/>
                <a:cs typeface="Calibri" pitchFamily="34" charset="-120"/>
              </a:rPr>
              <a:t>›</a:t>
            </a:r>
            <a:endParaRPr lang="en-US" sz="1600" dirty="0"/>
          </a:p>
        </p:txBody>
      </p:sp>
      <p:sp>
        <p:nvSpPr>
          <p:cNvPr id="14" name="Shape 12"/>
          <p:cNvSpPr/>
          <p:nvPr/>
        </p:nvSpPr>
        <p:spPr>
          <a:xfrm>
            <a:off x="6172200" y="1280160"/>
            <a:ext cx="1737360" cy="640080"/>
          </a:xfrm>
          <a:prstGeom prst="roundRect">
            <a:avLst>
              <a:gd name="adj" fmla="val 8571"/>
            </a:avLst>
          </a:prstGeom>
          <a:solidFill>
            <a:srgbClr val="FFFFFF"/>
          </a:solidFill>
          <a:ln w="12700">
            <a:solidFill>
              <a:srgbClr val="D8D2C6"/>
            </a:solidFill>
            <a:prstDash val="solid"/>
          </a:ln>
        </p:spPr>
      </p:sp>
      <p:sp>
        <p:nvSpPr>
          <p:cNvPr id="15" name="Text 13"/>
          <p:cNvSpPr/>
          <p:nvPr/>
        </p:nvSpPr>
        <p:spPr>
          <a:xfrm>
            <a:off x="6172200" y="1389888"/>
            <a:ext cx="1737360" cy="411480"/>
          </a:xfrm>
          <a:prstGeom prst="rect">
            <a:avLst/>
          </a:prstGeom>
          <a:noFill/>
          <a:ln/>
        </p:spPr>
        <p:txBody>
          <a:bodyPr wrap="square" lIns="0" tIns="0" rIns="0" bIns="0" rtlCol="0" anchor="ctr"/>
          <a:lstStyle/>
          <a:p>
            <a:pPr algn="ctr" indent="0" marL="0">
              <a:buNone/>
            </a:pPr>
            <a:r>
              <a:rPr lang="en-US" sz="1300" b="1" dirty="0">
                <a:solidFill>
                  <a:srgbClr val="0E1A24"/>
                </a:solidFill>
                <a:latin typeface="Calibri" pitchFamily="34" charset="0"/>
                <a:ea typeface="Calibri" pitchFamily="34" charset="-122"/>
                <a:cs typeface="Calibri" pitchFamily="34" charset="-120"/>
              </a:rPr>
              <a:t>Sent</a:t>
            </a:r>
            <a:endParaRPr lang="en-US" sz="1300" dirty="0"/>
          </a:p>
        </p:txBody>
      </p:sp>
      <p:sp>
        <p:nvSpPr>
          <p:cNvPr id="16" name="Text 14"/>
          <p:cNvSpPr/>
          <p:nvPr/>
        </p:nvSpPr>
        <p:spPr>
          <a:xfrm>
            <a:off x="7863840" y="1371600"/>
            <a:ext cx="274320" cy="411480"/>
          </a:xfrm>
          <a:prstGeom prst="rect">
            <a:avLst/>
          </a:prstGeom>
          <a:noFill/>
          <a:ln/>
        </p:spPr>
        <p:txBody>
          <a:bodyPr wrap="square" lIns="0" tIns="0" rIns="0" bIns="0" rtlCol="0" anchor="ctr"/>
          <a:lstStyle/>
          <a:p>
            <a:pPr indent="0" marL="0">
              <a:buNone/>
            </a:pPr>
            <a:r>
              <a:rPr lang="en-US" sz="1600" dirty="0">
                <a:solidFill>
                  <a:srgbClr val="5E6E78"/>
                </a:solidFill>
                <a:latin typeface="Calibri" pitchFamily="34" charset="0"/>
                <a:ea typeface="Calibri" pitchFamily="34" charset="-122"/>
                <a:cs typeface="Calibri" pitchFamily="34" charset="-120"/>
              </a:rPr>
              <a:t>›</a:t>
            </a:r>
            <a:endParaRPr lang="en-US" sz="1600" dirty="0"/>
          </a:p>
        </p:txBody>
      </p:sp>
      <p:sp>
        <p:nvSpPr>
          <p:cNvPr id="17" name="Shape 15"/>
          <p:cNvSpPr/>
          <p:nvPr/>
        </p:nvSpPr>
        <p:spPr>
          <a:xfrm>
            <a:off x="8092440" y="1280160"/>
            <a:ext cx="1737360" cy="640080"/>
          </a:xfrm>
          <a:prstGeom prst="roundRect">
            <a:avLst>
              <a:gd name="adj" fmla="val 8571"/>
            </a:avLst>
          </a:prstGeom>
          <a:solidFill>
            <a:srgbClr val="FFFFFF"/>
          </a:solidFill>
          <a:ln w="12700">
            <a:solidFill>
              <a:srgbClr val="D8D2C6"/>
            </a:solidFill>
            <a:prstDash val="solid"/>
          </a:ln>
        </p:spPr>
      </p:sp>
      <p:sp>
        <p:nvSpPr>
          <p:cNvPr id="18" name="Text 16"/>
          <p:cNvSpPr/>
          <p:nvPr/>
        </p:nvSpPr>
        <p:spPr>
          <a:xfrm>
            <a:off x="8092440" y="1389888"/>
            <a:ext cx="1737360" cy="411480"/>
          </a:xfrm>
          <a:prstGeom prst="rect">
            <a:avLst/>
          </a:prstGeom>
          <a:noFill/>
          <a:ln/>
        </p:spPr>
        <p:txBody>
          <a:bodyPr wrap="square" lIns="0" tIns="0" rIns="0" bIns="0" rtlCol="0" anchor="ctr"/>
          <a:lstStyle/>
          <a:p>
            <a:pPr algn="ctr" indent="0" marL="0">
              <a:buNone/>
            </a:pPr>
            <a:r>
              <a:rPr lang="en-US" sz="1300" b="1" dirty="0">
                <a:solidFill>
                  <a:srgbClr val="0E1A24"/>
                </a:solidFill>
                <a:latin typeface="Calibri" pitchFamily="34" charset="0"/>
                <a:ea typeface="Calibri" pitchFamily="34" charset="-122"/>
                <a:cs typeface="Calibri" pitchFamily="34" charset="-120"/>
              </a:rPr>
              <a:t>Signed</a:t>
            </a:r>
            <a:endParaRPr lang="en-US" sz="1300" dirty="0"/>
          </a:p>
        </p:txBody>
      </p:sp>
      <p:sp>
        <p:nvSpPr>
          <p:cNvPr id="19" name="Text 17"/>
          <p:cNvSpPr/>
          <p:nvPr/>
        </p:nvSpPr>
        <p:spPr>
          <a:xfrm>
            <a:off x="9784080" y="1371600"/>
            <a:ext cx="274320" cy="411480"/>
          </a:xfrm>
          <a:prstGeom prst="rect">
            <a:avLst/>
          </a:prstGeom>
          <a:noFill/>
          <a:ln/>
        </p:spPr>
        <p:txBody>
          <a:bodyPr wrap="square" lIns="0" tIns="0" rIns="0" bIns="0" rtlCol="0" anchor="ctr"/>
          <a:lstStyle/>
          <a:p>
            <a:pPr indent="0" marL="0">
              <a:buNone/>
            </a:pPr>
            <a:r>
              <a:rPr lang="en-US" sz="1600" dirty="0">
                <a:solidFill>
                  <a:srgbClr val="5E6E78"/>
                </a:solidFill>
                <a:latin typeface="Calibri" pitchFamily="34" charset="0"/>
                <a:ea typeface="Calibri" pitchFamily="34" charset="-122"/>
                <a:cs typeface="Calibri" pitchFamily="34" charset="-120"/>
              </a:rPr>
              <a:t>›</a:t>
            </a:r>
            <a:endParaRPr lang="en-US" sz="1600" dirty="0"/>
          </a:p>
        </p:txBody>
      </p:sp>
      <p:sp>
        <p:nvSpPr>
          <p:cNvPr id="20" name="Shape 18"/>
          <p:cNvSpPr/>
          <p:nvPr/>
        </p:nvSpPr>
        <p:spPr>
          <a:xfrm>
            <a:off x="10012680" y="1280160"/>
            <a:ext cx="1737360" cy="640080"/>
          </a:xfrm>
          <a:prstGeom prst="roundRect">
            <a:avLst>
              <a:gd name="adj" fmla="val 8571"/>
            </a:avLst>
          </a:prstGeom>
          <a:solidFill>
            <a:srgbClr val="FFFFFF"/>
          </a:solidFill>
          <a:ln w="12700">
            <a:solidFill>
              <a:srgbClr val="D8D2C6"/>
            </a:solidFill>
            <a:prstDash val="solid"/>
          </a:ln>
        </p:spPr>
      </p:sp>
      <p:sp>
        <p:nvSpPr>
          <p:cNvPr id="21" name="Text 19"/>
          <p:cNvSpPr/>
          <p:nvPr/>
        </p:nvSpPr>
        <p:spPr>
          <a:xfrm>
            <a:off x="10012680" y="1389888"/>
            <a:ext cx="1737360" cy="411480"/>
          </a:xfrm>
          <a:prstGeom prst="rect">
            <a:avLst/>
          </a:prstGeom>
          <a:noFill/>
          <a:ln/>
        </p:spPr>
        <p:txBody>
          <a:bodyPr wrap="square" lIns="0" tIns="0" rIns="0" bIns="0" rtlCol="0" anchor="ctr"/>
          <a:lstStyle/>
          <a:p>
            <a:pPr algn="ctr" indent="0" marL="0">
              <a:buNone/>
            </a:pPr>
            <a:r>
              <a:rPr lang="en-US" sz="1300" b="1" dirty="0">
                <a:solidFill>
                  <a:srgbClr val="0E1A24"/>
                </a:solidFill>
                <a:latin typeface="Calibri" pitchFamily="34" charset="0"/>
                <a:ea typeface="Calibri" pitchFamily="34" charset="-122"/>
                <a:cs typeface="Calibri" pitchFamily="34" charset="-120"/>
              </a:rPr>
              <a:t>Converted</a:t>
            </a:r>
            <a:endParaRPr lang="en-US" sz="1300" dirty="0"/>
          </a:p>
        </p:txBody>
      </p:sp>
      <p:sp>
        <p:nvSpPr>
          <p:cNvPr id="22" name="Text 20"/>
          <p:cNvSpPr/>
          <p:nvPr/>
        </p:nvSpPr>
        <p:spPr>
          <a:xfrm>
            <a:off x="411480" y="2057400"/>
            <a:ext cx="10972800" cy="320040"/>
          </a:xfrm>
          <a:prstGeom prst="rect">
            <a:avLst/>
          </a:prstGeom>
          <a:noFill/>
          <a:ln/>
        </p:spPr>
        <p:txBody>
          <a:bodyPr wrap="square" lIns="0" tIns="0" rIns="0" bIns="0" rtlCol="0" anchor="ctr"/>
          <a:lstStyle/>
          <a:p>
            <a:pPr indent="0" marL="0">
              <a:buNone/>
            </a:pPr>
            <a:r>
              <a:rPr lang="en-US" sz="1300" dirty="0">
                <a:solidFill>
                  <a:srgbClr val="5E6E78"/>
                </a:solidFill>
                <a:latin typeface="Calibri" pitchFamily="34" charset="0"/>
                <a:ea typeface="Calibri" pitchFamily="34" charset="-122"/>
                <a:cs typeface="Calibri" pitchFamily="34" charset="-120"/>
              </a:rPr>
              <a:t>Agents write only Submit → Approved / Escalated / Rejected. Sent, signed, and converted stay with the seller.</a:t>
            </a:r>
            <a:endParaRPr lang="en-US" sz="1300" dirty="0"/>
          </a:p>
        </p:txBody>
      </p:sp>
      <p:sp>
        <p:nvSpPr>
          <p:cNvPr id="23" name="Shape 21"/>
          <p:cNvSpPr/>
          <p:nvPr/>
        </p:nvSpPr>
        <p:spPr>
          <a:xfrm>
            <a:off x="411480" y="2560320"/>
            <a:ext cx="11338560" cy="1115568"/>
          </a:xfrm>
          <a:prstGeom prst="roundRect">
            <a:avLst>
              <a:gd name="adj" fmla="val 6557"/>
            </a:avLst>
          </a:prstGeom>
          <a:solidFill>
            <a:srgbClr val="FFFFFF"/>
          </a:solidFill>
          <a:ln w="12700">
            <a:solidFill>
              <a:srgbClr val="D8D2C6"/>
            </a:solidFill>
            <a:prstDash val="solid"/>
          </a:ln>
        </p:spPr>
      </p:sp>
      <p:sp>
        <p:nvSpPr>
          <p:cNvPr id="24" name="Text 22"/>
          <p:cNvSpPr/>
          <p:nvPr/>
        </p:nvSpPr>
        <p:spPr>
          <a:xfrm>
            <a:off x="640080" y="2816352"/>
            <a:ext cx="1463040" cy="548640"/>
          </a:xfrm>
          <a:prstGeom prst="rect">
            <a:avLst/>
          </a:prstGeom>
          <a:noFill/>
          <a:ln/>
        </p:spPr>
        <p:txBody>
          <a:bodyPr wrap="square" lIns="0" tIns="0" rIns="0" bIns="0" rtlCol="0" anchor="ctr"/>
          <a:lstStyle/>
          <a:p>
            <a:pPr indent="0" marL="0">
              <a:buNone/>
            </a:pPr>
            <a:r>
              <a:rPr lang="en-US" sz="1800" dirty="0">
                <a:solidFill>
                  <a:srgbClr val="1D5C68"/>
                </a:solidFill>
                <a:latin typeface="Georgia" pitchFamily="34" charset="0"/>
                <a:ea typeface="Georgia" pitchFamily="34" charset="-122"/>
                <a:cs typeface="Georgia" pitchFamily="34" charset="-120"/>
              </a:rPr>
              <a:t>For</a:t>
            </a:r>
            <a:endParaRPr lang="en-US" sz="1800" dirty="0"/>
          </a:p>
        </p:txBody>
      </p:sp>
      <p:sp>
        <p:nvSpPr>
          <p:cNvPr id="25" name="Text 23"/>
          <p:cNvSpPr/>
          <p:nvPr/>
        </p:nvSpPr>
        <p:spPr>
          <a:xfrm>
            <a:off x="2286000" y="2761488"/>
            <a:ext cx="9144000" cy="731520"/>
          </a:xfrm>
          <a:prstGeom prst="rect">
            <a:avLst/>
          </a:prstGeom>
          <a:noFill/>
          <a:ln/>
        </p:spPr>
        <p:txBody>
          <a:bodyPr wrap="square" lIns="0" tIns="0" rIns="0" bIns="0" rtlCol="0" anchor="ctr"/>
          <a:lstStyle/>
          <a:p>
            <a:pPr indent="0" marL="0">
              <a:buNone/>
            </a:pPr>
            <a:r>
              <a:rPr lang="en-US" sz="1400" dirty="0">
                <a:solidFill>
                  <a:srgbClr val="0E1A24"/>
                </a:solidFill>
                <a:latin typeface="Calibri" pitchFamily="34" charset="0"/>
                <a:ea typeface="Calibri" pitchFamily="34" charset="-122"/>
                <a:cs typeface="Calibri" pitchFamily="34" charset="-120"/>
              </a:rPr>
              <a:t>B2B SaaS sellers, Deal Desk, and RevOps. Helio Quote is the demo company. Salesforce CPQ, Revenue Cloud, DealHub, Conga, and Zuora stay the system of record.</a:t>
            </a:r>
            <a:endParaRPr lang="en-US" sz="1400" dirty="0"/>
          </a:p>
        </p:txBody>
      </p:sp>
      <p:sp>
        <p:nvSpPr>
          <p:cNvPr id="26" name="Shape 24"/>
          <p:cNvSpPr/>
          <p:nvPr/>
        </p:nvSpPr>
        <p:spPr>
          <a:xfrm>
            <a:off x="411480" y="3794760"/>
            <a:ext cx="11338560" cy="1115568"/>
          </a:xfrm>
          <a:prstGeom prst="roundRect">
            <a:avLst>
              <a:gd name="adj" fmla="val 6557"/>
            </a:avLst>
          </a:prstGeom>
          <a:solidFill>
            <a:srgbClr val="FFFFFF"/>
          </a:solidFill>
          <a:ln w="12700">
            <a:solidFill>
              <a:srgbClr val="D8D2C6"/>
            </a:solidFill>
            <a:prstDash val="solid"/>
          </a:ln>
        </p:spPr>
      </p:sp>
      <p:sp>
        <p:nvSpPr>
          <p:cNvPr id="27" name="Text 25"/>
          <p:cNvSpPr/>
          <p:nvPr/>
        </p:nvSpPr>
        <p:spPr>
          <a:xfrm>
            <a:off x="640080" y="4050792"/>
            <a:ext cx="1463040" cy="548640"/>
          </a:xfrm>
          <a:prstGeom prst="rect">
            <a:avLst/>
          </a:prstGeom>
          <a:noFill/>
          <a:ln/>
        </p:spPr>
        <p:txBody>
          <a:bodyPr wrap="square" lIns="0" tIns="0" rIns="0" bIns="0" rtlCol="0" anchor="ctr"/>
          <a:lstStyle/>
          <a:p>
            <a:pPr indent="0" marL="0">
              <a:buNone/>
            </a:pPr>
            <a:r>
              <a:rPr lang="en-US" sz="1800" dirty="0">
                <a:solidFill>
                  <a:srgbClr val="1D5C68"/>
                </a:solidFill>
                <a:latin typeface="Georgia" pitchFamily="34" charset="0"/>
                <a:ea typeface="Georgia" pitchFamily="34" charset="-122"/>
                <a:cs typeface="Georgia" pitchFamily="34" charset="-120"/>
              </a:rPr>
              <a:t>Does</a:t>
            </a:r>
            <a:endParaRPr lang="en-US" sz="1800" dirty="0"/>
          </a:p>
        </p:txBody>
      </p:sp>
      <p:sp>
        <p:nvSpPr>
          <p:cNvPr id="28" name="Text 26"/>
          <p:cNvSpPr/>
          <p:nvPr/>
        </p:nvSpPr>
        <p:spPr>
          <a:xfrm>
            <a:off x="2286000" y="3995928"/>
            <a:ext cx="9144000" cy="731520"/>
          </a:xfrm>
          <a:prstGeom prst="rect">
            <a:avLst/>
          </a:prstGeom>
          <a:noFill/>
          <a:ln/>
        </p:spPr>
        <p:txBody>
          <a:bodyPr wrap="square" lIns="0" tIns="0" rIns="0" bIns="0" rtlCol="0" anchor="ctr"/>
          <a:lstStyle/>
          <a:p>
            <a:pPr indent="0" marL="0">
              <a:buNone/>
            </a:pPr>
            <a:r>
              <a:rPr lang="en-US" sz="1400" dirty="0">
                <a:solidFill>
                  <a:srgbClr val="0E1A24"/>
                </a:solidFill>
                <a:latin typeface="Calibri" pitchFamily="34" charset="0"/>
                <a:ea typeface="Calibri" pitchFamily="34" charset="-122"/>
                <a:cs typeface="Calibri" pitchFamily="34" charset="-120"/>
              </a:rPr>
              <a:t>Reads the live discount book and cash book, the account file (closed discounts, credit, dues, multi-year terms), and writes one cited label with a confidence score.</a:t>
            </a:r>
            <a:endParaRPr lang="en-US" sz="1400" dirty="0"/>
          </a:p>
        </p:txBody>
      </p:sp>
      <p:sp>
        <p:nvSpPr>
          <p:cNvPr id="29" name="Shape 27"/>
          <p:cNvSpPr/>
          <p:nvPr/>
        </p:nvSpPr>
        <p:spPr>
          <a:xfrm>
            <a:off x="411480" y="5029200"/>
            <a:ext cx="11338560" cy="1115568"/>
          </a:xfrm>
          <a:prstGeom prst="roundRect">
            <a:avLst>
              <a:gd name="adj" fmla="val 6557"/>
            </a:avLst>
          </a:prstGeom>
          <a:solidFill>
            <a:srgbClr val="FFFFFF"/>
          </a:solidFill>
          <a:ln w="12700">
            <a:solidFill>
              <a:srgbClr val="D8D2C6"/>
            </a:solidFill>
            <a:prstDash val="solid"/>
          </a:ln>
        </p:spPr>
      </p:sp>
      <p:sp>
        <p:nvSpPr>
          <p:cNvPr id="30" name="Text 28"/>
          <p:cNvSpPr/>
          <p:nvPr/>
        </p:nvSpPr>
        <p:spPr>
          <a:xfrm>
            <a:off x="640080" y="5285232"/>
            <a:ext cx="1463040" cy="548640"/>
          </a:xfrm>
          <a:prstGeom prst="rect">
            <a:avLst/>
          </a:prstGeom>
          <a:noFill/>
          <a:ln/>
        </p:spPr>
        <p:txBody>
          <a:bodyPr wrap="square" lIns="0" tIns="0" rIns="0" bIns="0" rtlCol="0" anchor="ctr"/>
          <a:lstStyle/>
          <a:p>
            <a:pPr indent="0" marL="0">
              <a:buNone/>
            </a:pPr>
            <a:r>
              <a:rPr lang="en-US" sz="1800" dirty="0">
                <a:solidFill>
                  <a:srgbClr val="1D5C68"/>
                </a:solidFill>
                <a:latin typeface="Georgia" pitchFamily="34" charset="0"/>
                <a:ea typeface="Georgia" pitchFamily="34" charset="-122"/>
                <a:cs typeface="Georgia" pitchFamily="34" charset="-120"/>
              </a:rPr>
              <a:t>Does not</a:t>
            </a:r>
            <a:endParaRPr lang="en-US" sz="1800" dirty="0"/>
          </a:p>
        </p:txBody>
      </p:sp>
      <p:sp>
        <p:nvSpPr>
          <p:cNvPr id="31" name="Text 29"/>
          <p:cNvSpPr/>
          <p:nvPr/>
        </p:nvSpPr>
        <p:spPr>
          <a:xfrm>
            <a:off x="2286000" y="5230368"/>
            <a:ext cx="9144000" cy="731520"/>
          </a:xfrm>
          <a:prstGeom prst="rect">
            <a:avLst/>
          </a:prstGeom>
          <a:noFill/>
          <a:ln/>
        </p:spPr>
        <p:txBody>
          <a:bodyPr wrap="square" lIns="0" tIns="0" rIns="0" bIns="0" rtlCol="0" anchor="ctr"/>
          <a:lstStyle/>
          <a:p>
            <a:pPr indent="0" marL="0">
              <a:buNone/>
            </a:pPr>
            <a:r>
              <a:rPr lang="en-US" sz="1400" dirty="0">
                <a:solidFill>
                  <a:srgbClr val="0E1A24"/>
                </a:solidFill>
                <a:latin typeface="Calibri" pitchFamily="34" charset="0"/>
                <a:ea typeface="Calibri" pitchFamily="34" charset="-122"/>
                <a:cs typeface="Calibri" pitchFamily="34" charset="-120"/>
              </a:rPr>
              <a:t>Replace quoting, pricing configuration, or e-sign. Notes are readable by people and are not an instruction the crew will follow.</a:t>
            </a:r>
            <a:endParaRPr lang="en-US" sz="1400" dirty="0"/>
          </a:p>
        </p:txBody>
      </p:sp>
      <p:sp>
        <p:nvSpPr>
          <p:cNvPr id="32" name="Shape 30"/>
          <p:cNvSpPr/>
          <p:nvPr/>
        </p:nvSpPr>
        <p:spPr>
          <a:xfrm>
            <a:off x="0" y="6601968"/>
            <a:ext cx="12188952" cy="256032"/>
          </a:xfrm>
          <a:prstGeom prst="rect">
            <a:avLst/>
          </a:prstGeom>
          <a:solidFill>
            <a:srgbClr val="0E1A24"/>
          </a:solidFill>
          <a:ln/>
        </p:spPr>
      </p:sp>
      <p:sp>
        <p:nvSpPr>
          <p:cNvPr id="33" name="Text 31"/>
          <p:cNvSpPr/>
          <p:nvPr/>
        </p:nvSpPr>
        <p:spPr>
          <a:xfrm>
            <a:off x="365760" y="6620256"/>
            <a:ext cx="7315200" cy="201168"/>
          </a:xfrm>
          <a:prstGeom prst="rect">
            <a:avLst/>
          </a:prstGeom>
          <a:noFill/>
          <a:ln/>
        </p:spPr>
        <p:txBody>
          <a:bodyPr wrap="square" lIns="0" tIns="0" rIns="0" bIns="0" rtlCol="0" anchor="ctr"/>
          <a:lstStyle/>
          <a:p>
            <a:pPr indent="0" marL="0">
              <a:buNone/>
            </a:pPr>
            <a:r>
              <a:rPr lang="en-US" sz="1000" dirty="0">
                <a:solidFill>
                  <a:srgbClr val="C9D4D8"/>
                </a:solidFill>
                <a:latin typeface="Calibri" pitchFamily="34" charset="0"/>
                <a:ea typeface="Calibri" pitchFamily="34" charset="-122"/>
                <a:cs typeface="Calibri" pitchFamily="34" charset="-120"/>
              </a:rPr>
              <a:t>DealFlow Approval Agents  ·  AIPM403F Capstone</a:t>
            </a:r>
            <a:endParaRPr lang="en-US" sz="1000" dirty="0"/>
          </a:p>
        </p:txBody>
      </p:sp>
      <p:sp>
        <p:nvSpPr>
          <p:cNvPr id="34" name="Text 32"/>
          <p:cNvSpPr/>
          <p:nvPr/>
        </p:nvSpPr>
        <p:spPr>
          <a:xfrm>
            <a:off x="10241280" y="6620256"/>
            <a:ext cx="1554480" cy="201168"/>
          </a:xfrm>
          <a:prstGeom prst="rect">
            <a:avLst/>
          </a:prstGeom>
          <a:noFill/>
          <a:ln/>
        </p:spPr>
        <p:txBody>
          <a:bodyPr wrap="square" lIns="0" tIns="0" rIns="0" bIns="0" rtlCol="0" anchor="ctr"/>
          <a:lstStyle/>
          <a:p>
            <a:pPr algn="r" indent="0" marL="0">
              <a:buNone/>
            </a:pPr>
            <a:r>
              <a:rPr lang="en-US" sz="1000" dirty="0">
                <a:solidFill>
                  <a:srgbClr val="C9D4D8"/>
                </a:solidFill>
                <a:latin typeface="Calibri" pitchFamily="34" charset="0"/>
                <a:ea typeface="Calibri" pitchFamily="34" charset="-122"/>
                <a:cs typeface="Calibri" pitchFamily="34" charset="-120"/>
              </a:rPr>
              <a:t>04 / 18</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7F4EE"/>
          </a:solidFill>
          <a:ln/>
        </p:spPr>
      </p:sp>
      <p:sp>
        <p:nvSpPr>
          <p:cNvPr id="3" name="Text 1"/>
          <p:cNvSpPr/>
          <p:nvPr/>
        </p:nvSpPr>
        <p:spPr>
          <a:xfrm>
            <a:off x="411480" y="201168"/>
            <a:ext cx="11338560" cy="219456"/>
          </a:xfrm>
          <a:prstGeom prst="rect">
            <a:avLst/>
          </a:prstGeom>
          <a:noFill/>
          <a:ln/>
        </p:spPr>
        <p:txBody>
          <a:bodyPr wrap="square" lIns="0" tIns="0" rIns="0" bIns="0" rtlCol="0" anchor="ctr"/>
          <a:lstStyle/>
          <a:p>
            <a:pPr indent="0" marL="0">
              <a:buNone/>
            </a:pPr>
            <a:r>
              <a:rPr lang="en-US" sz="1100" b="1" spc="160" kern="0" dirty="0">
                <a:solidFill>
                  <a:srgbClr val="1D5C68"/>
                </a:solidFill>
                <a:latin typeface="Calibri" pitchFamily="34" charset="0"/>
                <a:ea typeface="Calibri" pitchFamily="34" charset="-122"/>
                <a:cs typeface="Calibri" pitchFamily="34" charset="-120"/>
              </a:rPr>
              <a:t>TARGET PERSONA</a:t>
            </a:r>
            <a:endParaRPr lang="en-US" sz="1100" dirty="0"/>
          </a:p>
        </p:txBody>
      </p:sp>
      <p:sp>
        <p:nvSpPr>
          <p:cNvPr id="4" name="Text 2"/>
          <p:cNvSpPr/>
          <p:nvPr/>
        </p:nvSpPr>
        <p:spPr>
          <a:xfrm>
            <a:off x="411480" y="457200"/>
            <a:ext cx="11338560" cy="438912"/>
          </a:xfrm>
          <a:prstGeom prst="rect">
            <a:avLst/>
          </a:prstGeom>
          <a:noFill/>
          <a:ln/>
        </p:spPr>
        <p:txBody>
          <a:bodyPr wrap="square" lIns="0" tIns="0" rIns="0" bIns="0" rtlCol="0" anchor="ctr"/>
          <a:lstStyle/>
          <a:p>
            <a:pPr indent="0" marL="0">
              <a:buNone/>
            </a:pPr>
            <a:r>
              <a:rPr lang="en-US" sz="2600" dirty="0">
                <a:solidFill>
                  <a:srgbClr val="0E1A24"/>
                </a:solidFill>
                <a:latin typeface="Georgia" pitchFamily="34" charset="0"/>
                <a:ea typeface="Georgia" pitchFamily="34" charset="-122"/>
                <a:cs typeface="Georgia" pitchFamily="34" charset="-120"/>
              </a:rPr>
              <a:t>Three people. One hop between them.</a:t>
            </a:r>
            <a:endParaRPr lang="en-US" sz="2600" dirty="0"/>
          </a:p>
        </p:txBody>
      </p:sp>
      <p:sp>
        <p:nvSpPr>
          <p:cNvPr id="5" name="Shape 3"/>
          <p:cNvSpPr/>
          <p:nvPr/>
        </p:nvSpPr>
        <p:spPr>
          <a:xfrm>
            <a:off x="411480" y="1280160"/>
            <a:ext cx="3657600" cy="4846320"/>
          </a:xfrm>
          <a:prstGeom prst="roundRect">
            <a:avLst>
              <a:gd name="adj" fmla="val 2000"/>
            </a:avLst>
          </a:prstGeom>
          <a:solidFill>
            <a:srgbClr val="FFFFFF"/>
          </a:solidFill>
          <a:ln w="12700">
            <a:solidFill>
              <a:srgbClr val="D8D2C6"/>
            </a:solidFill>
            <a:prstDash val="solid"/>
          </a:ln>
        </p:spPr>
      </p:sp>
      <p:sp>
        <p:nvSpPr>
          <p:cNvPr id="6" name="Shape 4"/>
          <p:cNvSpPr/>
          <p:nvPr/>
        </p:nvSpPr>
        <p:spPr>
          <a:xfrm>
            <a:off x="411480" y="1280160"/>
            <a:ext cx="3657600" cy="1051560"/>
          </a:xfrm>
          <a:prstGeom prst="rect">
            <a:avLst/>
          </a:prstGeom>
          <a:solidFill>
            <a:srgbClr val="0E1A24"/>
          </a:solidFill>
          <a:ln/>
        </p:spPr>
      </p:sp>
      <p:sp>
        <p:nvSpPr>
          <p:cNvPr id="7" name="Text 5"/>
          <p:cNvSpPr/>
          <p:nvPr/>
        </p:nvSpPr>
        <p:spPr>
          <a:xfrm>
            <a:off x="612648" y="1371600"/>
            <a:ext cx="3246120" cy="411480"/>
          </a:xfrm>
          <a:prstGeom prst="rect">
            <a:avLst/>
          </a:prstGeom>
          <a:noFill/>
          <a:ln/>
        </p:spPr>
        <p:txBody>
          <a:bodyPr wrap="square" lIns="0" tIns="0" rIns="0" bIns="0" rtlCol="0" anchor="ctr"/>
          <a:lstStyle/>
          <a:p>
            <a:pPr indent="0" marL="0">
              <a:buNone/>
            </a:pPr>
            <a:r>
              <a:rPr lang="en-US" sz="1800" dirty="0">
                <a:solidFill>
                  <a:srgbClr val="F7F4EE"/>
                </a:solidFill>
                <a:latin typeface="Georgia" pitchFamily="34" charset="0"/>
                <a:ea typeface="Georgia" pitchFamily="34" charset="-122"/>
                <a:cs typeface="Georgia" pitchFamily="34" charset="-120"/>
              </a:rPr>
              <a:t>Jordan Lee</a:t>
            </a:r>
            <a:endParaRPr lang="en-US" sz="1800" dirty="0"/>
          </a:p>
        </p:txBody>
      </p:sp>
      <p:sp>
        <p:nvSpPr>
          <p:cNvPr id="8" name="Text 6"/>
          <p:cNvSpPr/>
          <p:nvPr/>
        </p:nvSpPr>
        <p:spPr>
          <a:xfrm>
            <a:off x="612648" y="1810512"/>
            <a:ext cx="3246120" cy="320040"/>
          </a:xfrm>
          <a:prstGeom prst="rect">
            <a:avLst/>
          </a:prstGeom>
          <a:noFill/>
          <a:ln/>
        </p:spPr>
        <p:txBody>
          <a:bodyPr wrap="square" lIns="0" tIns="0" rIns="0" bIns="0" rtlCol="0" anchor="ctr"/>
          <a:lstStyle/>
          <a:p>
            <a:pPr indent="0" marL="0">
              <a:buNone/>
            </a:pPr>
            <a:r>
              <a:rPr lang="en-US" sz="1100" b="1" spc="120" kern="0" dirty="0">
                <a:solidFill>
                  <a:srgbClr val="8FB8C0"/>
                </a:solidFill>
                <a:latin typeface="Calibri" pitchFamily="34" charset="0"/>
                <a:ea typeface="Calibri" pitchFamily="34" charset="-122"/>
                <a:cs typeface="Calibri" pitchFamily="34" charset="-120"/>
              </a:rPr>
              <a:t>SELLER</a:t>
            </a:r>
            <a:endParaRPr lang="en-US" sz="1100" dirty="0"/>
          </a:p>
        </p:txBody>
      </p:sp>
      <p:sp>
        <p:nvSpPr>
          <p:cNvPr id="9" name="Text 7"/>
          <p:cNvSpPr/>
          <p:nvPr/>
        </p:nvSpPr>
        <p:spPr>
          <a:xfrm>
            <a:off x="612648" y="2514600"/>
            <a:ext cx="3246120" cy="1828800"/>
          </a:xfrm>
          <a:prstGeom prst="rect">
            <a:avLst/>
          </a:prstGeom>
          <a:noFill/>
          <a:ln/>
        </p:spPr>
        <p:txBody>
          <a:bodyPr wrap="square" lIns="0" tIns="0" rIns="0" bIns="0" rtlCol="0" anchor="ctr"/>
          <a:lstStyle/>
          <a:p>
            <a:pPr indent="0" marL="0">
              <a:buNone/>
            </a:pPr>
            <a:r>
              <a:rPr lang="en-US" sz="1300" dirty="0">
                <a:solidFill>
                  <a:srgbClr val="0E1A24"/>
                </a:solidFill>
                <a:latin typeface="Calibri" pitchFamily="34" charset="0"/>
                <a:ea typeface="Calibri" pitchFamily="34" charset="-122"/>
                <a:cs typeface="Calibri" pitchFamily="34" charset="-120"/>
              </a:rPr>
              <a:t>Builds the quote in the CPQ. Needs a clean deal approved before the quarter closes, without waiting on a shared inbox.</a:t>
            </a:r>
            <a:endParaRPr lang="en-US" sz="1300" dirty="0"/>
          </a:p>
        </p:txBody>
      </p:sp>
      <p:sp>
        <p:nvSpPr>
          <p:cNvPr id="10" name="Text 8"/>
          <p:cNvSpPr/>
          <p:nvPr/>
        </p:nvSpPr>
        <p:spPr>
          <a:xfrm>
            <a:off x="612648" y="4434840"/>
            <a:ext cx="3246120" cy="1417320"/>
          </a:xfrm>
          <a:prstGeom prst="rect">
            <a:avLst/>
          </a:prstGeom>
          <a:noFill/>
          <a:ln/>
        </p:spPr>
        <p:txBody>
          <a:bodyPr wrap="square" lIns="0" tIns="0" rIns="0" bIns="0" rtlCol="0" anchor="ctr"/>
          <a:lstStyle/>
          <a:p>
            <a:pPr indent="0" marL="0">
              <a:buNone/>
            </a:pPr>
            <a:r>
              <a:rPr lang="en-US" sz="1300" dirty="0">
                <a:solidFill>
                  <a:srgbClr val="5E6E78"/>
                </a:solidFill>
                <a:latin typeface="Calibri" pitchFamily="34" charset="0"/>
                <a:ea typeface="Calibri" pitchFamily="34" charset="-122"/>
                <a:cs typeface="Calibri" pitchFamily="34" charset="-120"/>
              </a:rPr>
              <a:t>Job: get a fair quote to the customer. Pain: “I don’t know if this will clear, and I can’t see why.”</a:t>
            </a:r>
            <a:endParaRPr lang="en-US" sz="1300" dirty="0"/>
          </a:p>
        </p:txBody>
      </p:sp>
      <p:sp>
        <p:nvSpPr>
          <p:cNvPr id="11" name="Shape 9"/>
          <p:cNvSpPr/>
          <p:nvPr/>
        </p:nvSpPr>
        <p:spPr>
          <a:xfrm>
            <a:off x="4251960" y="1280160"/>
            <a:ext cx="3657600" cy="4846320"/>
          </a:xfrm>
          <a:prstGeom prst="roundRect">
            <a:avLst>
              <a:gd name="adj" fmla="val 2000"/>
            </a:avLst>
          </a:prstGeom>
          <a:solidFill>
            <a:srgbClr val="FFFFFF"/>
          </a:solidFill>
          <a:ln w="12700">
            <a:solidFill>
              <a:srgbClr val="D8D2C6"/>
            </a:solidFill>
            <a:prstDash val="solid"/>
          </a:ln>
        </p:spPr>
      </p:sp>
      <p:sp>
        <p:nvSpPr>
          <p:cNvPr id="12" name="Shape 10"/>
          <p:cNvSpPr/>
          <p:nvPr/>
        </p:nvSpPr>
        <p:spPr>
          <a:xfrm>
            <a:off x="4251960" y="1280160"/>
            <a:ext cx="3657600" cy="1051560"/>
          </a:xfrm>
          <a:prstGeom prst="rect">
            <a:avLst/>
          </a:prstGeom>
          <a:solidFill>
            <a:srgbClr val="0E1A24"/>
          </a:solidFill>
          <a:ln/>
        </p:spPr>
      </p:sp>
      <p:sp>
        <p:nvSpPr>
          <p:cNvPr id="13" name="Text 11"/>
          <p:cNvSpPr/>
          <p:nvPr/>
        </p:nvSpPr>
        <p:spPr>
          <a:xfrm>
            <a:off x="4453128" y="1371600"/>
            <a:ext cx="3246120" cy="411480"/>
          </a:xfrm>
          <a:prstGeom prst="rect">
            <a:avLst/>
          </a:prstGeom>
          <a:noFill/>
          <a:ln/>
        </p:spPr>
        <p:txBody>
          <a:bodyPr wrap="square" lIns="0" tIns="0" rIns="0" bIns="0" rtlCol="0" anchor="ctr"/>
          <a:lstStyle/>
          <a:p>
            <a:pPr indent="0" marL="0">
              <a:buNone/>
            </a:pPr>
            <a:r>
              <a:rPr lang="en-US" sz="1800" dirty="0">
                <a:solidFill>
                  <a:srgbClr val="F7F4EE"/>
                </a:solidFill>
                <a:latin typeface="Georgia" pitchFamily="34" charset="0"/>
                <a:ea typeface="Georgia" pitchFamily="34" charset="-122"/>
                <a:cs typeface="Georgia" pitchFamily="34" charset="-120"/>
              </a:rPr>
              <a:t>Alex Okonkwo</a:t>
            </a:r>
            <a:endParaRPr lang="en-US" sz="1800" dirty="0"/>
          </a:p>
        </p:txBody>
      </p:sp>
      <p:sp>
        <p:nvSpPr>
          <p:cNvPr id="14" name="Text 12"/>
          <p:cNvSpPr/>
          <p:nvPr/>
        </p:nvSpPr>
        <p:spPr>
          <a:xfrm>
            <a:off x="4453128" y="1810512"/>
            <a:ext cx="3246120" cy="320040"/>
          </a:xfrm>
          <a:prstGeom prst="rect">
            <a:avLst/>
          </a:prstGeom>
          <a:noFill/>
          <a:ln/>
        </p:spPr>
        <p:txBody>
          <a:bodyPr wrap="square" lIns="0" tIns="0" rIns="0" bIns="0" rtlCol="0" anchor="ctr"/>
          <a:lstStyle/>
          <a:p>
            <a:pPr indent="0" marL="0">
              <a:buNone/>
            </a:pPr>
            <a:r>
              <a:rPr lang="en-US" sz="1100" b="1" spc="120" kern="0" dirty="0">
                <a:solidFill>
                  <a:srgbClr val="8FB8C0"/>
                </a:solidFill>
                <a:latin typeface="Calibri" pitchFamily="34" charset="0"/>
                <a:ea typeface="Calibri" pitchFamily="34" charset="-122"/>
                <a:cs typeface="Calibri" pitchFamily="34" charset="-120"/>
              </a:rPr>
              <a:t>DEAL DESK</a:t>
            </a:r>
            <a:endParaRPr lang="en-US" sz="1100" dirty="0"/>
          </a:p>
        </p:txBody>
      </p:sp>
      <p:sp>
        <p:nvSpPr>
          <p:cNvPr id="15" name="Text 13"/>
          <p:cNvSpPr/>
          <p:nvPr/>
        </p:nvSpPr>
        <p:spPr>
          <a:xfrm>
            <a:off x="4453128" y="2514600"/>
            <a:ext cx="3246120" cy="1828800"/>
          </a:xfrm>
          <a:prstGeom prst="rect">
            <a:avLst/>
          </a:prstGeom>
          <a:noFill/>
          <a:ln/>
        </p:spPr>
        <p:txBody>
          <a:bodyPr wrap="square" lIns="0" tIns="0" rIns="0" bIns="0" rtlCol="0" anchor="ctr"/>
          <a:lstStyle/>
          <a:p>
            <a:pPr indent="0" marL="0">
              <a:buNone/>
            </a:pPr>
            <a:r>
              <a:rPr lang="en-US" sz="1300" dirty="0">
                <a:solidFill>
                  <a:srgbClr val="0E1A24"/>
                </a:solidFill>
                <a:latin typeface="Calibri" pitchFamily="34" charset="0"/>
                <a:ea typeface="Calibri" pitchFamily="34" charset="-122"/>
                <a:cs typeface="Calibri" pitchFamily="34" charset="-120"/>
              </a:rPr>
              <a:t>Owns the exceptions. Today the same discount is approved on Tuesday and held on Thursday, depending on who is online.</a:t>
            </a:r>
            <a:endParaRPr lang="en-US" sz="1300" dirty="0"/>
          </a:p>
        </p:txBody>
      </p:sp>
      <p:sp>
        <p:nvSpPr>
          <p:cNvPr id="16" name="Text 14"/>
          <p:cNvSpPr/>
          <p:nvPr/>
        </p:nvSpPr>
        <p:spPr>
          <a:xfrm>
            <a:off x="4453128" y="4434840"/>
            <a:ext cx="3246120" cy="1417320"/>
          </a:xfrm>
          <a:prstGeom prst="rect">
            <a:avLst/>
          </a:prstGeom>
          <a:noFill/>
          <a:ln/>
        </p:spPr>
        <p:txBody>
          <a:bodyPr wrap="square" lIns="0" tIns="0" rIns="0" bIns="0" rtlCol="0" anchor="ctr"/>
          <a:lstStyle/>
          <a:p>
            <a:pPr indent="0" marL="0">
              <a:buNone/>
            </a:pPr>
            <a:r>
              <a:rPr lang="en-US" sz="1300" dirty="0">
                <a:solidFill>
                  <a:srgbClr val="5E6E78"/>
                </a:solidFill>
                <a:latin typeface="Calibri" pitchFamily="34" charset="0"/>
                <a:ea typeface="Calibri" pitchFamily="34" charset="-122"/>
                <a:cs typeface="Calibri" pitchFamily="34" charset="-120"/>
              </a:rPr>
              <a:t>Job: apply the book the same way every time. Pain: quarter-end piles, and notes that try to skip the book.</a:t>
            </a:r>
            <a:endParaRPr lang="en-US" sz="1300" dirty="0"/>
          </a:p>
        </p:txBody>
      </p:sp>
      <p:sp>
        <p:nvSpPr>
          <p:cNvPr id="17" name="Shape 15"/>
          <p:cNvSpPr/>
          <p:nvPr/>
        </p:nvSpPr>
        <p:spPr>
          <a:xfrm>
            <a:off x="8092440" y="1280160"/>
            <a:ext cx="3657600" cy="4846320"/>
          </a:xfrm>
          <a:prstGeom prst="roundRect">
            <a:avLst>
              <a:gd name="adj" fmla="val 2000"/>
            </a:avLst>
          </a:prstGeom>
          <a:solidFill>
            <a:srgbClr val="FFFFFF"/>
          </a:solidFill>
          <a:ln w="12700">
            <a:solidFill>
              <a:srgbClr val="D8D2C6"/>
            </a:solidFill>
            <a:prstDash val="solid"/>
          </a:ln>
        </p:spPr>
      </p:sp>
      <p:sp>
        <p:nvSpPr>
          <p:cNvPr id="18" name="Shape 16"/>
          <p:cNvSpPr/>
          <p:nvPr/>
        </p:nvSpPr>
        <p:spPr>
          <a:xfrm>
            <a:off x="8092440" y="1280160"/>
            <a:ext cx="3657600" cy="1051560"/>
          </a:xfrm>
          <a:prstGeom prst="rect">
            <a:avLst/>
          </a:prstGeom>
          <a:solidFill>
            <a:srgbClr val="0E1A24"/>
          </a:solidFill>
          <a:ln/>
        </p:spPr>
      </p:sp>
      <p:sp>
        <p:nvSpPr>
          <p:cNvPr id="19" name="Text 17"/>
          <p:cNvSpPr/>
          <p:nvPr/>
        </p:nvSpPr>
        <p:spPr>
          <a:xfrm>
            <a:off x="8293608" y="1371600"/>
            <a:ext cx="3246120" cy="411480"/>
          </a:xfrm>
          <a:prstGeom prst="rect">
            <a:avLst/>
          </a:prstGeom>
          <a:noFill/>
          <a:ln/>
        </p:spPr>
        <p:txBody>
          <a:bodyPr wrap="square" lIns="0" tIns="0" rIns="0" bIns="0" rtlCol="0" anchor="ctr"/>
          <a:lstStyle/>
          <a:p>
            <a:pPr indent="0" marL="0">
              <a:buNone/>
            </a:pPr>
            <a:r>
              <a:rPr lang="en-US" sz="1800" dirty="0">
                <a:solidFill>
                  <a:srgbClr val="F7F4EE"/>
                </a:solidFill>
                <a:latin typeface="Georgia" pitchFamily="34" charset="0"/>
                <a:ea typeface="Georgia" pitchFamily="34" charset="-122"/>
                <a:cs typeface="Georgia" pitchFamily="34" charset="-120"/>
              </a:rPr>
              <a:t>RevOps Admin</a:t>
            </a:r>
            <a:endParaRPr lang="en-US" sz="1800" dirty="0"/>
          </a:p>
        </p:txBody>
      </p:sp>
      <p:sp>
        <p:nvSpPr>
          <p:cNvPr id="20" name="Text 18"/>
          <p:cNvSpPr/>
          <p:nvPr/>
        </p:nvSpPr>
        <p:spPr>
          <a:xfrm>
            <a:off x="8293608" y="1810512"/>
            <a:ext cx="3246120" cy="320040"/>
          </a:xfrm>
          <a:prstGeom prst="rect">
            <a:avLst/>
          </a:prstGeom>
          <a:noFill/>
          <a:ln/>
        </p:spPr>
        <p:txBody>
          <a:bodyPr wrap="square" lIns="0" tIns="0" rIns="0" bIns="0" rtlCol="0" anchor="ctr"/>
          <a:lstStyle/>
          <a:p>
            <a:pPr indent="0" marL="0">
              <a:buNone/>
            </a:pPr>
            <a:r>
              <a:rPr lang="en-US" sz="1100" b="1" spc="120" kern="0" dirty="0">
                <a:solidFill>
                  <a:srgbClr val="8FB8C0"/>
                </a:solidFill>
                <a:latin typeface="Calibri" pitchFamily="34" charset="0"/>
                <a:ea typeface="Calibri" pitchFamily="34" charset="-122"/>
                <a:cs typeface="Calibri" pitchFamily="34" charset="-120"/>
              </a:rPr>
              <a:t>POLICY OWNER</a:t>
            </a:r>
            <a:endParaRPr lang="en-US" sz="1100" dirty="0"/>
          </a:p>
        </p:txBody>
      </p:sp>
      <p:sp>
        <p:nvSpPr>
          <p:cNvPr id="21" name="Text 19"/>
          <p:cNvSpPr/>
          <p:nvPr/>
        </p:nvSpPr>
        <p:spPr>
          <a:xfrm>
            <a:off x="8293608" y="2514600"/>
            <a:ext cx="3246120" cy="1828800"/>
          </a:xfrm>
          <a:prstGeom prst="rect">
            <a:avLst/>
          </a:prstGeom>
          <a:noFill/>
          <a:ln/>
        </p:spPr>
        <p:txBody>
          <a:bodyPr wrap="square" lIns="0" tIns="0" rIns="0" bIns="0" rtlCol="0" anchor="ctr"/>
          <a:lstStyle/>
          <a:p>
            <a:pPr indent="0" marL="0">
              <a:buNone/>
            </a:pPr>
            <a:r>
              <a:rPr lang="en-US" sz="1300" dirty="0">
                <a:solidFill>
                  <a:srgbClr val="0E1A24"/>
                </a:solidFill>
                <a:latin typeface="Calibri" pitchFamily="34" charset="0"/>
                <a:ea typeface="Calibri" pitchFamily="34" charset="-122"/>
                <a:cs typeface="Calibri" pitchFamily="34" charset="-120"/>
              </a:rPr>
              <a:t>Keeps the discount book and the cash book. Needs a version, an owner, and a way to confirm an uploaded policy before agents use it.</a:t>
            </a:r>
            <a:endParaRPr lang="en-US" sz="1300" dirty="0"/>
          </a:p>
        </p:txBody>
      </p:sp>
      <p:sp>
        <p:nvSpPr>
          <p:cNvPr id="22" name="Text 20"/>
          <p:cNvSpPr/>
          <p:nvPr/>
        </p:nvSpPr>
        <p:spPr>
          <a:xfrm>
            <a:off x="8293608" y="4434840"/>
            <a:ext cx="3246120" cy="1417320"/>
          </a:xfrm>
          <a:prstGeom prst="rect">
            <a:avLst/>
          </a:prstGeom>
          <a:noFill/>
          <a:ln/>
        </p:spPr>
        <p:txBody>
          <a:bodyPr wrap="square" lIns="0" tIns="0" rIns="0" bIns="0" rtlCol="0" anchor="ctr"/>
          <a:lstStyle/>
          <a:p>
            <a:pPr indent="0" marL="0">
              <a:buNone/>
            </a:pPr>
            <a:r>
              <a:rPr lang="en-US" sz="1300" dirty="0">
                <a:solidFill>
                  <a:srgbClr val="5E6E78"/>
                </a:solidFill>
                <a:latin typeface="Calibri" pitchFamily="34" charset="0"/>
                <a:ea typeface="Calibri" pitchFamily="34" charset="-122"/>
                <a:cs typeface="Calibri" pitchFamily="34" charset="-120"/>
              </a:rPr>
              <a:t>Job: make the live book the one the crew reads. Pain: policy lives in a PDF no system can cite.</a:t>
            </a:r>
            <a:endParaRPr lang="en-US" sz="1300" dirty="0"/>
          </a:p>
        </p:txBody>
      </p:sp>
      <p:sp>
        <p:nvSpPr>
          <p:cNvPr id="23" name="Shape 21"/>
          <p:cNvSpPr/>
          <p:nvPr/>
        </p:nvSpPr>
        <p:spPr>
          <a:xfrm>
            <a:off x="0" y="6601968"/>
            <a:ext cx="12188952" cy="256032"/>
          </a:xfrm>
          <a:prstGeom prst="rect">
            <a:avLst/>
          </a:prstGeom>
          <a:solidFill>
            <a:srgbClr val="0E1A24"/>
          </a:solidFill>
          <a:ln/>
        </p:spPr>
      </p:sp>
      <p:sp>
        <p:nvSpPr>
          <p:cNvPr id="24" name="Text 22"/>
          <p:cNvSpPr/>
          <p:nvPr/>
        </p:nvSpPr>
        <p:spPr>
          <a:xfrm>
            <a:off x="365760" y="6620256"/>
            <a:ext cx="7315200" cy="201168"/>
          </a:xfrm>
          <a:prstGeom prst="rect">
            <a:avLst/>
          </a:prstGeom>
          <a:noFill/>
          <a:ln/>
        </p:spPr>
        <p:txBody>
          <a:bodyPr wrap="square" lIns="0" tIns="0" rIns="0" bIns="0" rtlCol="0" anchor="ctr"/>
          <a:lstStyle/>
          <a:p>
            <a:pPr indent="0" marL="0">
              <a:buNone/>
            </a:pPr>
            <a:r>
              <a:rPr lang="en-US" sz="1000" dirty="0">
                <a:solidFill>
                  <a:srgbClr val="C9D4D8"/>
                </a:solidFill>
                <a:latin typeface="Calibri" pitchFamily="34" charset="0"/>
                <a:ea typeface="Calibri" pitchFamily="34" charset="-122"/>
                <a:cs typeface="Calibri" pitchFamily="34" charset="-120"/>
              </a:rPr>
              <a:t>DealFlow Approval Agents  ·  AIPM403F Capstone</a:t>
            </a:r>
            <a:endParaRPr lang="en-US" sz="1000" dirty="0"/>
          </a:p>
        </p:txBody>
      </p:sp>
      <p:sp>
        <p:nvSpPr>
          <p:cNvPr id="25" name="Text 23"/>
          <p:cNvSpPr/>
          <p:nvPr/>
        </p:nvSpPr>
        <p:spPr>
          <a:xfrm>
            <a:off x="10241280" y="6620256"/>
            <a:ext cx="1554480" cy="201168"/>
          </a:xfrm>
          <a:prstGeom prst="rect">
            <a:avLst/>
          </a:prstGeom>
          <a:noFill/>
          <a:ln/>
        </p:spPr>
        <p:txBody>
          <a:bodyPr wrap="square" lIns="0" tIns="0" rIns="0" bIns="0" rtlCol="0" anchor="ctr"/>
          <a:lstStyle/>
          <a:p>
            <a:pPr algn="r" indent="0" marL="0">
              <a:buNone/>
            </a:pPr>
            <a:r>
              <a:rPr lang="en-US" sz="1000" dirty="0">
                <a:solidFill>
                  <a:srgbClr val="C9D4D8"/>
                </a:solidFill>
                <a:latin typeface="Calibri" pitchFamily="34" charset="0"/>
                <a:ea typeface="Calibri" pitchFamily="34" charset="-122"/>
                <a:cs typeface="Calibri" pitchFamily="34" charset="-120"/>
              </a:rPr>
              <a:t>05 / 18</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7F4EE"/>
          </a:solidFill>
          <a:ln/>
        </p:spPr>
      </p:sp>
      <p:sp>
        <p:nvSpPr>
          <p:cNvPr id="3" name="Text 1"/>
          <p:cNvSpPr/>
          <p:nvPr/>
        </p:nvSpPr>
        <p:spPr>
          <a:xfrm>
            <a:off x="411480" y="201168"/>
            <a:ext cx="11338560" cy="219456"/>
          </a:xfrm>
          <a:prstGeom prst="rect">
            <a:avLst/>
          </a:prstGeom>
          <a:noFill/>
          <a:ln/>
        </p:spPr>
        <p:txBody>
          <a:bodyPr wrap="square" lIns="0" tIns="0" rIns="0" bIns="0" rtlCol="0" anchor="ctr"/>
          <a:lstStyle/>
          <a:p>
            <a:pPr indent="0" marL="0">
              <a:buNone/>
            </a:pPr>
            <a:r>
              <a:rPr lang="en-US" sz="1100" b="1" spc="160" kern="0" dirty="0">
                <a:solidFill>
                  <a:srgbClr val="1D5C68"/>
                </a:solidFill>
                <a:latin typeface="Calibri" pitchFamily="34" charset="0"/>
                <a:ea typeface="Calibri" pitchFamily="34" charset="-122"/>
                <a:cs typeface="Calibri" pitchFamily="34" charset="-120"/>
              </a:rPr>
              <a:t>UNMET NEEDS</a:t>
            </a:r>
            <a:endParaRPr lang="en-US" sz="1100" dirty="0"/>
          </a:p>
        </p:txBody>
      </p:sp>
      <p:sp>
        <p:nvSpPr>
          <p:cNvPr id="4" name="Text 2"/>
          <p:cNvSpPr/>
          <p:nvPr/>
        </p:nvSpPr>
        <p:spPr>
          <a:xfrm>
            <a:off x="411480" y="457200"/>
            <a:ext cx="11338560" cy="438912"/>
          </a:xfrm>
          <a:prstGeom prst="rect">
            <a:avLst/>
          </a:prstGeom>
          <a:noFill/>
          <a:ln/>
        </p:spPr>
        <p:txBody>
          <a:bodyPr wrap="square" lIns="0" tIns="0" rIns="0" bIns="0" rtlCol="0" anchor="ctr"/>
          <a:lstStyle/>
          <a:p>
            <a:pPr indent="0" marL="0">
              <a:buNone/>
            </a:pPr>
            <a:r>
              <a:rPr lang="en-US" sz="2600" dirty="0">
                <a:solidFill>
                  <a:srgbClr val="0E1A24"/>
                </a:solidFill>
                <a:latin typeface="Georgia" pitchFamily="34" charset="0"/>
                <a:ea typeface="Georgia" pitchFamily="34" charset="-122"/>
                <a:cs typeface="Georgia" pitchFamily="34" charset="-120"/>
              </a:rPr>
              <a:t>What the current path cannot do</a:t>
            </a:r>
            <a:endParaRPr lang="en-US" sz="2600" dirty="0"/>
          </a:p>
        </p:txBody>
      </p:sp>
      <p:sp>
        <p:nvSpPr>
          <p:cNvPr id="5" name="Shape 3"/>
          <p:cNvSpPr/>
          <p:nvPr/>
        </p:nvSpPr>
        <p:spPr>
          <a:xfrm>
            <a:off x="411480" y="1234440"/>
            <a:ext cx="11338560" cy="1115568"/>
          </a:xfrm>
          <a:prstGeom prst="roundRect">
            <a:avLst>
              <a:gd name="adj" fmla="val 6557"/>
            </a:avLst>
          </a:prstGeom>
          <a:solidFill>
            <a:srgbClr val="FFFFFF"/>
          </a:solidFill>
          <a:ln w="12700">
            <a:solidFill>
              <a:srgbClr val="D8D2C6"/>
            </a:solidFill>
            <a:prstDash val="solid"/>
          </a:ln>
        </p:spPr>
      </p:sp>
      <p:sp>
        <p:nvSpPr>
          <p:cNvPr id="6" name="Text 4"/>
          <p:cNvSpPr/>
          <p:nvPr/>
        </p:nvSpPr>
        <p:spPr>
          <a:xfrm>
            <a:off x="640080" y="1527048"/>
            <a:ext cx="2194560" cy="502920"/>
          </a:xfrm>
          <a:prstGeom prst="rect">
            <a:avLst/>
          </a:prstGeom>
          <a:noFill/>
          <a:ln/>
        </p:spPr>
        <p:txBody>
          <a:bodyPr wrap="square" lIns="0" tIns="0" rIns="0" bIns="0" rtlCol="0" anchor="ctr"/>
          <a:lstStyle/>
          <a:p>
            <a:pPr indent="0" marL="0">
              <a:buNone/>
            </a:pPr>
            <a:r>
              <a:rPr lang="en-US" sz="1600" dirty="0">
                <a:solidFill>
                  <a:srgbClr val="1D5C68"/>
                </a:solidFill>
                <a:latin typeface="Georgia" pitchFamily="34" charset="0"/>
                <a:ea typeface="Georgia" pitchFamily="34" charset="-122"/>
                <a:cs typeface="Georgia" pitchFamily="34" charset="-120"/>
              </a:rPr>
              <a:t>Functional</a:t>
            </a:r>
            <a:endParaRPr lang="en-US" sz="1600" dirty="0"/>
          </a:p>
        </p:txBody>
      </p:sp>
      <p:sp>
        <p:nvSpPr>
          <p:cNvPr id="7" name="Text 5"/>
          <p:cNvSpPr/>
          <p:nvPr/>
        </p:nvSpPr>
        <p:spPr>
          <a:xfrm>
            <a:off x="2926080" y="1435608"/>
            <a:ext cx="8503920" cy="731520"/>
          </a:xfrm>
          <a:prstGeom prst="rect">
            <a:avLst/>
          </a:prstGeom>
          <a:noFill/>
          <a:ln/>
        </p:spPr>
        <p:txBody>
          <a:bodyPr wrap="square" lIns="0" tIns="0" rIns="0" bIns="0" rtlCol="0" anchor="ctr"/>
          <a:lstStyle/>
          <a:p>
            <a:pPr indent="0" marL="0">
              <a:buNone/>
            </a:pPr>
            <a:r>
              <a:rPr lang="en-US" sz="1400" dirty="0">
                <a:solidFill>
                  <a:srgbClr val="0E1A24"/>
                </a:solidFill>
                <a:latin typeface="Calibri" pitchFamily="34" charset="0"/>
                <a:ea typeface="Calibri" pitchFamily="34" charset="-122"/>
                <a:cs typeface="Calibri" pitchFamily="34" charset="-120"/>
              </a:rPr>
              <a:t>Open the discount book, the cash book, three closed years, and the receivables file in one hop, then cite the rule that decided the label.</a:t>
            </a:r>
            <a:endParaRPr lang="en-US" sz="1400" dirty="0"/>
          </a:p>
        </p:txBody>
      </p:sp>
      <p:sp>
        <p:nvSpPr>
          <p:cNvPr id="8" name="Shape 6"/>
          <p:cNvSpPr/>
          <p:nvPr/>
        </p:nvSpPr>
        <p:spPr>
          <a:xfrm>
            <a:off x="411480" y="2468880"/>
            <a:ext cx="11338560" cy="1115568"/>
          </a:xfrm>
          <a:prstGeom prst="roundRect">
            <a:avLst>
              <a:gd name="adj" fmla="val 6557"/>
            </a:avLst>
          </a:prstGeom>
          <a:solidFill>
            <a:srgbClr val="FFFFFF"/>
          </a:solidFill>
          <a:ln w="12700">
            <a:solidFill>
              <a:srgbClr val="D8D2C6"/>
            </a:solidFill>
            <a:prstDash val="solid"/>
          </a:ln>
        </p:spPr>
      </p:sp>
      <p:sp>
        <p:nvSpPr>
          <p:cNvPr id="9" name="Text 7"/>
          <p:cNvSpPr/>
          <p:nvPr/>
        </p:nvSpPr>
        <p:spPr>
          <a:xfrm>
            <a:off x="640080" y="2761488"/>
            <a:ext cx="2194560" cy="502920"/>
          </a:xfrm>
          <a:prstGeom prst="rect">
            <a:avLst/>
          </a:prstGeom>
          <a:noFill/>
          <a:ln/>
        </p:spPr>
        <p:txBody>
          <a:bodyPr wrap="square" lIns="0" tIns="0" rIns="0" bIns="0" rtlCol="0" anchor="ctr"/>
          <a:lstStyle/>
          <a:p>
            <a:pPr indent="0" marL="0">
              <a:buNone/>
            </a:pPr>
            <a:r>
              <a:rPr lang="en-US" sz="1600" dirty="0">
                <a:solidFill>
                  <a:srgbClr val="1D5C68"/>
                </a:solidFill>
                <a:latin typeface="Georgia" pitchFamily="34" charset="0"/>
                <a:ea typeface="Georgia" pitchFamily="34" charset="-122"/>
                <a:cs typeface="Georgia" pitchFamily="34" charset="-120"/>
              </a:rPr>
              <a:t>Emotional</a:t>
            </a:r>
            <a:endParaRPr lang="en-US" sz="1600" dirty="0"/>
          </a:p>
        </p:txBody>
      </p:sp>
      <p:sp>
        <p:nvSpPr>
          <p:cNvPr id="10" name="Text 8"/>
          <p:cNvSpPr/>
          <p:nvPr/>
        </p:nvSpPr>
        <p:spPr>
          <a:xfrm>
            <a:off x="2926080" y="2670048"/>
            <a:ext cx="8503920" cy="731520"/>
          </a:xfrm>
          <a:prstGeom prst="rect">
            <a:avLst/>
          </a:prstGeom>
          <a:noFill/>
          <a:ln/>
        </p:spPr>
        <p:txBody>
          <a:bodyPr wrap="square" lIns="0" tIns="0" rIns="0" bIns="0" rtlCol="0" anchor="ctr"/>
          <a:lstStyle/>
          <a:p>
            <a:pPr indent="0" marL="0">
              <a:buNone/>
            </a:pPr>
            <a:r>
              <a:rPr lang="en-US" sz="1400" dirty="0">
                <a:solidFill>
                  <a:srgbClr val="0E1A24"/>
                </a:solidFill>
                <a:latin typeface="Calibri" pitchFamily="34" charset="0"/>
                <a:ea typeface="Calibri" pitchFamily="34" charset="-122"/>
                <a:cs typeface="Calibri" pitchFamily="34" charset="-120"/>
              </a:rPr>
              <a:t>The seller wants to know the quote is fair. The desk wants to stop defending inconsistent calls. Both want the reason on the record.</a:t>
            </a:r>
            <a:endParaRPr lang="en-US" sz="1400" dirty="0"/>
          </a:p>
        </p:txBody>
      </p:sp>
      <p:sp>
        <p:nvSpPr>
          <p:cNvPr id="11" name="Shape 9"/>
          <p:cNvSpPr/>
          <p:nvPr/>
        </p:nvSpPr>
        <p:spPr>
          <a:xfrm>
            <a:off x="411480" y="3703320"/>
            <a:ext cx="11338560" cy="1115568"/>
          </a:xfrm>
          <a:prstGeom prst="roundRect">
            <a:avLst>
              <a:gd name="adj" fmla="val 6557"/>
            </a:avLst>
          </a:prstGeom>
          <a:solidFill>
            <a:srgbClr val="FFFFFF"/>
          </a:solidFill>
          <a:ln w="12700">
            <a:solidFill>
              <a:srgbClr val="D8D2C6"/>
            </a:solidFill>
            <a:prstDash val="solid"/>
          </a:ln>
        </p:spPr>
      </p:sp>
      <p:sp>
        <p:nvSpPr>
          <p:cNvPr id="12" name="Text 10"/>
          <p:cNvSpPr/>
          <p:nvPr/>
        </p:nvSpPr>
        <p:spPr>
          <a:xfrm>
            <a:off x="640080" y="3995928"/>
            <a:ext cx="2194560" cy="502920"/>
          </a:xfrm>
          <a:prstGeom prst="rect">
            <a:avLst/>
          </a:prstGeom>
          <a:noFill/>
          <a:ln/>
        </p:spPr>
        <p:txBody>
          <a:bodyPr wrap="square" lIns="0" tIns="0" rIns="0" bIns="0" rtlCol="0" anchor="ctr"/>
          <a:lstStyle/>
          <a:p>
            <a:pPr indent="0" marL="0">
              <a:buNone/>
            </a:pPr>
            <a:r>
              <a:rPr lang="en-US" sz="1600" dirty="0">
                <a:solidFill>
                  <a:srgbClr val="1D5C68"/>
                </a:solidFill>
                <a:latin typeface="Georgia" pitchFamily="34" charset="0"/>
                <a:ea typeface="Georgia" pitchFamily="34" charset="-122"/>
                <a:cs typeface="Georgia" pitchFamily="34" charset="-120"/>
              </a:rPr>
              <a:t>Social</a:t>
            </a:r>
            <a:endParaRPr lang="en-US" sz="1600" dirty="0"/>
          </a:p>
        </p:txBody>
      </p:sp>
      <p:sp>
        <p:nvSpPr>
          <p:cNvPr id="13" name="Text 11"/>
          <p:cNvSpPr/>
          <p:nvPr/>
        </p:nvSpPr>
        <p:spPr>
          <a:xfrm>
            <a:off x="2926080" y="3904488"/>
            <a:ext cx="8503920" cy="731520"/>
          </a:xfrm>
          <a:prstGeom prst="rect">
            <a:avLst/>
          </a:prstGeom>
          <a:noFill/>
          <a:ln/>
        </p:spPr>
        <p:txBody>
          <a:bodyPr wrap="square" lIns="0" tIns="0" rIns="0" bIns="0" rtlCol="0" anchor="ctr"/>
          <a:lstStyle/>
          <a:p>
            <a:pPr indent="0" marL="0">
              <a:buNone/>
            </a:pPr>
            <a:r>
              <a:rPr lang="en-US" sz="1400" dirty="0">
                <a:solidFill>
                  <a:srgbClr val="0E1A24"/>
                </a:solidFill>
                <a:latin typeface="Calibri" pitchFamily="34" charset="0"/>
                <a:ea typeface="Calibri" pitchFamily="34" charset="-122"/>
                <a:cs typeface="Calibri" pitchFamily="34" charset="-120"/>
              </a:rPr>
              <a:t>A named person and an SLA, not a shared “escalated” pile. VP Sales and Finance see only the cases that actually need them.</a:t>
            </a:r>
            <a:endParaRPr lang="en-US" sz="1400" dirty="0"/>
          </a:p>
        </p:txBody>
      </p:sp>
      <p:sp>
        <p:nvSpPr>
          <p:cNvPr id="14" name="Shape 12"/>
          <p:cNvSpPr/>
          <p:nvPr/>
        </p:nvSpPr>
        <p:spPr>
          <a:xfrm>
            <a:off x="411480" y="4937760"/>
            <a:ext cx="11338560" cy="1115568"/>
          </a:xfrm>
          <a:prstGeom prst="roundRect">
            <a:avLst>
              <a:gd name="adj" fmla="val 6557"/>
            </a:avLst>
          </a:prstGeom>
          <a:solidFill>
            <a:srgbClr val="FFFFFF"/>
          </a:solidFill>
          <a:ln w="12700">
            <a:solidFill>
              <a:srgbClr val="D8D2C6"/>
            </a:solidFill>
            <a:prstDash val="solid"/>
          </a:ln>
        </p:spPr>
      </p:sp>
      <p:sp>
        <p:nvSpPr>
          <p:cNvPr id="15" name="Text 13"/>
          <p:cNvSpPr/>
          <p:nvPr/>
        </p:nvSpPr>
        <p:spPr>
          <a:xfrm>
            <a:off x="640080" y="5230368"/>
            <a:ext cx="2194560" cy="502920"/>
          </a:xfrm>
          <a:prstGeom prst="rect">
            <a:avLst/>
          </a:prstGeom>
          <a:noFill/>
          <a:ln/>
        </p:spPr>
        <p:txBody>
          <a:bodyPr wrap="square" lIns="0" tIns="0" rIns="0" bIns="0" rtlCol="0" anchor="ctr"/>
          <a:lstStyle/>
          <a:p>
            <a:pPr indent="0" marL="0">
              <a:buNone/>
            </a:pPr>
            <a:r>
              <a:rPr lang="en-US" sz="1600" dirty="0">
                <a:solidFill>
                  <a:srgbClr val="1D5C68"/>
                </a:solidFill>
                <a:latin typeface="Georgia" pitchFamily="34" charset="0"/>
                <a:ea typeface="Georgia" pitchFamily="34" charset="-122"/>
                <a:cs typeface="Georgia" pitchFamily="34" charset="-120"/>
              </a:rPr>
              <a:t>Where tools fail</a:t>
            </a:r>
            <a:endParaRPr lang="en-US" sz="1600" dirty="0"/>
          </a:p>
        </p:txBody>
      </p:sp>
      <p:sp>
        <p:nvSpPr>
          <p:cNvPr id="16" name="Text 14"/>
          <p:cNvSpPr/>
          <p:nvPr/>
        </p:nvSpPr>
        <p:spPr>
          <a:xfrm>
            <a:off x="2926080" y="5138928"/>
            <a:ext cx="8503920" cy="731520"/>
          </a:xfrm>
          <a:prstGeom prst="rect">
            <a:avLst/>
          </a:prstGeom>
          <a:noFill/>
          <a:ln/>
        </p:spPr>
        <p:txBody>
          <a:bodyPr wrap="square" lIns="0" tIns="0" rIns="0" bIns="0" rtlCol="0" anchor="ctr"/>
          <a:lstStyle/>
          <a:p>
            <a:pPr indent="0" marL="0">
              <a:buNone/>
            </a:pPr>
            <a:r>
              <a:rPr lang="en-US" sz="1400" dirty="0">
                <a:solidFill>
                  <a:srgbClr val="0E1A24"/>
                </a:solidFill>
                <a:latin typeface="Calibri" pitchFamily="34" charset="0"/>
                <a:ea typeface="Calibri" pitchFamily="34" charset="-122"/>
                <a:cs typeface="Calibri" pitchFamily="34" charset="-120"/>
              </a:rPr>
              <a:t>CPQ approval chains are static. A PDF policy is not callable. A chatbot can summarize the book. None of them write the stage and refuse a forged note.</a:t>
            </a:r>
            <a:endParaRPr lang="en-US" sz="1400" dirty="0"/>
          </a:p>
        </p:txBody>
      </p:sp>
      <p:sp>
        <p:nvSpPr>
          <p:cNvPr id="17" name="Shape 15"/>
          <p:cNvSpPr/>
          <p:nvPr/>
        </p:nvSpPr>
        <p:spPr>
          <a:xfrm>
            <a:off x="0" y="6601968"/>
            <a:ext cx="12188952" cy="256032"/>
          </a:xfrm>
          <a:prstGeom prst="rect">
            <a:avLst/>
          </a:prstGeom>
          <a:solidFill>
            <a:srgbClr val="0E1A24"/>
          </a:solidFill>
          <a:ln/>
        </p:spPr>
      </p:sp>
      <p:sp>
        <p:nvSpPr>
          <p:cNvPr id="18" name="Text 16"/>
          <p:cNvSpPr/>
          <p:nvPr/>
        </p:nvSpPr>
        <p:spPr>
          <a:xfrm>
            <a:off x="365760" y="6620256"/>
            <a:ext cx="7315200" cy="201168"/>
          </a:xfrm>
          <a:prstGeom prst="rect">
            <a:avLst/>
          </a:prstGeom>
          <a:noFill/>
          <a:ln/>
        </p:spPr>
        <p:txBody>
          <a:bodyPr wrap="square" lIns="0" tIns="0" rIns="0" bIns="0" rtlCol="0" anchor="ctr"/>
          <a:lstStyle/>
          <a:p>
            <a:pPr indent="0" marL="0">
              <a:buNone/>
            </a:pPr>
            <a:r>
              <a:rPr lang="en-US" sz="1000" dirty="0">
                <a:solidFill>
                  <a:srgbClr val="C9D4D8"/>
                </a:solidFill>
                <a:latin typeface="Calibri" pitchFamily="34" charset="0"/>
                <a:ea typeface="Calibri" pitchFamily="34" charset="-122"/>
                <a:cs typeface="Calibri" pitchFamily="34" charset="-120"/>
              </a:rPr>
              <a:t>DealFlow Approval Agents  ·  AIPM403F Capstone</a:t>
            </a:r>
            <a:endParaRPr lang="en-US" sz="1000" dirty="0"/>
          </a:p>
        </p:txBody>
      </p:sp>
      <p:sp>
        <p:nvSpPr>
          <p:cNvPr id="19" name="Text 17"/>
          <p:cNvSpPr/>
          <p:nvPr/>
        </p:nvSpPr>
        <p:spPr>
          <a:xfrm>
            <a:off x="10241280" y="6620256"/>
            <a:ext cx="1554480" cy="201168"/>
          </a:xfrm>
          <a:prstGeom prst="rect">
            <a:avLst/>
          </a:prstGeom>
          <a:noFill/>
          <a:ln/>
        </p:spPr>
        <p:txBody>
          <a:bodyPr wrap="square" lIns="0" tIns="0" rIns="0" bIns="0" rtlCol="0" anchor="ctr"/>
          <a:lstStyle/>
          <a:p>
            <a:pPr algn="r" indent="0" marL="0">
              <a:buNone/>
            </a:pPr>
            <a:r>
              <a:rPr lang="en-US" sz="1000" dirty="0">
                <a:solidFill>
                  <a:srgbClr val="C9D4D8"/>
                </a:solidFill>
                <a:latin typeface="Calibri" pitchFamily="34" charset="0"/>
                <a:ea typeface="Calibri" pitchFamily="34" charset="-122"/>
                <a:cs typeface="Calibri" pitchFamily="34" charset="-120"/>
              </a:rPr>
              <a:t>06 / 18</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7F4EE"/>
          </a:solidFill>
          <a:ln/>
        </p:spPr>
      </p:sp>
      <p:sp>
        <p:nvSpPr>
          <p:cNvPr id="3" name="Text 1"/>
          <p:cNvSpPr/>
          <p:nvPr/>
        </p:nvSpPr>
        <p:spPr>
          <a:xfrm>
            <a:off x="411480" y="201168"/>
            <a:ext cx="11338560" cy="219456"/>
          </a:xfrm>
          <a:prstGeom prst="rect">
            <a:avLst/>
          </a:prstGeom>
          <a:noFill/>
          <a:ln/>
        </p:spPr>
        <p:txBody>
          <a:bodyPr wrap="square" lIns="0" tIns="0" rIns="0" bIns="0" rtlCol="0" anchor="ctr"/>
          <a:lstStyle/>
          <a:p>
            <a:pPr indent="0" marL="0">
              <a:buNone/>
            </a:pPr>
            <a:r>
              <a:rPr lang="en-US" sz="1100" b="1" spc="160" kern="0" dirty="0">
                <a:solidFill>
                  <a:srgbClr val="1D5C68"/>
                </a:solidFill>
                <a:latin typeface="Calibri" pitchFamily="34" charset="0"/>
                <a:ea typeface="Calibri" pitchFamily="34" charset="-122"/>
                <a:cs typeface="Calibri" pitchFamily="34" charset="-120"/>
              </a:rPr>
              <a:t>VALUE PROPOSITION</a:t>
            </a:r>
            <a:endParaRPr lang="en-US" sz="1100" dirty="0"/>
          </a:p>
        </p:txBody>
      </p:sp>
      <p:sp>
        <p:nvSpPr>
          <p:cNvPr id="4" name="Text 2"/>
          <p:cNvSpPr/>
          <p:nvPr/>
        </p:nvSpPr>
        <p:spPr>
          <a:xfrm>
            <a:off x="411480" y="457200"/>
            <a:ext cx="11338560" cy="438912"/>
          </a:xfrm>
          <a:prstGeom prst="rect">
            <a:avLst/>
          </a:prstGeom>
          <a:noFill/>
          <a:ln/>
        </p:spPr>
        <p:txBody>
          <a:bodyPr wrap="square" lIns="0" tIns="0" rIns="0" bIns="0" rtlCol="0" anchor="ctr"/>
          <a:lstStyle/>
          <a:p>
            <a:pPr indent="0" marL="0">
              <a:buNone/>
            </a:pPr>
            <a:r>
              <a:rPr lang="en-US" sz="2600" dirty="0">
                <a:solidFill>
                  <a:srgbClr val="0E1A24"/>
                </a:solidFill>
                <a:latin typeface="Georgia" pitchFamily="34" charset="0"/>
                <a:ea typeface="Georgia" pitchFamily="34" charset="-122"/>
                <a:cs typeface="Georgia" pitchFamily="34" charset="-120"/>
              </a:rPr>
              <a:t>Same book. Same label. A person only when the book says so.</a:t>
            </a:r>
            <a:endParaRPr lang="en-US" sz="2600" dirty="0"/>
          </a:p>
        </p:txBody>
      </p:sp>
      <p:sp>
        <p:nvSpPr>
          <p:cNvPr id="5" name="Shape 3"/>
          <p:cNvSpPr/>
          <p:nvPr/>
        </p:nvSpPr>
        <p:spPr>
          <a:xfrm>
            <a:off x="411480" y="1280160"/>
            <a:ext cx="2788920" cy="1965960"/>
          </a:xfrm>
          <a:prstGeom prst="roundRect">
            <a:avLst>
              <a:gd name="adj" fmla="val 3721"/>
            </a:avLst>
          </a:prstGeom>
          <a:solidFill>
            <a:srgbClr val="FFFFFF"/>
          </a:solidFill>
          <a:ln w="12700">
            <a:solidFill>
              <a:srgbClr val="D8D2C6"/>
            </a:solidFill>
            <a:prstDash val="solid"/>
          </a:ln>
        </p:spPr>
      </p:sp>
      <p:sp>
        <p:nvSpPr>
          <p:cNvPr id="6" name="Text 4"/>
          <p:cNvSpPr/>
          <p:nvPr/>
        </p:nvSpPr>
        <p:spPr>
          <a:xfrm>
            <a:off x="576072" y="1417320"/>
            <a:ext cx="2468880" cy="502920"/>
          </a:xfrm>
          <a:prstGeom prst="rect">
            <a:avLst/>
          </a:prstGeom>
          <a:noFill/>
          <a:ln/>
        </p:spPr>
        <p:txBody>
          <a:bodyPr wrap="square" lIns="0" tIns="0" rIns="0" bIns="0" rtlCol="0" anchor="ctr"/>
          <a:lstStyle/>
          <a:p>
            <a:pPr indent="0" marL="0">
              <a:buNone/>
            </a:pPr>
            <a:r>
              <a:rPr lang="en-US" sz="2000" dirty="0">
                <a:solidFill>
                  <a:srgbClr val="1D5C68"/>
                </a:solidFill>
                <a:latin typeface="Georgia" pitchFamily="34" charset="0"/>
                <a:ea typeface="Georgia" pitchFamily="34" charset="-122"/>
                <a:cs typeface="Georgia" pitchFamily="34" charset="-120"/>
              </a:rPr>
              <a:t>One hop</a:t>
            </a:r>
            <a:endParaRPr lang="en-US" sz="2000" dirty="0"/>
          </a:p>
        </p:txBody>
      </p:sp>
      <p:sp>
        <p:nvSpPr>
          <p:cNvPr id="7" name="Text 5"/>
          <p:cNvSpPr/>
          <p:nvPr/>
        </p:nvSpPr>
        <p:spPr>
          <a:xfrm>
            <a:off x="576072" y="2011680"/>
            <a:ext cx="2468880" cy="1005840"/>
          </a:xfrm>
          <a:prstGeom prst="rect">
            <a:avLst/>
          </a:prstGeom>
          <a:noFill/>
          <a:ln/>
        </p:spPr>
        <p:txBody>
          <a:bodyPr wrap="square" lIns="0" tIns="0" rIns="0" bIns="0" rtlCol="0" anchor="ctr"/>
          <a:lstStyle/>
          <a:p>
            <a:pPr indent="0" marL="0">
              <a:buNone/>
            </a:pPr>
            <a:r>
              <a:rPr lang="en-US" sz="1300" dirty="0">
                <a:solidFill>
                  <a:srgbClr val="0E1A24"/>
                </a:solidFill>
                <a:latin typeface="Calibri" pitchFamily="34" charset="0"/>
                <a:ea typeface="Calibri" pitchFamily="34" charset="-122"/>
                <a:cs typeface="Calibri" pitchFamily="34" charset="-120"/>
              </a:rPr>
              <a:t>Agents write only Submit to Approved, Escalated, or Rejected.</a:t>
            </a:r>
            <a:endParaRPr lang="en-US" sz="1300" dirty="0"/>
          </a:p>
        </p:txBody>
      </p:sp>
      <p:sp>
        <p:nvSpPr>
          <p:cNvPr id="8" name="Shape 6"/>
          <p:cNvSpPr/>
          <p:nvPr/>
        </p:nvSpPr>
        <p:spPr>
          <a:xfrm>
            <a:off x="3337560" y="1280160"/>
            <a:ext cx="2788920" cy="1965960"/>
          </a:xfrm>
          <a:prstGeom prst="roundRect">
            <a:avLst>
              <a:gd name="adj" fmla="val 3721"/>
            </a:avLst>
          </a:prstGeom>
          <a:solidFill>
            <a:srgbClr val="FFFFFF"/>
          </a:solidFill>
          <a:ln w="12700">
            <a:solidFill>
              <a:srgbClr val="D8D2C6"/>
            </a:solidFill>
            <a:prstDash val="solid"/>
          </a:ln>
        </p:spPr>
      </p:sp>
      <p:sp>
        <p:nvSpPr>
          <p:cNvPr id="9" name="Text 7"/>
          <p:cNvSpPr/>
          <p:nvPr/>
        </p:nvSpPr>
        <p:spPr>
          <a:xfrm>
            <a:off x="3502152" y="1417320"/>
            <a:ext cx="2468880" cy="502920"/>
          </a:xfrm>
          <a:prstGeom prst="rect">
            <a:avLst/>
          </a:prstGeom>
          <a:noFill/>
          <a:ln/>
        </p:spPr>
        <p:txBody>
          <a:bodyPr wrap="square" lIns="0" tIns="0" rIns="0" bIns="0" rtlCol="0" anchor="ctr"/>
          <a:lstStyle/>
          <a:p>
            <a:pPr indent="0" marL="0">
              <a:buNone/>
            </a:pPr>
            <a:r>
              <a:rPr lang="en-US" sz="2000" dirty="0">
                <a:solidFill>
                  <a:srgbClr val="1D5C68"/>
                </a:solidFill>
                <a:latin typeface="Georgia" pitchFamily="34" charset="0"/>
                <a:ea typeface="Georgia" pitchFamily="34" charset="-122"/>
                <a:cs typeface="Georgia" pitchFamily="34" charset="-120"/>
              </a:rPr>
              <a:t>Cited</a:t>
            </a:r>
            <a:endParaRPr lang="en-US" sz="2000" dirty="0"/>
          </a:p>
        </p:txBody>
      </p:sp>
      <p:sp>
        <p:nvSpPr>
          <p:cNvPr id="10" name="Text 8"/>
          <p:cNvSpPr/>
          <p:nvPr/>
        </p:nvSpPr>
        <p:spPr>
          <a:xfrm>
            <a:off x="3502152" y="2011680"/>
            <a:ext cx="2468880" cy="1005840"/>
          </a:xfrm>
          <a:prstGeom prst="rect">
            <a:avLst/>
          </a:prstGeom>
          <a:noFill/>
          <a:ln/>
        </p:spPr>
        <p:txBody>
          <a:bodyPr wrap="square" lIns="0" tIns="0" rIns="0" bIns="0" rtlCol="0" anchor="ctr"/>
          <a:lstStyle/>
          <a:p>
            <a:pPr indent="0" marL="0">
              <a:buNone/>
            </a:pPr>
            <a:r>
              <a:rPr lang="en-US" sz="1300" dirty="0">
                <a:solidFill>
                  <a:srgbClr val="0E1A24"/>
                </a:solidFill>
                <a:latin typeface="Calibri" pitchFamily="34" charset="0"/>
                <a:ea typeface="Calibri" pitchFamily="34" charset="-122"/>
                <a:cs typeface="Calibri" pitchFamily="34" charset="-120"/>
              </a:rPr>
              <a:t>Every label names the policy rule and the file it opened.</a:t>
            </a:r>
            <a:endParaRPr lang="en-US" sz="1300" dirty="0"/>
          </a:p>
        </p:txBody>
      </p:sp>
      <p:sp>
        <p:nvSpPr>
          <p:cNvPr id="11" name="Shape 9"/>
          <p:cNvSpPr/>
          <p:nvPr/>
        </p:nvSpPr>
        <p:spPr>
          <a:xfrm>
            <a:off x="6263640" y="1280160"/>
            <a:ext cx="2788920" cy="1965960"/>
          </a:xfrm>
          <a:prstGeom prst="roundRect">
            <a:avLst>
              <a:gd name="adj" fmla="val 3721"/>
            </a:avLst>
          </a:prstGeom>
          <a:solidFill>
            <a:srgbClr val="FFFFFF"/>
          </a:solidFill>
          <a:ln w="12700">
            <a:solidFill>
              <a:srgbClr val="D8D2C6"/>
            </a:solidFill>
            <a:prstDash val="solid"/>
          </a:ln>
        </p:spPr>
      </p:sp>
      <p:sp>
        <p:nvSpPr>
          <p:cNvPr id="12" name="Text 10"/>
          <p:cNvSpPr/>
          <p:nvPr/>
        </p:nvSpPr>
        <p:spPr>
          <a:xfrm>
            <a:off x="6428232" y="1417320"/>
            <a:ext cx="2468880" cy="502920"/>
          </a:xfrm>
          <a:prstGeom prst="rect">
            <a:avLst/>
          </a:prstGeom>
          <a:noFill/>
          <a:ln/>
        </p:spPr>
        <p:txBody>
          <a:bodyPr wrap="square" lIns="0" tIns="0" rIns="0" bIns="0" rtlCol="0" anchor="ctr"/>
          <a:lstStyle/>
          <a:p>
            <a:pPr indent="0" marL="0">
              <a:buNone/>
            </a:pPr>
            <a:r>
              <a:rPr lang="en-US" sz="2000" dirty="0">
                <a:solidFill>
                  <a:srgbClr val="1D5C68"/>
                </a:solidFill>
                <a:latin typeface="Georgia" pitchFamily="34" charset="0"/>
                <a:ea typeface="Georgia" pitchFamily="34" charset="-122"/>
                <a:cs typeface="Georgia" pitchFamily="34" charset="-120"/>
              </a:rPr>
              <a:t>Named queue</a:t>
            </a:r>
            <a:endParaRPr lang="en-US" sz="2000" dirty="0"/>
          </a:p>
        </p:txBody>
      </p:sp>
      <p:sp>
        <p:nvSpPr>
          <p:cNvPr id="13" name="Text 11"/>
          <p:cNvSpPr/>
          <p:nvPr/>
        </p:nvSpPr>
        <p:spPr>
          <a:xfrm>
            <a:off x="6428232" y="2011680"/>
            <a:ext cx="2468880" cy="1005840"/>
          </a:xfrm>
          <a:prstGeom prst="rect">
            <a:avLst/>
          </a:prstGeom>
          <a:noFill/>
          <a:ln/>
        </p:spPr>
        <p:txBody>
          <a:bodyPr wrap="square" lIns="0" tIns="0" rIns="0" bIns="0" rtlCol="0" anchor="ctr"/>
          <a:lstStyle/>
          <a:p>
            <a:pPr indent="0" marL="0">
              <a:buNone/>
            </a:pPr>
            <a:r>
              <a:rPr lang="en-US" sz="1300" dirty="0">
                <a:solidFill>
                  <a:srgbClr val="0E1A24"/>
                </a:solidFill>
                <a:latin typeface="Calibri" pitchFamily="34" charset="0"/>
                <a:ea typeface="Calibri" pitchFamily="34" charset="-122"/>
                <a:cs typeface="Calibri" pitchFamily="34" charset="-120"/>
              </a:rPr>
              <a:t>Escalate is a person, an SLA, and a reason — not a bucket.</a:t>
            </a:r>
            <a:endParaRPr lang="en-US" sz="1300" dirty="0"/>
          </a:p>
        </p:txBody>
      </p:sp>
      <p:sp>
        <p:nvSpPr>
          <p:cNvPr id="14" name="Shape 12"/>
          <p:cNvSpPr/>
          <p:nvPr/>
        </p:nvSpPr>
        <p:spPr>
          <a:xfrm>
            <a:off x="9189720" y="1280160"/>
            <a:ext cx="2788920" cy="1965960"/>
          </a:xfrm>
          <a:prstGeom prst="roundRect">
            <a:avLst>
              <a:gd name="adj" fmla="val 3721"/>
            </a:avLst>
          </a:prstGeom>
          <a:solidFill>
            <a:srgbClr val="FFFFFF"/>
          </a:solidFill>
          <a:ln w="12700">
            <a:solidFill>
              <a:srgbClr val="D8D2C6"/>
            </a:solidFill>
            <a:prstDash val="solid"/>
          </a:ln>
        </p:spPr>
      </p:sp>
      <p:sp>
        <p:nvSpPr>
          <p:cNvPr id="15" name="Text 13"/>
          <p:cNvSpPr/>
          <p:nvPr/>
        </p:nvSpPr>
        <p:spPr>
          <a:xfrm>
            <a:off x="9354312" y="1417320"/>
            <a:ext cx="2468880" cy="502920"/>
          </a:xfrm>
          <a:prstGeom prst="rect">
            <a:avLst/>
          </a:prstGeom>
          <a:noFill/>
          <a:ln/>
        </p:spPr>
        <p:txBody>
          <a:bodyPr wrap="square" lIns="0" tIns="0" rIns="0" bIns="0" rtlCol="0" anchor="ctr"/>
          <a:lstStyle/>
          <a:p>
            <a:pPr indent="0" marL="0">
              <a:buNone/>
            </a:pPr>
            <a:r>
              <a:rPr lang="en-US" sz="2000" dirty="0">
                <a:solidFill>
                  <a:srgbClr val="1D5C68"/>
                </a:solidFill>
                <a:latin typeface="Georgia" pitchFamily="34" charset="0"/>
                <a:ea typeface="Georgia" pitchFamily="34" charset="-122"/>
                <a:cs typeface="Georgia" pitchFamily="34" charset="-120"/>
              </a:rPr>
              <a:t>9 / 9</a:t>
            </a:r>
            <a:endParaRPr lang="en-US" sz="2000" dirty="0"/>
          </a:p>
        </p:txBody>
      </p:sp>
      <p:sp>
        <p:nvSpPr>
          <p:cNvPr id="16" name="Text 14"/>
          <p:cNvSpPr/>
          <p:nvPr/>
        </p:nvSpPr>
        <p:spPr>
          <a:xfrm>
            <a:off x="9354312" y="2011680"/>
            <a:ext cx="2468880" cy="1005840"/>
          </a:xfrm>
          <a:prstGeom prst="rect">
            <a:avLst/>
          </a:prstGeom>
          <a:noFill/>
          <a:ln/>
        </p:spPr>
        <p:txBody>
          <a:bodyPr wrap="square" lIns="0" tIns="0" rIns="0" bIns="0" rtlCol="0" anchor="ctr"/>
          <a:lstStyle/>
          <a:p>
            <a:pPr indent="0" marL="0">
              <a:buNone/>
            </a:pPr>
            <a:r>
              <a:rPr lang="en-US" sz="1300" dirty="0">
                <a:solidFill>
                  <a:srgbClr val="0E1A24"/>
                </a:solidFill>
                <a:latin typeface="Calibri" pitchFamily="34" charset="0"/>
                <a:ea typeface="Calibri" pitchFamily="34" charset="-122"/>
                <a:cs typeface="Calibri" pitchFamily="34" charset="-120"/>
              </a:rPr>
              <a:t>Golden set passes. A note that demands Approve still fails.</a:t>
            </a:r>
            <a:endParaRPr lang="en-US" sz="1300" dirty="0"/>
          </a:p>
        </p:txBody>
      </p:sp>
      <p:sp>
        <p:nvSpPr>
          <p:cNvPr id="17" name="Text 15"/>
          <p:cNvSpPr/>
          <p:nvPr/>
        </p:nvSpPr>
        <p:spPr>
          <a:xfrm>
            <a:off x="411480" y="3429000"/>
            <a:ext cx="10972800" cy="320040"/>
          </a:xfrm>
          <a:prstGeom prst="rect">
            <a:avLst/>
          </a:prstGeom>
          <a:noFill/>
          <a:ln/>
        </p:spPr>
        <p:txBody>
          <a:bodyPr wrap="square" lIns="0" tIns="0" rIns="0" bIns="0" rtlCol="0" anchor="ctr"/>
          <a:lstStyle/>
          <a:p>
            <a:pPr indent="0" marL="0">
              <a:buNone/>
            </a:pPr>
            <a:r>
              <a:rPr lang="en-US" sz="1600" dirty="0">
                <a:solidFill>
                  <a:srgbClr val="0E1A24"/>
                </a:solidFill>
                <a:latin typeface="Georgia" pitchFamily="34" charset="0"/>
                <a:ea typeface="Georgia" pitchFamily="34" charset="-122"/>
                <a:cs typeface="Georgia" pitchFamily="34" charset="-120"/>
              </a:rPr>
              <a:t>Business impact the buyer can underwrite</a:t>
            </a:r>
            <a:endParaRPr lang="en-US" sz="1600" dirty="0"/>
          </a:p>
        </p:txBody>
      </p:sp>
      <p:sp>
        <p:nvSpPr>
          <p:cNvPr id="18" name="Shape 16"/>
          <p:cNvSpPr/>
          <p:nvPr/>
        </p:nvSpPr>
        <p:spPr>
          <a:xfrm>
            <a:off x="411480" y="3840480"/>
            <a:ext cx="3657600" cy="2331720"/>
          </a:xfrm>
          <a:prstGeom prst="roundRect">
            <a:avLst>
              <a:gd name="adj" fmla="val 3137"/>
            </a:avLst>
          </a:prstGeom>
          <a:solidFill>
            <a:srgbClr val="FFFFFF"/>
          </a:solidFill>
          <a:ln w="12700">
            <a:solidFill>
              <a:srgbClr val="D8D2C6"/>
            </a:solidFill>
            <a:prstDash val="solid"/>
          </a:ln>
        </p:spPr>
      </p:sp>
      <p:sp>
        <p:nvSpPr>
          <p:cNvPr id="19" name="Text 17"/>
          <p:cNvSpPr/>
          <p:nvPr/>
        </p:nvSpPr>
        <p:spPr>
          <a:xfrm>
            <a:off x="594360" y="3977640"/>
            <a:ext cx="3291840" cy="365760"/>
          </a:xfrm>
          <a:prstGeom prst="rect">
            <a:avLst/>
          </a:prstGeom>
          <a:noFill/>
          <a:ln/>
        </p:spPr>
        <p:txBody>
          <a:bodyPr wrap="square" lIns="0" tIns="0" rIns="0" bIns="0" rtlCol="0" anchor="ctr"/>
          <a:lstStyle/>
          <a:p>
            <a:pPr indent="0" marL="0">
              <a:buNone/>
            </a:pPr>
            <a:r>
              <a:rPr lang="en-US" sz="1400" b="1" dirty="0">
                <a:solidFill>
                  <a:srgbClr val="1D5C68"/>
                </a:solidFill>
                <a:latin typeface="Calibri" pitchFamily="34" charset="0"/>
                <a:ea typeface="Calibri" pitchFamily="34" charset="-122"/>
                <a:cs typeface="Calibri" pitchFamily="34" charset="-120"/>
              </a:rPr>
              <a:t>Cycle time</a:t>
            </a:r>
            <a:endParaRPr lang="en-US" sz="1400" dirty="0"/>
          </a:p>
        </p:txBody>
      </p:sp>
      <p:sp>
        <p:nvSpPr>
          <p:cNvPr id="20" name="Text 18"/>
          <p:cNvSpPr/>
          <p:nvPr/>
        </p:nvSpPr>
        <p:spPr>
          <a:xfrm>
            <a:off x="594360" y="4389120"/>
            <a:ext cx="3291840" cy="1554480"/>
          </a:xfrm>
          <a:prstGeom prst="rect">
            <a:avLst/>
          </a:prstGeom>
          <a:noFill/>
          <a:ln/>
        </p:spPr>
        <p:txBody>
          <a:bodyPr wrap="square" lIns="0" tIns="0" rIns="0" bIns="0" rtlCol="0" anchor="ctr"/>
          <a:lstStyle/>
          <a:p>
            <a:pPr indent="0" marL="0">
              <a:buNone/>
            </a:pPr>
            <a:r>
              <a:rPr lang="en-US" sz="1300" dirty="0">
                <a:solidFill>
                  <a:srgbClr val="5E6E78"/>
                </a:solidFill>
                <a:latin typeface="Calibri" pitchFamily="34" charset="0"/>
                <a:ea typeface="Calibri" pitchFamily="34" charset="-122"/>
                <a:cs typeface="Calibri" pitchFamily="34" charset="-120"/>
              </a:rPr>
              <a:t>Clean renewals clear without a desk touch. Harbor-style holds still land with a named owner in 24 hours.</a:t>
            </a:r>
            <a:endParaRPr lang="en-US" sz="1300" dirty="0"/>
          </a:p>
        </p:txBody>
      </p:sp>
      <p:sp>
        <p:nvSpPr>
          <p:cNvPr id="21" name="Shape 19"/>
          <p:cNvSpPr/>
          <p:nvPr/>
        </p:nvSpPr>
        <p:spPr>
          <a:xfrm>
            <a:off x="4251960" y="3840480"/>
            <a:ext cx="3657600" cy="2331720"/>
          </a:xfrm>
          <a:prstGeom prst="roundRect">
            <a:avLst>
              <a:gd name="adj" fmla="val 3137"/>
            </a:avLst>
          </a:prstGeom>
          <a:solidFill>
            <a:srgbClr val="FFFFFF"/>
          </a:solidFill>
          <a:ln w="12700">
            <a:solidFill>
              <a:srgbClr val="D8D2C6"/>
            </a:solidFill>
            <a:prstDash val="solid"/>
          </a:ln>
        </p:spPr>
      </p:sp>
      <p:sp>
        <p:nvSpPr>
          <p:cNvPr id="22" name="Text 20"/>
          <p:cNvSpPr/>
          <p:nvPr/>
        </p:nvSpPr>
        <p:spPr>
          <a:xfrm>
            <a:off x="4434840" y="3977640"/>
            <a:ext cx="3291840" cy="365760"/>
          </a:xfrm>
          <a:prstGeom prst="rect">
            <a:avLst/>
          </a:prstGeom>
          <a:noFill/>
          <a:ln/>
        </p:spPr>
        <p:txBody>
          <a:bodyPr wrap="square" lIns="0" tIns="0" rIns="0" bIns="0" rtlCol="0" anchor="ctr"/>
          <a:lstStyle/>
          <a:p>
            <a:pPr indent="0" marL="0">
              <a:buNone/>
            </a:pPr>
            <a:r>
              <a:rPr lang="en-US" sz="1400" b="1" dirty="0">
                <a:solidFill>
                  <a:srgbClr val="1D5C68"/>
                </a:solidFill>
                <a:latin typeface="Calibri" pitchFamily="34" charset="0"/>
                <a:ea typeface="Calibri" pitchFamily="34" charset="-122"/>
                <a:cs typeface="Calibri" pitchFamily="34" charset="-120"/>
              </a:rPr>
              <a:t>Leakage</a:t>
            </a:r>
            <a:endParaRPr lang="en-US" sz="1400" dirty="0"/>
          </a:p>
        </p:txBody>
      </p:sp>
      <p:sp>
        <p:nvSpPr>
          <p:cNvPr id="23" name="Text 21"/>
          <p:cNvSpPr/>
          <p:nvPr/>
        </p:nvSpPr>
        <p:spPr>
          <a:xfrm>
            <a:off x="4434840" y="4389120"/>
            <a:ext cx="3291840" cy="1554480"/>
          </a:xfrm>
          <a:prstGeom prst="rect">
            <a:avLst/>
          </a:prstGeom>
          <a:noFill/>
          <a:ln/>
        </p:spPr>
        <p:txBody>
          <a:bodyPr wrap="square" lIns="0" tIns="0" rIns="0" bIns="0" rtlCol="0" anchor="ctr"/>
          <a:lstStyle/>
          <a:p>
            <a:pPr indent="0" marL="0">
              <a:buNone/>
            </a:pPr>
            <a:r>
              <a:rPr lang="en-US" sz="1300" dirty="0">
                <a:solidFill>
                  <a:srgbClr val="5E6E78"/>
                </a:solidFill>
                <a:latin typeface="Calibri" pitchFamily="34" charset="0"/>
                <a:ea typeface="Calibri" pitchFamily="34" charset="-122"/>
                <a:cs typeface="Calibri" pitchFamily="34" charset="-120"/>
              </a:rPr>
              <a:t>A 42% expansion no longer depends on who is on shift. The exception ceiling is the same at 9 a.m. and at quarter-end.</a:t>
            </a:r>
            <a:endParaRPr lang="en-US" sz="1300" dirty="0"/>
          </a:p>
        </p:txBody>
      </p:sp>
      <p:sp>
        <p:nvSpPr>
          <p:cNvPr id="24" name="Shape 22"/>
          <p:cNvSpPr/>
          <p:nvPr/>
        </p:nvSpPr>
        <p:spPr>
          <a:xfrm>
            <a:off x="8092440" y="3840480"/>
            <a:ext cx="3657600" cy="2331720"/>
          </a:xfrm>
          <a:prstGeom prst="roundRect">
            <a:avLst>
              <a:gd name="adj" fmla="val 3137"/>
            </a:avLst>
          </a:prstGeom>
          <a:solidFill>
            <a:srgbClr val="FFFFFF"/>
          </a:solidFill>
          <a:ln w="12700">
            <a:solidFill>
              <a:srgbClr val="D8D2C6"/>
            </a:solidFill>
            <a:prstDash val="solid"/>
          </a:ln>
        </p:spPr>
      </p:sp>
      <p:sp>
        <p:nvSpPr>
          <p:cNvPr id="25" name="Text 23"/>
          <p:cNvSpPr/>
          <p:nvPr/>
        </p:nvSpPr>
        <p:spPr>
          <a:xfrm>
            <a:off x="8275320" y="3977640"/>
            <a:ext cx="3291840" cy="365760"/>
          </a:xfrm>
          <a:prstGeom prst="rect">
            <a:avLst/>
          </a:prstGeom>
          <a:noFill/>
          <a:ln/>
        </p:spPr>
        <p:txBody>
          <a:bodyPr wrap="square" lIns="0" tIns="0" rIns="0" bIns="0" rtlCol="0" anchor="ctr"/>
          <a:lstStyle/>
          <a:p>
            <a:pPr indent="0" marL="0">
              <a:buNone/>
            </a:pPr>
            <a:r>
              <a:rPr lang="en-US" sz="1400" b="1" dirty="0">
                <a:solidFill>
                  <a:srgbClr val="1D5C68"/>
                </a:solidFill>
                <a:latin typeface="Calibri" pitchFamily="34" charset="0"/>
                <a:ea typeface="Calibri" pitchFamily="34" charset="-122"/>
                <a:cs typeface="Calibri" pitchFamily="34" charset="-120"/>
              </a:rPr>
              <a:t>Audit</a:t>
            </a:r>
            <a:endParaRPr lang="en-US" sz="1400" dirty="0"/>
          </a:p>
        </p:txBody>
      </p:sp>
      <p:sp>
        <p:nvSpPr>
          <p:cNvPr id="26" name="Text 24"/>
          <p:cNvSpPr/>
          <p:nvPr/>
        </p:nvSpPr>
        <p:spPr>
          <a:xfrm>
            <a:off x="8275320" y="4389120"/>
            <a:ext cx="3291840" cy="1554480"/>
          </a:xfrm>
          <a:prstGeom prst="rect">
            <a:avLst/>
          </a:prstGeom>
          <a:noFill/>
          <a:ln/>
        </p:spPr>
        <p:txBody>
          <a:bodyPr wrap="square" lIns="0" tIns="0" rIns="0" bIns="0" rtlCol="0" anchor="ctr"/>
          <a:lstStyle/>
          <a:p>
            <a:pPr indent="0" marL="0">
              <a:buNone/>
            </a:pPr>
            <a:r>
              <a:rPr lang="en-US" sz="1300" dirty="0">
                <a:solidFill>
                  <a:srgbClr val="5E6E78"/>
                </a:solidFill>
                <a:latin typeface="Calibri" pitchFamily="34" charset="0"/>
                <a:ea typeface="Calibri" pitchFamily="34" charset="-122"/>
                <a:cs typeface="Calibri" pitchFamily="34" charset="-120"/>
              </a:rPr>
              <a:t>Every hop is a Langfuse trace: plan, two specialists, combine, guardrail. Finance can replay why a label was written.</a:t>
            </a:r>
            <a:endParaRPr lang="en-US" sz="1300" dirty="0"/>
          </a:p>
        </p:txBody>
      </p:sp>
      <p:sp>
        <p:nvSpPr>
          <p:cNvPr id="27" name="Shape 25"/>
          <p:cNvSpPr/>
          <p:nvPr/>
        </p:nvSpPr>
        <p:spPr>
          <a:xfrm>
            <a:off x="0" y="6601968"/>
            <a:ext cx="12188952" cy="256032"/>
          </a:xfrm>
          <a:prstGeom prst="rect">
            <a:avLst/>
          </a:prstGeom>
          <a:solidFill>
            <a:srgbClr val="0E1A24"/>
          </a:solidFill>
          <a:ln/>
        </p:spPr>
      </p:sp>
      <p:sp>
        <p:nvSpPr>
          <p:cNvPr id="28" name="Text 26"/>
          <p:cNvSpPr/>
          <p:nvPr/>
        </p:nvSpPr>
        <p:spPr>
          <a:xfrm>
            <a:off x="365760" y="6620256"/>
            <a:ext cx="7315200" cy="201168"/>
          </a:xfrm>
          <a:prstGeom prst="rect">
            <a:avLst/>
          </a:prstGeom>
          <a:noFill/>
          <a:ln/>
        </p:spPr>
        <p:txBody>
          <a:bodyPr wrap="square" lIns="0" tIns="0" rIns="0" bIns="0" rtlCol="0" anchor="ctr"/>
          <a:lstStyle/>
          <a:p>
            <a:pPr indent="0" marL="0">
              <a:buNone/>
            </a:pPr>
            <a:r>
              <a:rPr lang="en-US" sz="1000" dirty="0">
                <a:solidFill>
                  <a:srgbClr val="C9D4D8"/>
                </a:solidFill>
                <a:latin typeface="Calibri" pitchFamily="34" charset="0"/>
                <a:ea typeface="Calibri" pitchFamily="34" charset="-122"/>
                <a:cs typeface="Calibri" pitchFamily="34" charset="-120"/>
              </a:rPr>
              <a:t>DealFlow Approval Agents  ·  AIPM403F Capstone</a:t>
            </a:r>
            <a:endParaRPr lang="en-US" sz="1000" dirty="0"/>
          </a:p>
        </p:txBody>
      </p:sp>
      <p:sp>
        <p:nvSpPr>
          <p:cNvPr id="29" name="Text 27"/>
          <p:cNvSpPr/>
          <p:nvPr/>
        </p:nvSpPr>
        <p:spPr>
          <a:xfrm>
            <a:off x="10241280" y="6620256"/>
            <a:ext cx="1554480" cy="201168"/>
          </a:xfrm>
          <a:prstGeom prst="rect">
            <a:avLst/>
          </a:prstGeom>
          <a:noFill/>
          <a:ln/>
        </p:spPr>
        <p:txBody>
          <a:bodyPr wrap="square" lIns="0" tIns="0" rIns="0" bIns="0" rtlCol="0" anchor="ctr"/>
          <a:lstStyle/>
          <a:p>
            <a:pPr algn="r" indent="0" marL="0">
              <a:buNone/>
            </a:pPr>
            <a:r>
              <a:rPr lang="en-US" sz="1000" dirty="0">
                <a:solidFill>
                  <a:srgbClr val="C9D4D8"/>
                </a:solidFill>
                <a:latin typeface="Calibri" pitchFamily="34" charset="0"/>
                <a:ea typeface="Calibri" pitchFamily="34" charset="-122"/>
                <a:cs typeface="Calibri" pitchFamily="34" charset="-120"/>
              </a:rPr>
              <a:t>07 / 18</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7F4EE"/>
          </a:solidFill>
          <a:ln/>
        </p:spPr>
      </p:sp>
      <p:sp>
        <p:nvSpPr>
          <p:cNvPr id="3" name="Text 1"/>
          <p:cNvSpPr/>
          <p:nvPr/>
        </p:nvSpPr>
        <p:spPr>
          <a:xfrm>
            <a:off x="411480" y="201168"/>
            <a:ext cx="11338560" cy="219456"/>
          </a:xfrm>
          <a:prstGeom prst="rect">
            <a:avLst/>
          </a:prstGeom>
          <a:noFill/>
          <a:ln/>
        </p:spPr>
        <p:txBody>
          <a:bodyPr wrap="square" lIns="0" tIns="0" rIns="0" bIns="0" rtlCol="0" anchor="ctr"/>
          <a:lstStyle/>
          <a:p>
            <a:pPr indent="0" marL="0">
              <a:buNone/>
            </a:pPr>
            <a:r>
              <a:rPr lang="en-US" sz="1100" b="1" spc="160" kern="0" dirty="0">
                <a:solidFill>
                  <a:srgbClr val="1D5C68"/>
                </a:solidFill>
                <a:latin typeface="Calibri" pitchFamily="34" charset="0"/>
                <a:ea typeface="Calibri" pitchFamily="34" charset="-122"/>
                <a:cs typeface="Calibri" pitchFamily="34" charset="-120"/>
              </a:rPr>
              <a:t>BUSINESS STRATEGY ALIGNMENT</a:t>
            </a:r>
            <a:endParaRPr lang="en-US" sz="1100" dirty="0"/>
          </a:p>
        </p:txBody>
      </p:sp>
      <p:sp>
        <p:nvSpPr>
          <p:cNvPr id="4" name="Text 2"/>
          <p:cNvSpPr/>
          <p:nvPr/>
        </p:nvSpPr>
        <p:spPr>
          <a:xfrm>
            <a:off x="411480" y="457200"/>
            <a:ext cx="11338560" cy="438912"/>
          </a:xfrm>
          <a:prstGeom prst="rect">
            <a:avLst/>
          </a:prstGeom>
          <a:noFill/>
          <a:ln/>
        </p:spPr>
        <p:txBody>
          <a:bodyPr wrap="square" lIns="0" tIns="0" rIns="0" bIns="0" rtlCol="0" anchor="ctr"/>
          <a:lstStyle/>
          <a:p>
            <a:pPr indent="0" marL="0">
              <a:buNone/>
            </a:pPr>
            <a:r>
              <a:rPr lang="en-US" sz="2600" dirty="0">
                <a:solidFill>
                  <a:srgbClr val="0E1A24"/>
                </a:solidFill>
                <a:latin typeface="Georgia" pitchFamily="34" charset="0"/>
                <a:ea typeface="Georgia" pitchFamily="34" charset="-122"/>
                <a:cs typeface="Georgia" pitchFamily="34" charset="-120"/>
              </a:rPr>
              <a:t>Fits a quote-to-cash company. Does not replace it.</a:t>
            </a:r>
            <a:endParaRPr lang="en-US" sz="2600" dirty="0"/>
          </a:p>
        </p:txBody>
      </p:sp>
      <p:sp>
        <p:nvSpPr>
          <p:cNvPr id="5" name="Shape 3"/>
          <p:cNvSpPr/>
          <p:nvPr/>
        </p:nvSpPr>
        <p:spPr>
          <a:xfrm>
            <a:off x="411480" y="1280160"/>
            <a:ext cx="109728" cy="868680"/>
          </a:xfrm>
          <a:prstGeom prst="roundRect">
            <a:avLst>
              <a:gd name="adj" fmla="val 33333"/>
            </a:avLst>
          </a:prstGeom>
          <a:solidFill>
            <a:srgbClr val="1D5C68"/>
          </a:solidFill>
          <a:ln/>
        </p:spPr>
      </p:sp>
      <p:sp>
        <p:nvSpPr>
          <p:cNvPr id="6" name="Text 4"/>
          <p:cNvSpPr/>
          <p:nvPr/>
        </p:nvSpPr>
        <p:spPr>
          <a:xfrm>
            <a:off x="731520" y="1298448"/>
            <a:ext cx="10789920" cy="320040"/>
          </a:xfrm>
          <a:prstGeom prst="rect">
            <a:avLst/>
          </a:prstGeom>
          <a:noFill/>
          <a:ln/>
        </p:spPr>
        <p:txBody>
          <a:bodyPr wrap="square" lIns="0" tIns="0" rIns="0" bIns="0" rtlCol="0" anchor="ctr"/>
          <a:lstStyle/>
          <a:p>
            <a:pPr indent="0" marL="0">
              <a:buNone/>
            </a:pPr>
            <a:r>
              <a:rPr lang="en-US" sz="1600" b="1" dirty="0">
                <a:solidFill>
                  <a:srgbClr val="0E1A24"/>
                </a:solidFill>
                <a:latin typeface="Calibri" pitchFamily="34" charset="0"/>
                <a:ea typeface="Calibri" pitchFamily="34" charset="-122"/>
                <a:cs typeface="Calibri" pitchFamily="34" charset="-120"/>
              </a:rPr>
              <a:t>Revenue quality</a:t>
            </a:r>
            <a:endParaRPr lang="en-US" sz="1600" dirty="0"/>
          </a:p>
        </p:txBody>
      </p:sp>
      <p:sp>
        <p:nvSpPr>
          <p:cNvPr id="7" name="Text 5"/>
          <p:cNvSpPr/>
          <p:nvPr/>
        </p:nvSpPr>
        <p:spPr>
          <a:xfrm>
            <a:off x="731520" y="1645920"/>
            <a:ext cx="10789920" cy="411480"/>
          </a:xfrm>
          <a:prstGeom prst="rect">
            <a:avLst/>
          </a:prstGeom>
          <a:noFill/>
          <a:ln/>
        </p:spPr>
        <p:txBody>
          <a:bodyPr wrap="square" lIns="0" tIns="0" rIns="0" bIns="0" rtlCol="0" anchor="ctr"/>
          <a:lstStyle/>
          <a:p>
            <a:pPr indent="0" marL="0">
              <a:buNone/>
            </a:pPr>
            <a:r>
              <a:rPr lang="en-US" sz="1400" dirty="0">
                <a:solidFill>
                  <a:srgbClr val="5E6E78"/>
                </a:solidFill>
                <a:latin typeface="Calibri" pitchFamily="34" charset="0"/>
                <a:ea typeface="Calibri" pitchFamily="34" charset="-122"/>
                <a:cs typeface="Calibri" pitchFamily="34" charset="-120"/>
              </a:rPr>
              <a:t>Stops discount leakage and quarter-end gaming without slowing a clean renewal.</a:t>
            </a:r>
            <a:endParaRPr lang="en-US" sz="1400" dirty="0"/>
          </a:p>
        </p:txBody>
      </p:sp>
      <p:sp>
        <p:nvSpPr>
          <p:cNvPr id="8" name="Shape 6"/>
          <p:cNvSpPr/>
          <p:nvPr/>
        </p:nvSpPr>
        <p:spPr>
          <a:xfrm>
            <a:off x="411480" y="2377440"/>
            <a:ext cx="109728" cy="868680"/>
          </a:xfrm>
          <a:prstGeom prst="roundRect">
            <a:avLst>
              <a:gd name="adj" fmla="val 33333"/>
            </a:avLst>
          </a:prstGeom>
          <a:solidFill>
            <a:srgbClr val="1D5C68"/>
          </a:solidFill>
          <a:ln/>
        </p:spPr>
      </p:sp>
      <p:sp>
        <p:nvSpPr>
          <p:cNvPr id="9" name="Text 7"/>
          <p:cNvSpPr/>
          <p:nvPr/>
        </p:nvSpPr>
        <p:spPr>
          <a:xfrm>
            <a:off x="731520" y="2395728"/>
            <a:ext cx="10789920" cy="320040"/>
          </a:xfrm>
          <a:prstGeom prst="rect">
            <a:avLst/>
          </a:prstGeom>
          <a:noFill/>
          <a:ln/>
        </p:spPr>
        <p:txBody>
          <a:bodyPr wrap="square" lIns="0" tIns="0" rIns="0" bIns="0" rtlCol="0" anchor="ctr"/>
          <a:lstStyle/>
          <a:p>
            <a:pPr indent="0" marL="0">
              <a:buNone/>
            </a:pPr>
            <a:r>
              <a:rPr lang="en-US" sz="1600" b="1" dirty="0">
                <a:solidFill>
                  <a:srgbClr val="0E1A24"/>
                </a:solidFill>
                <a:latin typeface="Calibri" pitchFamily="34" charset="0"/>
                <a:ea typeface="Calibri" pitchFamily="34" charset="-122"/>
                <a:cs typeface="Calibri" pitchFamily="34" charset="-120"/>
              </a:rPr>
              <a:t>Operational efficiency</a:t>
            </a:r>
            <a:endParaRPr lang="en-US" sz="1600" dirty="0"/>
          </a:p>
        </p:txBody>
      </p:sp>
      <p:sp>
        <p:nvSpPr>
          <p:cNvPr id="10" name="Text 8"/>
          <p:cNvSpPr/>
          <p:nvPr/>
        </p:nvSpPr>
        <p:spPr>
          <a:xfrm>
            <a:off x="731520" y="2743200"/>
            <a:ext cx="10789920" cy="411480"/>
          </a:xfrm>
          <a:prstGeom prst="rect">
            <a:avLst/>
          </a:prstGeom>
          <a:noFill/>
          <a:ln/>
        </p:spPr>
        <p:txBody>
          <a:bodyPr wrap="square" lIns="0" tIns="0" rIns="0" bIns="0" rtlCol="0" anchor="ctr"/>
          <a:lstStyle/>
          <a:p>
            <a:pPr indent="0" marL="0">
              <a:buNone/>
            </a:pPr>
            <a:r>
              <a:rPr lang="en-US" sz="1400" dirty="0">
                <a:solidFill>
                  <a:srgbClr val="5E6E78"/>
                </a:solidFill>
                <a:latin typeface="Calibri" pitchFamily="34" charset="0"/>
                <a:ea typeface="Calibri" pitchFamily="34" charset="-122"/>
                <a:cs typeface="Calibri" pitchFamily="34" charset="-120"/>
              </a:rPr>
              <a:t>Deal Desk spends time on the cases the matrix assigns, not on the 18% renewals.</a:t>
            </a:r>
            <a:endParaRPr lang="en-US" sz="1400" dirty="0"/>
          </a:p>
        </p:txBody>
      </p:sp>
      <p:sp>
        <p:nvSpPr>
          <p:cNvPr id="11" name="Shape 9"/>
          <p:cNvSpPr/>
          <p:nvPr/>
        </p:nvSpPr>
        <p:spPr>
          <a:xfrm>
            <a:off x="411480" y="3474720"/>
            <a:ext cx="109728" cy="868680"/>
          </a:xfrm>
          <a:prstGeom prst="roundRect">
            <a:avLst>
              <a:gd name="adj" fmla="val 33333"/>
            </a:avLst>
          </a:prstGeom>
          <a:solidFill>
            <a:srgbClr val="1D5C68"/>
          </a:solidFill>
          <a:ln/>
        </p:spPr>
      </p:sp>
      <p:sp>
        <p:nvSpPr>
          <p:cNvPr id="12" name="Text 10"/>
          <p:cNvSpPr/>
          <p:nvPr/>
        </p:nvSpPr>
        <p:spPr>
          <a:xfrm>
            <a:off x="731520" y="3493008"/>
            <a:ext cx="10789920" cy="320040"/>
          </a:xfrm>
          <a:prstGeom prst="rect">
            <a:avLst/>
          </a:prstGeom>
          <a:noFill/>
          <a:ln/>
        </p:spPr>
        <p:txBody>
          <a:bodyPr wrap="square" lIns="0" tIns="0" rIns="0" bIns="0" rtlCol="0" anchor="ctr"/>
          <a:lstStyle/>
          <a:p>
            <a:pPr indent="0" marL="0">
              <a:buNone/>
            </a:pPr>
            <a:r>
              <a:rPr lang="en-US" sz="1600" b="1" dirty="0">
                <a:solidFill>
                  <a:srgbClr val="0E1A24"/>
                </a:solidFill>
                <a:latin typeface="Calibri" pitchFamily="34" charset="0"/>
                <a:ea typeface="Calibri" pitchFamily="34" charset="-122"/>
                <a:cs typeface="Calibri" pitchFamily="34" charset="-120"/>
              </a:rPr>
              <a:t>Risk and audit</a:t>
            </a:r>
            <a:endParaRPr lang="en-US" sz="1600" dirty="0"/>
          </a:p>
        </p:txBody>
      </p:sp>
      <p:sp>
        <p:nvSpPr>
          <p:cNvPr id="13" name="Text 11"/>
          <p:cNvSpPr/>
          <p:nvPr/>
        </p:nvSpPr>
        <p:spPr>
          <a:xfrm>
            <a:off x="731520" y="3840480"/>
            <a:ext cx="10789920" cy="411480"/>
          </a:xfrm>
          <a:prstGeom prst="rect">
            <a:avLst/>
          </a:prstGeom>
          <a:noFill/>
          <a:ln/>
        </p:spPr>
        <p:txBody>
          <a:bodyPr wrap="square" lIns="0" tIns="0" rIns="0" bIns="0" rtlCol="0" anchor="ctr"/>
          <a:lstStyle/>
          <a:p>
            <a:pPr indent="0" marL="0">
              <a:buNone/>
            </a:pPr>
            <a:r>
              <a:rPr lang="en-US" sz="1400" dirty="0">
                <a:solidFill>
                  <a:srgbClr val="5E6E78"/>
                </a:solidFill>
                <a:latin typeface="Calibri" pitchFamily="34" charset="0"/>
                <a:ea typeface="Calibri" pitchFamily="34" charset="-122"/>
                <a:cs typeface="Calibri" pitchFamily="34" charset="-120"/>
              </a:rPr>
              <a:t>Every decision cites a versioned book owned by RevOps or Finance.</a:t>
            </a:r>
            <a:endParaRPr lang="en-US" sz="1400" dirty="0"/>
          </a:p>
        </p:txBody>
      </p:sp>
      <p:sp>
        <p:nvSpPr>
          <p:cNvPr id="14" name="Shape 12"/>
          <p:cNvSpPr/>
          <p:nvPr/>
        </p:nvSpPr>
        <p:spPr>
          <a:xfrm>
            <a:off x="411480" y="4572000"/>
            <a:ext cx="109728" cy="868680"/>
          </a:xfrm>
          <a:prstGeom prst="roundRect">
            <a:avLst>
              <a:gd name="adj" fmla="val 33333"/>
            </a:avLst>
          </a:prstGeom>
          <a:solidFill>
            <a:srgbClr val="1D5C68"/>
          </a:solidFill>
          <a:ln/>
        </p:spPr>
      </p:sp>
      <p:sp>
        <p:nvSpPr>
          <p:cNvPr id="15" name="Text 13"/>
          <p:cNvSpPr/>
          <p:nvPr/>
        </p:nvSpPr>
        <p:spPr>
          <a:xfrm>
            <a:off x="731520" y="4590288"/>
            <a:ext cx="10789920" cy="320040"/>
          </a:xfrm>
          <a:prstGeom prst="rect">
            <a:avLst/>
          </a:prstGeom>
          <a:noFill/>
          <a:ln/>
        </p:spPr>
        <p:txBody>
          <a:bodyPr wrap="square" lIns="0" tIns="0" rIns="0" bIns="0" rtlCol="0" anchor="ctr"/>
          <a:lstStyle/>
          <a:p>
            <a:pPr indent="0" marL="0">
              <a:buNone/>
            </a:pPr>
            <a:r>
              <a:rPr lang="en-US" sz="1600" b="1" dirty="0">
                <a:solidFill>
                  <a:srgbClr val="0E1A24"/>
                </a:solidFill>
                <a:latin typeface="Calibri" pitchFamily="34" charset="0"/>
                <a:ea typeface="Calibri" pitchFamily="34" charset="-122"/>
                <a:cs typeface="Calibri" pitchFamily="34" charset="-120"/>
              </a:rPr>
              <a:t>Platform, not a rip-out</a:t>
            </a:r>
            <a:endParaRPr lang="en-US" sz="1600" dirty="0"/>
          </a:p>
        </p:txBody>
      </p:sp>
      <p:sp>
        <p:nvSpPr>
          <p:cNvPr id="16" name="Text 14"/>
          <p:cNvSpPr/>
          <p:nvPr/>
        </p:nvSpPr>
        <p:spPr>
          <a:xfrm>
            <a:off x="731520" y="4937760"/>
            <a:ext cx="10789920" cy="411480"/>
          </a:xfrm>
          <a:prstGeom prst="rect">
            <a:avLst/>
          </a:prstGeom>
          <a:noFill/>
          <a:ln/>
        </p:spPr>
        <p:txBody>
          <a:bodyPr wrap="square" lIns="0" tIns="0" rIns="0" bIns="0" rtlCol="0" anchor="ctr"/>
          <a:lstStyle/>
          <a:p>
            <a:pPr indent="0" marL="0">
              <a:buNone/>
            </a:pPr>
            <a:r>
              <a:rPr lang="en-US" sz="1400" dirty="0">
                <a:solidFill>
                  <a:srgbClr val="5E6E78"/>
                </a:solidFill>
                <a:latin typeface="Calibri" pitchFamily="34" charset="0"/>
                <a:ea typeface="Calibri" pitchFamily="34" charset="-122"/>
                <a:cs typeface="Calibri" pitchFamily="34" charset="-120"/>
              </a:rPr>
              <a:t>Integrates beside Salesforce CPQ, Revenue Cloud, DealHub, Conga, Zuora. The CPQ remains the system of record.</a:t>
            </a:r>
            <a:endParaRPr lang="en-US" sz="1400" dirty="0"/>
          </a:p>
        </p:txBody>
      </p:sp>
      <p:sp>
        <p:nvSpPr>
          <p:cNvPr id="17" name="Shape 15"/>
          <p:cNvSpPr/>
          <p:nvPr/>
        </p:nvSpPr>
        <p:spPr>
          <a:xfrm>
            <a:off x="0" y="6601968"/>
            <a:ext cx="12188952" cy="256032"/>
          </a:xfrm>
          <a:prstGeom prst="rect">
            <a:avLst/>
          </a:prstGeom>
          <a:solidFill>
            <a:srgbClr val="0E1A24"/>
          </a:solidFill>
          <a:ln/>
        </p:spPr>
      </p:sp>
      <p:sp>
        <p:nvSpPr>
          <p:cNvPr id="18" name="Text 16"/>
          <p:cNvSpPr/>
          <p:nvPr/>
        </p:nvSpPr>
        <p:spPr>
          <a:xfrm>
            <a:off x="365760" y="6620256"/>
            <a:ext cx="7315200" cy="201168"/>
          </a:xfrm>
          <a:prstGeom prst="rect">
            <a:avLst/>
          </a:prstGeom>
          <a:noFill/>
          <a:ln/>
        </p:spPr>
        <p:txBody>
          <a:bodyPr wrap="square" lIns="0" tIns="0" rIns="0" bIns="0" rtlCol="0" anchor="ctr"/>
          <a:lstStyle/>
          <a:p>
            <a:pPr indent="0" marL="0">
              <a:buNone/>
            </a:pPr>
            <a:r>
              <a:rPr lang="en-US" sz="1000" dirty="0">
                <a:solidFill>
                  <a:srgbClr val="C9D4D8"/>
                </a:solidFill>
                <a:latin typeface="Calibri" pitchFamily="34" charset="0"/>
                <a:ea typeface="Calibri" pitchFamily="34" charset="-122"/>
                <a:cs typeface="Calibri" pitchFamily="34" charset="-120"/>
              </a:rPr>
              <a:t>DealFlow Approval Agents  ·  AIPM403F Capstone</a:t>
            </a:r>
            <a:endParaRPr lang="en-US" sz="1000" dirty="0"/>
          </a:p>
        </p:txBody>
      </p:sp>
      <p:sp>
        <p:nvSpPr>
          <p:cNvPr id="19" name="Text 17"/>
          <p:cNvSpPr/>
          <p:nvPr/>
        </p:nvSpPr>
        <p:spPr>
          <a:xfrm>
            <a:off x="10241280" y="6620256"/>
            <a:ext cx="1554480" cy="201168"/>
          </a:xfrm>
          <a:prstGeom prst="rect">
            <a:avLst/>
          </a:prstGeom>
          <a:noFill/>
          <a:ln/>
        </p:spPr>
        <p:txBody>
          <a:bodyPr wrap="square" lIns="0" tIns="0" rIns="0" bIns="0" rtlCol="0" anchor="ctr"/>
          <a:lstStyle/>
          <a:p>
            <a:pPr algn="r" indent="0" marL="0">
              <a:buNone/>
            </a:pPr>
            <a:r>
              <a:rPr lang="en-US" sz="1000" dirty="0">
                <a:solidFill>
                  <a:srgbClr val="C9D4D8"/>
                </a:solidFill>
                <a:latin typeface="Calibri" pitchFamily="34" charset="0"/>
                <a:ea typeface="Calibri" pitchFamily="34" charset="-122"/>
                <a:cs typeface="Calibri" pitchFamily="34" charset="-120"/>
              </a:rPr>
              <a:t>08 / 18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7F4EE"/>
          </a:solidFill>
          <a:ln/>
        </p:spPr>
      </p:sp>
      <p:sp>
        <p:nvSpPr>
          <p:cNvPr id="3" name="Text 1"/>
          <p:cNvSpPr/>
          <p:nvPr/>
        </p:nvSpPr>
        <p:spPr>
          <a:xfrm>
            <a:off x="411480" y="201168"/>
            <a:ext cx="11338560" cy="219456"/>
          </a:xfrm>
          <a:prstGeom prst="rect">
            <a:avLst/>
          </a:prstGeom>
          <a:noFill/>
          <a:ln/>
        </p:spPr>
        <p:txBody>
          <a:bodyPr wrap="square" lIns="0" tIns="0" rIns="0" bIns="0" rtlCol="0" anchor="ctr"/>
          <a:lstStyle/>
          <a:p>
            <a:pPr indent="0" marL="0">
              <a:buNone/>
            </a:pPr>
            <a:r>
              <a:rPr lang="en-US" sz="1100" b="1" spc="160" kern="0" dirty="0">
                <a:solidFill>
                  <a:srgbClr val="1D5C68"/>
                </a:solidFill>
                <a:latin typeface="Calibri" pitchFamily="34" charset="0"/>
                <a:ea typeface="Calibri" pitchFamily="34" charset="-122"/>
                <a:cs typeface="Calibri" pitchFamily="34" charset="-120"/>
              </a:rPr>
              <a:t>AGENT ARCHITECTURE AND ROLES</a:t>
            </a:r>
            <a:endParaRPr lang="en-US" sz="1100" dirty="0"/>
          </a:p>
        </p:txBody>
      </p:sp>
      <p:sp>
        <p:nvSpPr>
          <p:cNvPr id="4" name="Text 2"/>
          <p:cNvSpPr/>
          <p:nvPr/>
        </p:nvSpPr>
        <p:spPr>
          <a:xfrm>
            <a:off x="411480" y="457200"/>
            <a:ext cx="11338560" cy="438912"/>
          </a:xfrm>
          <a:prstGeom prst="rect">
            <a:avLst/>
          </a:prstGeom>
          <a:noFill/>
          <a:ln/>
        </p:spPr>
        <p:txBody>
          <a:bodyPr wrap="square" lIns="0" tIns="0" rIns="0" bIns="0" rtlCol="0" anchor="ctr"/>
          <a:lstStyle/>
          <a:p>
            <a:pPr indent="0" marL="0">
              <a:buNone/>
            </a:pPr>
            <a:r>
              <a:rPr lang="en-US" sz="2600" dirty="0">
                <a:solidFill>
                  <a:srgbClr val="0E1A24"/>
                </a:solidFill>
                <a:latin typeface="Georgia" pitchFamily="34" charset="0"/>
                <a:ea typeface="Georgia" pitchFamily="34" charset="-122"/>
                <a:cs typeface="Georgia" pitchFamily="34" charset="-120"/>
              </a:rPr>
              <a:t>A coordinator, two specialists, one guardrail</a:t>
            </a:r>
            <a:endParaRPr lang="en-US" sz="2600" dirty="0"/>
          </a:p>
        </p:txBody>
      </p:sp>
      <p:sp>
        <p:nvSpPr>
          <p:cNvPr id="5" name="Text 3"/>
          <p:cNvSpPr/>
          <p:nvPr/>
        </p:nvSpPr>
        <p:spPr>
          <a:xfrm>
            <a:off x="411480" y="1097280"/>
            <a:ext cx="11338560" cy="457200"/>
          </a:xfrm>
          <a:prstGeom prst="rect">
            <a:avLst/>
          </a:prstGeom>
          <a:noFill/>
          <a:ln/>
        </p:spPr>
        <p:txBody>
          <a:bodyPr wrap="square" lIns="0" tIns="0" rIns="0" bIns="0" rtlCol="0" anchor="ctr"/>
          <a:lstStyle/>
          <a:p>
            <a:pPr indent="0" marL="0">
              <a:buNone/>
            </a:pPr>
            <a:r>
              <a:rPr lang="en-US" sz="1400" dirty="0">
                <a:solidFill>
                  <a:srgbClr val="5E6E78"/>
                </a:solidFill>
                <a:latin typeface="Calibri" pitchFamily="34" charset="0"/>
                <a:ea typeface="Calibri" pitchFamily="34" charset="-122"/>
                <a:cs typeface="Calibri" pitchFamily="34" charset="-120"/>
              </a:rPr>
              <a:t>Architecture: centralized orchestrator with parallel specialists. Chosen so one label is written, and so a note cannot talk to either specialist as an instruction.</a:t>
            </a:r>
            <a:endParaRPr lang="en-US" sz="1400" dirty="0"/>
          </a:p>
        </p:txBody>
      </p:sp>
      <p:sp>
        <p:nvSpPr>
          <p:cNvPr id="6" name="Shape 4"/>
          <p:cNvSpPr/>
          <p:nvPr/>
        </p:nvSpPr>
        <p:spPr>
          <a:xfrm>
            <a:off x="411480" y="1737360"/>
            <a:ext cx="3657600" cy="3063240"/>
          </a:xfrm>
          <a:prstGeom prst="roundRect">
            <a:avLst>
              <a:gd name="adj" fmla="val 2388"/>
            </a:avLst>
          </a:prstGeom>
          <a:solidFill>
            <a:srgbClr val="FFFFFF"/>
          </a:solidFill>
          <a:ln w="12700">
            <a:solidFill>
              <a:srgbClr val="D8D2C6"/>
            </a:solidFill>
            <a:prstDash val="solid"/>
          </a:ln>
        </p:spPr>
      </p:sp>
      <p:sp>
        <p:nvSpPr>
          <p:cNvPr id="7" name="Text 5"/>
          <p:cNvSpPr/>
          <p:nvPr/>
        </p:nvSpPr>
        <p:spPr>
          <a:xfrm>
            <a:off x="612648" y="1874520"/>
            <a:ext cx="3246120" cy="411480"/>
          </a:xfrm>
          <a:prstGeom prst="rect">
            <a:avLst/>
          </a:prstGeom>
          <a:noFill/>
          <a:ln/>
        </p:spPr>
        <p:txBody>
          <a:bodyPr wrap="square" lIns="0" tIns="0" rIns="0" bIns="0" rtlCol="0" anchor="ctr"/>
          <a:lstStyle/>
          <a:p>
            <a:pPr indent="0" marL="0">
              <a:buNone/>
            </a:pPr>
            <a:r>
              <a:rPr lang="en-US" sz="1800" dirty="0">
                <a:solidFill>
                  <a:srgbClr val="0E1A24"/>
                </a:solidFill>
                <a:latin typeface="Georgia" pitchFamily="34" charset="0"/>
                <a:ea typeface="Georgia" pitchFamily="34" charset="-122"/>
                <a:cs typeface="Georgia" pitchFamily="34" charset="-120"/>
              </a:rPr>
              <a:t>Orchestrator</a:t>
            </a:r>
            <a:endParaRPr lang="en-US" sz="1800" dirty="0"/>
          </a:p>
        </p:txBody>
      </p:sp>
      <p:sp>
        <p:nvSpPr>
          <p:cNvPr id="8" name="Text 6"/>
          <p:cNvSpPr/>
          <p:nvPr/>
        </p:nvSpPr>
        <p:spPr>
          <a:xfrm>
            <a:off x="612648" y="2286000"/>
            <a:ext cx="3246120" cy="274320"/>
          </a:xfrm>
          <a:prstGeom prst="rect">
            <a:avLst/>
          </a:prstGeom>
          <a:noFill/>
          <a:ln/>
        </p:spPr>
        <p:txBody>
          <a:bodyPr wrap="square" lIns="0" tIns="0" rIns="0" bIns="0" rtlCol="0" anchor="ctr"/>
          <a:lstStyle/>
          <a:p>
            <a:pPr indent="0" marL="0">
              <a:buNone/>
            </a:pPr>
            <a:r>
              <a:rPr lang="en-US" sz="1100" b="1" spc="110" kern="0" dirty="0">
                <a:solidFill>
                  <a:srgbClr val="1D5C68"/>
                </a:solidFill>
                <a:latin typeface="Calibri" pitchFamily="34" charset="0"/>
                <a:ea typeface="Calibri" pitchFamily="34" charset="-122"/>
                <a:cs typeface="Calibri" pitchFamily="34" charset="-120"/>
              </a:rPr>
              <a:t>GOAL-BASED</a:t>
            </a:r>
            <a:endParaRPr lang="en-US" sz="1100" dirty="0"/>
          </a:p>
        </p:txBody>
      </p:sp>
      <p:sp>
        <p:nvSpPr>
          <p:cNvPr id="9" name="Text 7"/>
          <p:cNvSpPr/>
          <p:nvPr/>
        </p:nvSpPr>
        <p:spPr>
          <a:xfrm>
            <a:off x="612648" y="2697480"/>
            <a:ext cx="3246120" cy="1828800"/>
          </a:xfrm>
          <a:prstGeom prst="rect">
            <a:avLst/>
          </a:prstGeom>
          <a:noFill/>
          <a:ln/>
        </p:spPr>
        <p:txBody>
          <a:bodyPr wrap="square" lIns="0" tIns="0" rIns="0" bIns="0" rtlCol="0" anchor="ctr"/>
          <a:lstStyle/>
          <a:p>
            <a:pPr indent="0" marL="0">
              <a:buNone/>
            </a:pPr>
            <a:r>
              <a:rPr lang="en-US" sz="1300" dirty="0">
                <a:solidFill>
                  <a:srgbClr val="5E6E78"/>
                </a:solidFill>
                <a:latin typeface="Calibri" pitchFamily="34" charset="0"/>
                <a:ea typeface="Calibri" pitchFamily="34" charset="-122"/>
                <a:cs typeface="Calibri" pitchFamily="34" charset="-120"/>
              </a:rPr>
              <a:t>Opens the hop on Submit. Waits for both specialists. Keeps the stricter label. Writes the stage or the assignment.</a:t>
            </a:r>
            <a:endParaRPr lang="en-US" sz="1300" dirty="0"/>
          </a:p>
        </p:txBody>
      </p:sp>
      <p:sp>
        <p:nvSpPr>
          <p:cNvPr id="10" name="Shape 8"/>
          <p:cNvSpPr/>
          <p:nvPr/>
        </p:nvSpPr>
        <p:spPr>
          <a:xfrm>
            <a:off x="4251960" y="1737360"/>
            <a:ext cx="3657600" cy="3063240"/>
          </a:xfrm>
          <a:prstGeom prst="roundRect">
            <a:avLst>
              <a:gd name="adj" fmla="val 2388"/>
            </a:avLst>
          </a:prstGeom>
          <a:solidFill>
            <a:srgbClr val="FFFFFF"/>
          </a:solidFill>
          <a:ln w="12700">
            <a:solidFill>
              <a:srgbClr val="D8D2C6"/>
            </a:solidFill>
            <a:prstDash val="solid"/>
          </a:ln>
        </p:spPr>
      </p:sp>
      <p:sp>
        <p:nvSpPr>
          <p:cNvPr id="11" name="Text 9"/>
          <p:cNvSpPr/>
          <p:nvPr/>
        </p:nvSpPr>
        <p:spPr>
          <a:xfrm>
            <a:off x="4453128" y="1874520"/>
            <a:ext cx="3246120" cy="411480"/>
          </a:xfrm>
          <a:prstGeom prst="rect">
            <a:avLst/>
          </a:prstGeom>
          <a:noFill/>
          <a:ln/>
        </p:spPr>
        <p:txBody>
          <a:bodyPr wrap="square" lIns="0" tIns="0" rIns="0" bIns="0" rtlCol="0" anchor="ctr"/>
          <a:lstStyle/>
          <a:p>
            <a:pPr indent="0" marL="0">
              <a:buNone/>
            </a:pPr>
            <a:r>
              <a:rPr lang="en-US" sz="1800" dirty="0">
                <a:solidFill>
                  <a:srgbClr val="0E1A24"/>
                </a:solidFill>
                <a:latin typeface="Georgia" pitchFamily="34" charset="0"/>
                <a:ea typeface="Georgia" pitchFamily="34" charset="-122"/>
                <a:cs typeface="Georgia" pitchFamily="34" charset="-120"/>
              </a:rPr>
              <a:t>Discount agent</a:t>
            </a:r>
            <a:endParaRPr lang="en-US" sz="1800" dirty="0"/>
          </a:p>
        </p:txBody>
      </p:sp>
      <p:sp>
        <p:nvSpPr>
          <p:cNvPr id="12" name="Text 10"/>
          <p:cNvSpPr/>
          <p:nvPr/>
        </p:nvSpPr>
        <p:spPr>
          <a:xfrm>
            <a:off x="4453128" y="2286000"/>
            <a:ext cx="3246120" cy="274320"/>
          </a:xfrm>
          <a:prstGeom prst="rect">
            <a:avLst/>
          </a:prstGeom>
          <a:noFill/>
          <a:ln/>
        </p:spPr>
        <p:txBody>
          <a:bodyPr wrap="square" lIns="0" tIns="0" rIns="0" bIns="0" rtlCol="0" anchor="ctr"/>
          <a:lstStyle/>
          <a:p>
            <a:pPr indent="0" marL="0">
              <a:buNone/>
            </a:pPr>
            <a:r>
              <a:rPr lang="en-US" sz="1100" b="1" spc="110" kern="0" dirty="0">
                <a:solidFill>
                  <a:srgbClr val="1D5C68"/>
                </a:solidFill>
                <a:latin typeface="Calibri" pitchFamily="34" charset="0"/>
                <a:ea typeface="Calibri" pitchFamily="34" charset="-122"/>
                <a:cs typeface="Calibri" pitchFamily="34" charset="-120"/>
              </a:rPr>
              <a:t>TOOL-USING</a:t>
            </a:r>
            <a:endParaRPr lang="en-US" sz="1100" dirty="0"/>
          </a:p>
        </p:txBody>
      </p:sp>
      <p:sp>
        <p:nvSpPr>
          <p:cNvPr id="13" name="Text 11"/>
          <p:cNvSpPr/>
          <p:nvPr/>
        </p:nvSpPr>
        <p:spPr>
          <a:xfrm>
            <a:off x="4453128" y="2697480"/>
            <a:ext cx="3246120" cy="1828800"/>
          </a:xfrm>
          <a:prstGeom prst="rect">
            <a:avLst/>
          </a:prstGeom>
          <a:noFill/>
          <a:ln/>
        </p:spPr>
        <p:txBody>
          <a:bodyPr wrap="square" lIns="0" tIns="0" rIns="0" bIns="0" rtlCol="0" anchor="ctr"/>
          <a:lstStyle/>
          <a:p>
            <a:pPr indent="0" marL="0">
              <a:buNone/>
            </a:pPr>
            <a:r>
              <a:rPr lang="en-US" sz="1300" dirty="0">
                <a:solidFill>
                  <a:srgbClr val="5E6E78"/>
                </a:solidFill>
                <a:latin typeface="Calibri" pitchFamily="34" charset="0"/>
                <a:ea typeface="Calibri" pitchFamily="34" charset="-122"/>
                <a:cs typeface="Calibri" pitchFamily="34" charset="-120"/>
              </a:rPr>
              <a:t>Reads the live discount book for segment and quote type, then the account file: closed years, peers for new logos, multi-year terms.</a:t>
            </a:r>
            <a:endParaRPr lang="en-US" sz="1300" dirty="0"/>
          </a:p>
        </p:txBody>
      </p:sp>
      <p:sp>
        <p:nvSpPr>
          <p:cNvPr id="14" name="Shape 12"/>
          <p:cNvSpPr/>
          <p:nvPr/>
        </p:nvSpPr>
        <p:spPr>
          <a:xfrm>
            <a:off x="8092440" y="1737360"/>
            <a:ext cx="3657600" cy="3063240"/>
          </a:xfrm>
          <a:prstGeom prst="roundRect">
            <a:avLst>
              <a:gd name="adj" fmla="val 2388"/>
            </a:avLst>
          </a:prstGeom>
          <a:solidFill>
            <a:srgbClr val="FFFFFF"/>
          </a:solidFill>
          <a:ln w="12700">
            <a:solidFill>
              <a:srgbClr val="D8D2C6"/>
            </a:solidFill>
            <a:prstDash val="solid"/>
          </a:ln>
        </p:spPr>
      </p:sp>
      <p:sp>
        <p:nvSpPr>
          <p:cNvPr id="15" name="Text 13"/>
          <p:cNvSpPr/>
          <p:nvPr/>
        </p:nvSpPr>
        <p:spPr>
          <a:xfrm>
            <a:off x="8293608" y="1874520"/>
            <a:ext cx="3246120" cy="411480"/>
          </a:xfrm>
          <a:prstGeom prst="rect">
            <a:avLst/>
          </a:prstGeom>
          <a:noFill/>
          <a:ln/>
        </p:spPr>
        <p:txBody>
          <a:bodyPr wrap="square" lIns="0" tIns="0" rIns="0" bIns="0" rtlCol="0" anchor="ctr"/>
          <a:lstStyle/>
          <a:p>
            <a:pPr indent="0" marL="0">
              <a:buNone/>
            </a:pPr>
            <a:r>
              <a:rPr lang="en-US" sz="1800" dirty="0">
                <a:solidFill>
                  <a:srgbClr val="0E1A24"/>
                </a:solidFill>
                <a:latin typeface="Georgia" pitchFamily="34" charset="0"/>
                <a:ea typeface="Georgia" pitchFamily="34" charset="-122"/>
                <a:cs typeface="Georgia" pitchFamily="34" charset="-120"/>
              </a:rPr>
              <a:t>Payment agent</a:t>
            </a:r>
            <a:endParaRPr lang="en-US" sz="1800" dirty="0"/>
          </a:p>
        </p:txBody>
      </p:sp>
      <p:sp>
        <p:nvSpPr>
          <p:cNvPr id="16" name="Text 14"/>
          <p:cNvSpPr/>
          <p:nvPr/>
        </p:nvSpPr>
        <p:spPr>
          <a:xfrm>
            <a:off x="8293608" y="2286000"/>
            <a:ext cx="3246120" cy="274320"/>
          </a:xfrm>
          <a:prstGeom prst="rect">
            <a:avLst/>
          </a:prstGeom>
          <a:noFill/>
          <a:ln/>
        </p:spPr>
        <p:txBody>
          <a:bodyPr wrap="square" lIns="0" tIns="0" rIns="0" bIns="0" rtlCol="0" anchor="ctr"/>
          <a:lstStyle/>
          <a:p>
            <a:pPr indent="0" marL="0">
              <a:buNone/>
            </a:pPr>
            <a:r>
              <a:rPr lang="en-US" sz="1100" b="1" spc="110" kern="0" dirty="0">
                <a:solidFill>
                  <a:srgbClr val="1D5C68"/>
                </a:solidFill>
                <a:latin typeface="Calibri" pitchFamily="34" charset="0"/>
                <a:ea typeface="Calibri" pitchFamily="34" charset="-122"/>
                <a:cs typeface="Calibri" pitchFamily="34" charset="-120"/>
              </a:rPr>
              <a:t>TOOL-USING</a:t>
            </a:r>
            <a:endParaRPr lang="en-US" sz="1100" dirty="0"/>
          </a:p>
        </p:txBody>
      </p:sp>
      <p:sp>
        <p:nvSpPr>
          <p:cNvPr id="17" name="Text 15"/>
          <p:cNvSpPr/>
          <p:nvPr/>
        </p:nvSpPr>
        <p:spPr>
          <a:xfrm>
            <a:off x="8293608" y="2697480"/>
            <a:ext cx="3246120" cy="1828800"/>
          </a:xfrm>
          <a:prstGeom prst="rect">
            <a:avLst/>
          </a:prstGeom>
          <a:noFill/>
          <a:ln/>
        </p:spPr>
        <p:txBody>
          <a:bodyPr wrap="square" lIns="0" tIns="0" rIns="0" bIns="0" rtlCol="0" anchor="ctr"/>
          <a:lstStyle/>
          <a:p>
            <a:pPr indent="0" marL="0">
              <a:buNone/>
            </a:pPr>
            <a:r>
              <a:rPr lang="en-US" sz="1300" dirty="0">
                <a:solidFill>
                  <a:srgbClr val="5E6E78"/>
                </a:solidFill>
                <a:latin typeface="Calibri" pitchFamily="34" charset="0"/>
                <a:ea typeface="Calibri" pitchFamily="34" charset="-122"/>
                <a:cs typeface="Calibri" pitchFamily="34" charset="-120"/>
              </a:rPr>
              <a:t>Reads the cash book and the receivables file. A worse term than last year, or open dues, is a hold — not a suggestion.</a:t>
            </a:r>
            <a:endParaRPr lang="en-US" sz="1300" dirty="0"/>
          </a:p>
        </p:txBody>
      </p:sp>
      <p:sp>
        <p:nvSpPr>
          <p:cNvPr id="18" name="Shape 16"/>
          <p:cNvSpPr/>
          <p:nvPr/>
        </p:nvSpPr>
        <p:spPr>
          <a:xfrm>
            <a:off x="411480" y="4937760"/>
            <a:ext cx="11338560" cy="1371600"/>
          </a:xfrm>
          <a:prstGeom prst="roundRect">
            <a:avLst>
              <a:gd name="adj" fmla="val 5333"/>
            </a:avLst>
          </a:prstGeom>
          <a:solidFill>
            <a:srgbClr val="0E1A24"/>
          </a:solidFill>
          <a:ln w="12700">
            <a:solidFill>
              <a:srgbClr val="D8D2C6"/>
            </a:solidFill>
            <a:prstDash val="solid"/>
          </a:ln>
        </p:spPr>
      </p:sp>
      <p:sp>
        <p:nvSpPr>
          <p:cNvPr id="19" name="Text 17"/>
          <p:cNvSpPr/>
          <p:nvPr/>
        </p:nvSpPr>
        <p:spPr>
          <a:xfrm>
            <a:off x="640080" y="5074920"/>
            <a:ext cx="1828800" cy="274320"/>
          </a:xfrm>
          <a:prstGeom prst="rect">
            <a:avLst/>
          </a:prstGeom>
          <a:noFill/>
          <a:ln/>
        </p:spPr>
        <p:txBody>
          <a:bodyPr wrap="square" lIns="0" tIns="0" rIns="0" bIns="0" rtlCol="0" anchor="ctr"/>
          <a:lstStyle/>
          <a:p>
            <a:pPr indent="0" marL="0">
              <a:buNone/>
            </a:pPr>
            <a:r>
              <a:rPr lang="en-US" sz="1200" b="1" dirty="0">
                <a:solidFill>
                  <a:srgbClr val="8FB8C0"/>
                </a:solidFill>
                <a:latin typeface="Calibri" pitchFamily="34" charset="0"/>
                <a:ea typeface="Calibri" pitchFamily="34" charset="-122"/>
                <a:cs typeface="Calibri" pitchFamily="34" charset="-120"/>
              </a:rPr>
              <a:t>Runtime</a:t>
            </a:r>
            <a:endParaRPr lang="en-US" sz="1200" dirty="0"/>
          </a:p>
        </p:txBody>
      </p:sp>
      <p:sp>
        <p:nvSpPr>
          <p:cNvPr id="20" name="Text 18"/>
          <p:cNvSpPr/>
          <p:nvPr/>
        </p:nvSpPr>
        <p:spPr>
          <a:xfrm>
            <a:off x="640080" y="5394960"/>
            <a:ext cx="10789920" cy="685800"/>
          </a:xfrm>
          <a:prstGeom prst="rect">
            <a:avLst/>
          </a:prstGeom>
          <a:noFill/>
          <a:ln/>
        </p:spPr>
        <p:txBody>
          <a:bodyPr wrap="square" lIns="0" tIns="0" rIns="0" bIns="0" rtlCol="0" anchor="ctr"/>
          <a:lstStyle/>
          <a:p>
            <a:pPr indent="0" marL="0">
              <a:buNone/>
            </a:pPr>
            <a:r>
              <a:rPr lang="en-US" sz="1400" dirty="0">
                <a:solidFill>
                  <a:srgbClr val="F7F4EE"/>
                </a:solidFill>
                <a:latin typeface="Calibri" pitchFamily="34" charset="0"/>
                <a:ea typeface="Calibri" pitchFamily="34" charset="-122"/>
                <a:cs typeface="Calibri" pitchFamily="34" charset="-120"/>
              </a:rPr>
              <a:t>Python 3.10  ·  LangGraph  ·  Pydantic. The graph is plan → discount and payment in parallel → combine → guardrail. Each node returns a typed object: decision, confidence, thought, cited rules. CrewAI was the other option. This build uses LangGraph.</a:t>
            </a:r>
            <a:endParaRPr lang="en-US" sz="1400" dirty="0"/>
          </a:p>
        </p:txBody>
      </p:sp>
      <p:sp>
        <p:nvSpPr>
          <p:cNvPr id="21" name="Shape 19"/>
          <p:cNvSpPr/>
          <p:nvPr/>
        </p:nvSpPr>
        <p:spPr>
          <a:xfrm>
            <a:off x="0" y="6601968"/>
            <a:ext cx="12188952" cy="256032"/>
          </a:xfrm>
          <a:prstGeom prst="rect">
            <a:avLst/>
          </a:prstGeom>
          <a:solidFill>
            <a:srgbClr val="0E1A24"/>
          </a:solidFill>
          <a:ln/>
        </p:spPr>
      </p:sp>
      <p:sp>
        <p:nvSpPr>
          <p:cNvPr id="22" name="Text 20"/>
          <p:cNvSpPr/>
          <p:nvPr/>
        </p:nvSpPr>
        <p:spPr>
          <a:xfrm>
            <a:off x="365760" y="6620256"/>
            <a:ext cx="7315200" cy="201168"/>
          </a:xfrm>
          <a:prstGeom prst="rect">
            <a:avLst/>
          </a:prstGeom>
          <a:noFill/>
          <a:ln/>
        </p:spPr>
        <p:txBody>
          <a:bodyPr wrap="square" lIns="0" tIns="0" rIns="0" bIns="0" rtlCol="0" anchor="ctr"/>
          <a:lstStyle/>
          <a:p>
            <a:pPr indent="0" marL="0">
              <a:buNone/>
            </a:pPr>
            <a:r>
              <a:rPr lang="en-US" sz="1000" dirty="0">
                <a:solidFill>
                  <a:srgbClr val="C9D4D8"/>
                </a:solidFill>
                <a:latin typeface="Calibri" pitchFamily="34" charset="0"/>
                <a:ea typeface="Calibri" pitchFamily="34" charset="-122"/>
                <a:cs typeface="Calibri" pitchFamily="34" charset="-120"/>
              </a:rPr>
              <a:t>DealFlow Approval Agents  ·  AIPM403F Capstone</a:t>
            </a:r>
            <a:endParaRPr lang="en-US" sz="1000" dirty="0"/>
          </a:p>
        </p:txBody>
      </p:sp>
      <p:sp>
        <p:nvSpPr>
          <p:cNvPr id="23" name="Text 21"/>
          <p:cNvSpPr/>
          <p:nvPr/>
        </p:nvSpPr>
        <p:spPr>
          <a:xfrm>
            <a:off x="10241280" y="6620256"/>
            <a:ext cx="1554480" cy="201168"/>
          </a:xfrm>
          <a:prstGeom prst="rect">
            <a:avLst/>
          </a:prstGeom>
          <a:noFill/>
          <a:ln/>
        </p:spPr>
        <p:txBody>
          <a:bodyPr wrap="square" lIns="0" tIns="0" rIns="0" bIns="0" rtlCol="0" anchor="ctr"/>
          <a:lstStyle/>
          <a:p>
            <a:pPr algn="r" indent="0" marL="0">
              <a:buNone/>
            </a:pPr>
            <a:r>
              <a:rPr lang="en-US" sz="1000" dirty="0">
                <a:solidFill>
                  <a:srgbClr val="C9D4D8"/>
                </a:solidFill>
                <a:latin typeface="Calibri" pitchFamily="34" charset="0"/>
                <a:ea typeface="Calibri" pitchFamily="34" charset="-122"/>
                <a:cs typeface="Calibri" pitchFamily="34" charset="-120"/>
              </a:rPr>
              <a:t>09 / 18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7F4EE"/>
          </a:solidFill>
          <a:ln/>
        </p:spPr>
      </p:sp>
      <p:sp>
        <p:nvSpPr>
          <p:cNvPr id="3" name="Text 1"/>
          <p:cNvSpPr/>
          <p:nvPr/>
        </p:nvSpPr>
        <p:spPr>
          <a:xfrm>
            <a:off x="411480" y="201168"/>
            <a:ext cx="11338560" cy="219456"/>
          </a:xfrm>
          <a:prstGeom prst="rect">
            <a:avLst/>
          </a:prstGeom>
          <a:noFill/>
          <a:ln/>
        </p:spPr>
        <p:txBody>
          <a:bodyPr wrap="square" lIns="0" tIns="0" rIns="0" bIns="0" rtlCol="0" anchor="ctr"/>
          <a:lstStyle/>
          <a:p>
            <a:pPr indent="0" marL="0">
              <a:buNone/>
            </a:pPr>
            <a:r>
              <a:rPr lang="en-US" sz="1100" b="1" spc="160" kern="0" dirty="0">
                <a:solidFill>
                  <a:srgbClr val="1D5C68"/>
                </a:solidFill>
                <a:latin typeface="Calibri" pitchFamily="34" charset="0"/>
                <a:ea typeface="Calibri" pitchFamily="34" charset="-122"/>
                <a:cs typeface="Calibri" pitchFamily="34" charset="-120"/>
              </a:rPr>
              <a:t>AGENT WORKFLOW AND COLLABORATION</a:t>
            </a:r>
            <a:endParaRPr lang="en-US" sz="1100" dirty="0"/>
          </a:p>
        </p:txBody>
      </p:sp>
      <p:sp>
        <p:nvSpPr>
          <p:cNvPr id="4" name="Text 2"/>
          <p:cNvSpPr/>
          <p:nvPr/>
        </p:nvSpPr>
        <p:spPr>
          <a:xfrm>
            <a:off x="411480" y="457200"/>
            <a:ext cx="11338560" cy="438912"/>
          </a:xfrm>
          <a:prstGeom prst="rect">
            <a:avLst/>
          </a:prstGeom>
          <a:noFill/>
          <a:ln/>
        </p:spPr>
        <p:txBody>
          <a:bodyPr wrap="square" lIns="0" tIns="0" rIns="0" bIns="0" rtlCol="0" anchor="ctr"/>
          <a:lstStyle/>
          <a:p>
            <a:pPr indent="0" marL="0">
              <a:buNone/>
            </a:pPr>
            <a:r>
              <a:rPr lang="en-US" sz="2600" dirty="0">
                <a:solidFill>
                  <a:srgbClr val="0E1A24"/>
                </a:solidFill>
                <a:latin typeface="Georgia" pitchFamily="34" charset="0"/>
                <a:ea typeface="Georgia" pitchFamily="34" charset="-122"/>
                <a:cs typeface="Georgia" pitchFamily="34" charset="-120"/>
              </a:rPr>
              <a:t>How the hop actually runs</a:t>
            </a:r>
            <a:endParaRPr lang="en-US" sz="2600" dirty="0"/>
          </a:p>
        </p:txBody>
      </p:sp>
      <p:sp>
        <p:nvSpPr>
          <p:cNvPr id="5" name="Shape 3"/>
          <p:cNvSpPr/>
          <p:nvPr/>
        </p:nvSpPr>
        <p:spPr>
          <a:xfrm>
            <a:off x="457200" y="1170432"/>
            <a:ext cx="438912" cy="438912"/>
          </a:xfrm>
          <a:prstGeom prst="ellipse">
            <a:avLst/>
          </a:prstGeom>
          <a:solidFill>
            <a:srgbClr val="1D5C68"/>
          </a:solidFill>
          <a:ln/>
        </p:spPr>
      </p:sp>
      <p:sp>
        <p:nvSpPr>
          <p:cNvPr id="6" name="Text 4"/>
          <p:cNvSpPr/>
          <p:nvPr/>
        </p:nvSpPr>
        <p:spPr>
          <a:xfrm>
            <a:off x="457200" y="1225296"/>
            <a:ext cx="438912" cy="329184"/>
          </a:xfrm>
          <a:prstGeom prst="rect">
            <a:avLst/>
          </a:prstGeom>
          <a:noFill/>
          <a:ln/>
        </p:spPr>
        <p:txBody>
          <a:bodyPr wrap="square" lIns="0" tIns="0" rIns="0" bIns="0" rtlCol="0" anchor="ctr"/>
          <a:lstStyle/>
          <a:p>
            <a:pPr algn="ctr" indent="0" marL="0">
              <a:buNone/>
            </a:pPr>
            <a:r>
              <a:rPr lang="en-US" sz="1400" b="1" dirty="0">
                <a:solidFill>
                  <a:srgbClr val="F7F4EE"/>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097280" y="1188720"/>
            <a:ext cx="2194560" cy="411480"/>
          </a:xfrm>
          <a:prstGeom prst="rect">
            <a:avLst/>
          </a:prstGeom>
          <a:noFill/>
          <a:ln/>
        </p:spPr>
        <p:txBody>
          <a:bodyPr wrap="square" lIns="0" tIns="0" rIns="0" bIns="0" rtlCol="0" anchor="ctr"/>
          <a:lstStyle/>
          <a:p>
            <a:pPr indent="0" marL="0">
              <a:buNone/>
            </a:pPr>
            <a:r>
              <a:rPr lang="en-US" sz="1500" b="1" dirty="0">
                <a:solidFill>
                  <a:srgbClr val="0E1A24"/>
                </a:solidFill>
                <a:latin typeface="Calibri" pitchFamily="34" charset="0"/>
                <a:ea typeface="Calibri" pitchFamily="34" charset="-122"/>
                <a:cs typeface="Calibri" pitchFamily="34" charset="-120"/>
              </a:rPr>
              <a:t>Seller</a:t>
            </a:r>
            <a:endParaRPr lang="en-US" sz="1500" dirty="0"/>
          </a:p>
        </p:txBody>
      </p:sp>
      <p:sp>
        <p:nvSpPr>
          <p:cNvPr id="8" name="Text 6"/>
          <p:cNvSpPr/>
          <p:nvPr/>
        </p:nvSpPr>
        <p:spPr>
          <a:xfrm>
            <a:off x="3383280" y="1188720"/>
            <a:ext cx="8321040" cy="411480"/>
          </a:xfrm>
          <a:prstGeom prst="rect">
            <a:avLst/>
          </a:prstGeom>
          <a:noFill/>
          <a:ln/>
        </p:spPr>
        <p:txBody>
          <a:bodyPr wrap="square" lIns="0" tIns="0" rIns="0" bIns="0" rtlCol="0" anchor="ctr"/>
          <a:lstStyle/>
          <a:p>
            <a:pPr indent="0" marL="0">
              <a:buNone/>
            </a:pPr>
            <a:r>
              <a:rPr lang="en-US" sz="1500" dirty="0">
                <a:solidFill>
                  <a:srgbClr val="5E6E78"/>
                </a:solidFill>
                <a:latin typeface="Calibri" pitchFamily="34" charset="0"/>
                <a:ea typeface="Calibri" pitchFamily="34" charset="-122"/>
                <a:cs typeface="Calibri" pitchFamily="34" charset="-120"/>
              </a:rPr>
              <a:t>Quote is still a draft. No agent has started.</a:t>
            </a:r>
            <a:endParaRPr lang="en-US" sz="1500" dirty="0"/>
          </a:p>
        </p:txBody>
      </p:sp>
      <p:sp>
        <p:nvSpPr>
          <p:cNvPr id="9" name="Shape 7"/>
          <p:cNvSpPr/>
          <p:nvPr/>
        </p:nvSpPr>
        <p:spPr>
          <a:xfrm>
            <a:off x="457200" y="1883664"/>
            <a:ext cx="438912" cy="438912"/>
          </a:xfrm>
          <a:prstGeom prst="ellipse">
            <a:avLst/>
          </a:prstGeom>
          <a:solidFill>
            <a:srgbClr val="1D5C68"/>
          </a:solidFill>
          <a:ln/>
        </p:spPr>
      </p:sp>
      <p:sp>
        <p:nvSpPr>
          <p:cNvPr id="10" name="Text 8"/>
          <p:cNvSpPr/>
          <p:nvPr/>
        </p:nvSpPr>
        <p:spPr>
          <a:xfrm>
            <a:off x="457200" y="1938528"/>
            <a:ext cx="438912" cy="329184"/>
          </a:xfrm>
          <a:prstGeom prst="rect">
            <a:avLst/>
          </a:prstGeom>
          <a:noFill/>
          <a:ln/>
        </p:spPr>
        <p:txBody>
          <a:bodyPr wrap="square" lIns="0" tIns="0" rIns="0" bIns="0" rtlCol="0" anchor="ctr"/>
          <a:lstStyle/>
          <a:p>
            <a:pPr algn="ctr" indent="0" marL="0">
              <a:buNone/>
            </a:pPr>
            <a:r>
              <a:rPr lang="en-US" sz="1400" b="1" dirty="0">
                <a:solidFill>
                  <a:srgbClr val="F7F4EE"/>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097280" y="1901952"/>
            <a:ext cx="2194560" cy="411480"/>
          </a:xfrm>
          <a:prstGeom prst="rect">
            <a:avLst/>
          </a:prstGeom>
          <a:noFill/>
          <a:ln/>
        </p:spPr>
        <p:txBody>
          <a:bodyPr wrap="square" lIns="0" tIns="0" rIns="0" bIns="0" rtlCol="0" anchor="ctr"/>
          <a:lstStyle/>
          <a:p>
            <a:pPr indent="0" marL="0">
              <a:buNone/>
            </a:pPr>
            <a:r>
              <a:rPr lang="en-US" sz="1500" b="1" dirty="0">
                <a:solidFill>
                  <a:srgbClr val="0E1A24"/>
                </a:solidFill>
                <a:latin typeface="Calibri" pitchFamily="34" charset="0"/>
                <a:ea typeface="Calibri" pitchFamily="34" charset="-122"/>
                <a:cs typeface="Calibri" pitchFamily="34" charset="-120"/>
              </a:rPr>
              <a:t>Orchestrator</a:t>
            </a:r>
            <a:endParaRPr lang="en-US" sz="1500" dirty="0"/>
          </a:p>
        </p:txBody>
      </p:sp>
      <p:sp>
        <p:nvSpPr>
          <p:cNvPr id="12" name="Text 10"/>
          <p:cNvSpPr/>
          <p:nvPr/>
        </p:nvSpPr>
        <p:spPr>
          <a:xfrm>
            <a:off x="3383280" y="1901952"/>
            <a:ext cx="8321040" cy="411480"/>
          </a:xfrm>
          <a:prstGeom prst="rect">
            <a:avLst/>
          </a:prstGeom>
          <a:noFill/>
          <a:ln/>
        </p:spPr>
        <p:txBody>
          <a:bodyPr wrap="square" lIns="0" tIns="0" rIns="0" bIns="0" rtlCol="0" anchor="ctr"/>
          <a:lstStyle/>
          <a:p>
            <a:pPr indent="0" marL="0">
              <a:buNone/>
            </a:pPr>
            <a:r>
              <a:rPr lang="en-US" sz="1500" dirty="0">
                <a:solidFill>
                  <a:srgbClr val="5E6E78"/>
                </a:solidFill>
                <a:latin typeface="Calibri" pitchFamily="34" charset="0"/>
                <a:ea typeface="Calibri" pitchFamily="34" charset="-122"/>
                <a:cs typeface="Calibri" pitchFamily="34" charset="-120"/>
              </a:rPr>
              <a:t>Submit opens the hop. Notes are scanned and not obeyed.</a:t>
            </a:r>
            <a:endParaRPr lang="en-US" sz="1500" dirty="0"/>
          </a:p>
        </p:txBody>
      </p:sp>
      <p:sp>
        <p:nvSpPr>
          <p:cNvPr id="13" name="Shape 11"/>
          <p:cNvSpPr/>
          <p:nvPr/>
        </p:nvSpPr>
        <p:spPr>
          <a:xfrm>
            <a:off x="457200" y="2596896"/>
            <a:ext cx="438912" cy="438912"/>
          </a:xfrm>
          <a:prstGeom prst="ellipse">
            <a:avLst/>
          </a:prstGeom>
          <a:solidFill>
            <a:srgbClr val="1D5C68"/>
          </a:solidFill>
          <a:ln/>
        </p:spPr>
      </p:sp>
      <p:sp>
        <p:nvSpPr>
          <p:cNvPr id="14" name="Text 12"/>
          <p:cNvSpPr/>
          <p:nvPr/>
        </p:nvSpPr>
        <p:spPr>
          <a:xfrm>
            <a:off x="457200" y="2651760"/>
            <a:ext cx="438912" cy="329184"/>
          </a:xfrm>
          <a:prstGeom prst="rect">
            <a:avLst/>
          </a:prstGeom>
          <a:noFill/>
          <a:ln/>
        </p:spPr>
        <p:txBody>
          <a:bodyPr wrap="square" lIns="0" tIns="0" rIns="0" bIns="0" rtlCol="0" anchor="ctr"/>
          <a:lstStyle/>
          <a:p>
            <a:pPr algn="ctr" indent="0" marL="0">
              <a:buNone/>
            </a:pPr>
            <a:r>
              <a:rPr lang="en-US" sz="1400" b="1" dirty="0">
                <a:solidFill>
                  <a:srgbClr val="F7F4EE"/>
                </a:solidFill>
                <a:latin typeface="Calibri" pitchFamily="34" charset="0"/>
                <a:ea typeface="Calibri" pitchFamily="34" charset="-122"/>
                <a:cs typeface="Calibri" pitchFamily="34" charset="-120"/>
              </a:rPr>
              <a:t>3</a:t>
            </a:r>
            <a:endParaRPr lang="en-US" sz="1400" dirty="0"/>
          </a:p>
        </p:txBody>
      </p:sp>
      <p:sp>
        <p:nvSpPr>
          <p:cNvPr id="15" name="Text 13"/>
          <p:cNvSpPr/>
          <p:nvPr/>
        </p:nvSpPr>
        <p:spPr>
          <a:xfrm>
            <a:off x="1097280" y="2615184"/>
            <a:ext cx="2194560" cy="411480"/>
          </a:xfrm>
          <a:prstGeom prst="rect">
            <a:avLst/>
          </a:prstGeom>
          <a:noFill/>
          <a:ln/>
        </p:spPr>
        <p:txBody>
          <a:bodyPr wrap="square" lIns="0" tIns="0" rIns="0" bIns="0" rtlCol="0" anchor="ctr"/>
          <a:lstStyle/>
          <a:p>
            <a:pPr indent="0" marL="0">
              <a:buNone/>
            </a:pPr>
            <a:r>
              <a:rPr lang="en-US" sz="1500" b="1" dirty="0">
                <a:solidFill>
                  <a:srgbClr val="0E1A24"/>
                </a:solidFill>
                <a:latin typeface="Calibri" pitchFamily="34" charset="0"/>
                <a:ea typeface="Calibri" pitchFamily="34" charset="-122"/>
                <a:cs typeface="Calibri" pitchFamily="34" charset="-120"/>
              </a:rPr>
              <a:t>Discount</a:t>
            </a:r>
            <a:endParaRPr lang="en-US" sz="1500" dirty="0"/>
          </a:p>
        </p:txBody>
      </p:sp>
      <p:sp>
        <p:nvSpPr>
          <p:cNvPr id="16" name="Text 14"/>
          <p:cNvSpPr/>
          <p:nvPr/>
        </p:nvSpPr>
        <p:spPr>
          <a:xfrm>
            <a:off x="3383280" y="2615184"/>
            <a:ext cx="8321040" cy="411480"/>
          </a:xfrm>
          <a:prstGeom prst="rect">
            <a:avLst/>
          </a:prstGeom>
          <a:noFill/>
          <a:ln/>
        </p:spPr>
        <p:txBody>
          <a:bodyPr wrap="square" lIns="0" tIns="0" rIns="0" bIns="0" rtlCol="0" anchor="ctr"/>
          <a:lstStyle/>
          <a:p>
            <a:pPr indent="0" marL="0">
              <a:buNone/>
            </a:pPr>
            <a:r>
              <a:rPr lang="en-US" sz="1500" dirty="0">
                <a:solidFill>
                  <a:srgbClr val="5E6E78"/>
                </a:solidFill>
                <a:latin typeface="Calibri" pitchFamily="34" charset="0"/>
                <a:ea typeface="Calibri" pitchFamily="34" charset="-122"/>
                <a:cs typeface="Calibri" pitchFamily="34" charset="-120"/>
              </a:rPr>
              <a:t>Reads the book and the account file. Writes one label.</a:t>
            </a:r>
            <a:endParaRPr lang="en-US" sz="1500" dirty="0"/>
          </a:p>
        </p:txBody>
      </p:sp>
      <p:sp>
        <p:nvSpPr>
          <p:cNvPr id="17" name="Shape 15"/>
          <p:cNvSpPr/>
          <p:nvPr/>
        </p:nvSpPr>
        <p:spPr>
          <a:xfrm>
            <a:off x="457200" y="3310128"/>
            <a:ext cx="438912" cy="438912"/>
          </a:xfrm>
          <a:prstGeom prst="ellipse">
            <a:avLst/>
          </a:prstGeom>
          <a:solidFill>
            <a:srgbClr val="1D5C68"/>
          </a:solidFill>
          <a:ln/>
        </p:spPr>
      </p:sp>
      <p:sp>
        <p:nvSpPr>
          <p:cNvPr id="18" name="Text 16"/>
          <p:cNvSpPr/>
          <p:nvPr/>
        </p:nvSpPr>
        <p:spPr>
          <a:xfrm>
            <a:off x="457200" y="3364992"/>
            <a:ext cx="438912" cy="329184"/>
          </a:xfrm>
          <a:prstGeom prst="rect">
            <a:avLst/>
          </a:prstGeom>
          <a:noFill/>
          <a:ln/>
        </p:spPr>
        <p:txBody>
          <a:bodyPr wrap="square" lIns="0" tIns="0" rIns="0" bIns="0" rtlCol="0" anchor="ctr"/>
          <a:lstStyle/>
          <a:p>
            <a:pPr algn="ctr" indent="0" marL="0">
              <a:buNone/>
            </a:pPr>
            <a:r>
              <a:rPr lang="en-US" sz="1400" b="1" dirty="0">
                <a:solidFill>
                  <a:srgbClr val="F7F4EE"/>
                </a:solidFill>
                <a:latin typeface="Calibri" pitchFamily="34" charset="0"/>
                <a:ea typeface="Calibri" pitchFamily="34" charset="-122"/>
                <a:cs typeface="Calibri" pitchFamily="34" charset="-120"/>
              </a:rPr>
              <a:t>4</a:t>
            </a:r>
            <a:endParaRPr lang="en-US" sz="1400" dirty="0"/>
          </a:p>
        </p:txBody>
      </p:sp>
      <p:sp>
        <p:nvSpPr>
          <p:cNvPr id="19" name="Text 17"/>
          <p:cNvSpPr/>
          <p:nvPr/>
        </p:nvSpPr>
        <p:spPr>
          <a:xfrm>
            <a:off x="1097280" y="3328416"/>
            <a:ext cx="2194560" cy="411480"/>
          </a:xfrm>
          <a:prstGeom prst="rect">
            <a:avLst/>
          </a:prstGeom>
          <a:noFill/>
          <a:ln/>
        </p:spPr>
        <p:txBody>
          <a:bodyPr wrap="square" lIns="0" tIns="0" rIns="0" bIns="0" rtlCol="0" anchor="ctr"/>
          <a:lstStyle/>
          <a:p>
            <a:pPr indent="0" marL="0">
              <a:buNone/>
            </a:pPr>
            <a:r>
              <a:rPr lang="en-US" sz="1500" b="1" dirty="0">
                <a:solidFill>
                  <a:srgbClr val="0E1A24"/>
                </a:solidFill>
                <a:latin typeface="Calibri" pitchFamily="34" charset="0"/>
                <a:ea typeface="Calibri" pitchFamily="34" charset="-122"/>
                <a:cs typeface="Calibri" pitchFamily="34" charset="-120"/>
              </a:rPr>
              <a:t>Payment</a:t>
            </a:r>
            <a:endParaRPr lang="en-US" sz="1500" dirty="0"/>
          </a:p>
        </p:txBody>
      </p:sp>
      <p:sp>
        <p:nvSpPr>
          <p:cNvPr id="20" name="Text 18"/>
          <p:cNvSpPr/>
          <p:nvPr/>
        </p:nvSpPr>
        <p:spPr>
          <a:xfrm>
            <a:off x="3383280" y="3328416"/>
            <a:ext cx="8321040" cy="411480"/>
          </a:xfrm>
          <a:prstGeom prst="rect">
            <a:avLst/>
          </a:prstGeom>
          <a:noFill/>
          <a:ln/>
        </p:spPr>
        <p:txBody>
          <a:bodyPr wrap="square" lIns="0" tIns="0" rIns="0" bIns="0" rtlCol="0" anchor="ctr"/>
          <a:lstStyle/>
          <a:p>
            <a:pPr indent="0" marL="0">
              <a:buNone/>
            </a:pPr>
            <a:r>
              <a:rPr lang="en-US" sz="1500" dirty="0">
                <a:solidFill>
                  <a:srgbClr val="5E6E78"/>
                </a:solidFill>
                <a:latin typeface="Calibri" pitchFamily="34" charset="0"/>
                <a:ea typeface="Calibri" pitchFamily="34" charset="-122"/>
                <a:cs typeface="Calibri" pitchFamily="34" charset="-120"/>
              </a:rPr>
              <a:t>Reads the cash book and dues. Writes one label.</a:t>
            </a:r>
            <a:endParaRPr lang="en-US" sz="1500" dirty="0"/>
          </a:p>
        </p:txBody>
      </p:sp>
      <p:sp>
        <p:nvSpPr>
          <p:cNvPr id="21" name="Shape 19"/>
          <p:cNvSpPr/>
          <p:nvPr/>
        </p:nvSpPr>
        <p:spPr>
          <a:xfrm>
            <a:off x="457200" y="4023360"/>
            <a:ext cx="438912" cy="438912"/>
          </a:xfrm>
          <a:prstGeom prst="ellipse">
            <a:avLst/>
          </a:prstGeom>
          <a:solidFill>
            <a:srgbClr val="1D5C68"/>
          </a:solidFill>
          <a:ln/>
        </p:spPr>
      </p:sp>
      <p:sp>
        <p:nvSpPr>
          <p:cNvPr id="22" name="Text 20"/>
          <p:cNvSpPr/>
          <p:nvPr/>
        </p:nvSpPr>
        <p:spPr>
          <a:xfrm>
            <a:off x="457200" y="4078224"/>
            <a:ext cx="438912" cy="329184"/>
          </a:xfrm>
          <a:prstGeom prst="rect">
            <a:avLst/>
          </a:prstGeom>
          <a:noFill/>
          <a:ln/>
        </p:spPr>
        <p:txBody>
          <a:bodyPr wrap="square" lIns="0" tIns="0" rIns="0" bIns="0" rtlCol="0" anchor="ctr"/>
          <a:lstStyle/>
          <a:p>
            <a:pPr algn="ctr" indent="0" marL="0">
              <a:buNone/>
            </a:pPr>
            <a:r>
              <a:rPr lang="en-US" sz="1400" b="1" dirty="0">
                <a:solidFill>
                  <a:srgbClr val="F7F4EE"/>
                </a:solidFill>
                <a:latin typeface="Calibri" pitchFamily="34" charset="0"/>
                <a:ea typeface="Calibri" pitchFamily="34" charset="-122"/>
                <a:cs typeface="Calibri" pitchFamily="34" charset="-120"/>
              </a:rPr>
              <a:t>5</a:t>
            </a:r>
            <a:endParaRPr lang="en-US" sz="1400" dirty="0"/>
          </a:p>
        </p:txBody>
      </p:sp>
      <p:sp>
        <p:nvSpPr>
          <p:cNvPr id="23" name="Text 21"/>
          <p:cNvSpPr/>
          <p:nvPr/>
        </p:nvSpPr>
        <p:spPr>
          <a:xfrm>
            <a:off x="1097280" y="4041648"/>
            <a:ext cx="2194560" cy="411480"/>
          </a:xfrm>
          <a:prstGeom prst="rect">
            <a:avLst/>
          </a:prstGeom>
          <a:noFill/>
          <a:ln/>
        </p:spPr>
        <p:txBody>
          <a:bodyPr wrap="square" lIns="0" tIns="0" rIns="0" bIns="0" rtlCol="0" anchor="ctr"/>
          <a:lstStyle/>
          <a:p>
            <a:pPr indent="0" marL="0">
              <a:buNone/>
            </a:pPr>
            <a:r>
              <a:rPr lang="en-US" sz="1500" b="1" dirty="0">
                <a:solidFill>
                  <a:srgbClr val="0E1A24"/>
                </a:solidFill>
                <a:latin typeface="Calibri" pitchFamily="34" charset="0"/>
                <a:ea typeface="Calibri" pitchFamily="34" charset="-122"/>
                <a:cs typeface="Calibri" pitchFamily="34" charset="-120"/>
              </a:rPr>
              <a:t>Orchestrator</a:t>
            </a:r>
            <a:endParaRPr lang="en-US" sz="1500" dirty="0"/>
          </a:p>
        </p:txBody>
      </p:sp>
      <p:sp>
        <p:nvSpPr>
          <p:cNvPr id="24" name="Text 22"/>
          <p:cNvSpPr/>
          <p:nvPr/>
        </p:nvSpPr>
        <p:spPr>
          <a:xfrm>
            <a:off x="3383280" y="4041648"/>
            <a:ext cx="8321040" cy="411480"/>
          </a:xfrm>
          <a:prstGeom prst="rect">
            <a:avLst/>
          </a:prstGeom>
          <a:noFill/>
          <a:ln/>
        </p:spPr>
        <p:txBody>
          <a:bodyPr wrap="square" lIns="0" tIns="0" rIns="0" bIns="0" rtlCol="0" anchor="ctr"/>
          <a:lstStyle/>
          <a:p>
            <a:pPr indent="0" marL="0">
              <a:buNone/>
            </a:pPr>
            <a:r>
              <a:rPr lang="en-US" sz="1500" dirty="0">
                <a:solidFill>
                  <a:srgbClr val="5E6E78"/>
                </a:solidFill>
                <a:latin typeface="Calibri" pitchFamily="34" charset="0"/>
                <a:ea typeface="Calibri" pitchFamily="34" charset="-122"/>
                <a:cs typeface="Calibri" pitchFamily="34" charset="-120"/>
              </a:rPr>
              <a:t>Reject beats Escalate. Escalate beats Approve.</a:t>
            </a:r>
            <a:endParaRPr lang="en-US" sz="1500" dirty="0"/>
          </a:p>
        </p:txBody>
      </p:sp>
      <p:sp>
        <p:nvSpPr>
          <p:cNvPr id="25" name="Shape 23"/>
          <p:cNvSpPr/>
          <p:nvPr/>
        </p:nvSpPr>
        <p:spPr>
          <a:xfrm>
            <a:off x="457200" y="4736592"/>
            <a:ext cx="438912" cy="438912"/>
          </a:xfrm>
          <a:prstGeom prst="ellipse">
            <a:avLst/>
          </a:prstGeom>
          <a:solidFill>
            <a:srgbClr val="1D5C68"/>
          </a:solidFill>
          <a:ln/>
        </p:spPr>
      </p:sp>
      <p:sp>
        <p:nvSpPr>
          <p:cNvPr id="26" name="Text 24"/>
          <p:cNvSpPr/>
          <p:nvPr/>
        </p:nvSpPr>
        <p:spPr>
          <a:xfrm>
            <a:off x="457200" y="4791456"/>
            <a:ext cx="438912" cy="329184"/>
          </a:xfrm>
          <a:prstGeom prst="rect">
            <a:avLst/>
          </a:prstGeom>
          <a:noFill/>
          <a:ln/>
        </p:spPr>
        <p:txBody>
          <a:bodyPr wrap="square" lIns="0" tIns="0" rIns="0" bIns="0" rtlCol="0" anchor="ctr"/>
          <a:lstStyle/>
          <a:p>
            <a:pPr algn="ctr" indent="0" marL="0">
              <a:buNone/>
            </a:pPr>
            <a:r>
              <a:rPr lang="en-US" sz="1400" b="1" dirty="0">
                <a:solidFill>
                  <a:srgbClr val="F7F4EE"/>
                </a:solidFill>
                <a:latin typeface="Calibri" pitchFamily="34" charset="0"/>
                <a:ea typeface="Calibri" pitchFamily="34" charset="-122"/>
                <a:cs typeface="Calibri" pitchFamily="34" charset="-120"/>
              </a:rPr>
              <a:t>6</a:t>
            </a:r>
            <a:endParaRPr lang="en-US" sz="1400" dirty="0"/>
          </a:p>
        </p:txBody>
      </p:sp>
      <p:sp>
        <p:nvSpPr>
          <p:cNvPr id="27" name="Text 25"/>
          <p:cNvSpPr/>
          <p:nvPr/>
        </p:nvSpPr>
        <p:spPr>
          <a:xfrm>
            <a:off x="1097280" y="4754880"/>
            <a:ext cx="2194560" cy="411480"/>
          </a:xfrm>
          <a:prstGeom prst="rect">
            <a:avLst/>
          </a:prstGeom>
          <a:noFill/>
          <a:ln/>
        </p:spPr>
        <p:txBody>
          <a:bodyPr wrap="square" lIns="0" tIns="0" rIns="0" bIns="0" rtlCol="0" anchor="ctr"/>
          <a:lstStyle/>
          <a:p>
            <a:pPr indent="0" marL="0">
              <a:buNone/>
            </a:pPr>
            <a:r>
              <a:rPr lang="en-US" sz="1500" b="1" dirty="0">
                <a:solidFill>
                  <a:srgbClr val="0E1A24"/>
                </a:solidFill>
                <a:latin typeface="Calibri" pitchFamily="34" charset="0"/>
                <a:ea typeface="Calibri" pitchFamily="34" charset="-122"/>
                <a:cs typeface="Calibri" pitchFamily="34" charset="-120"/>
              </a:rPr>
              <a:t>Guardrail</a:t>
            </a:r>
            <a:endParaRPr lang="en-US" sz="1500" dirty="0"/>
          </a:p>
        </p:txBody>
      </p:sp>
      <p:sp>
        <p:nvSpPr>
          <p:cNvPr id="28" name="Text 26"/>
          <p:cNvSpPr/>
          <p:nvPr/>
        </p:nvSpPr>
        <p:spPr>
          <a:xfrm>
            <a:off x="3383280" y="4754880"/>
            <a:ext cx="8321040" cy="411480"/>
          </a:xfrm>
          <a:prstGeom prst="rect">
            <a:avLst/>
          </a:prstGeom>
          <a:noFill/>
          <a:ln/>
        </p:spPr>
        <p:txBody>
          <a:bodyPr wrap="square" lIns="0" tIns="0" rIns="0" bIns="0" rtlCol="0" anchor="ctr"/>
          <a:lstStyle/>
          <a:p>
            <a:pPr indent="0" marL="0">
              <a:buNone/>
            </a:pPr>
            <a:r>
              <a:rPr lang="en-US" sz="1500" dirty="0">
                <a:solidFill>
                  <a:srgbClr val="5E6E78"/>
                </a:solidFill>
                <a:latin typeface="Calibri" pitchFamily="34" charset="0"/>
                <a:ea typeface="Calibri" pitchFamily="34" charset="-122"/>
                <a:cs typeface="Calibri" pitchFamily="34" charset="-120"/>
              </a:rPr>
              <a:t>A note cannot force Approve. No citation forces a hold.</a:t>
            </a:r>
            <a:endParaRPr lang="en-US" sz="1500" dirty="0"/>
          </a:p>
        </p:txBody>
      </p:sp>
      <p:sp>
        <p:nvSpPr>
          <p:cNvPr id="29" name="Shape 27"/>
          <p:cNvSpPr/>
          <p:nvPr/>
        </p:nvSpPr>
        <p:spPr>
          <a:xfrm>
            <a:off x="457200" y="5449824"/>
            <a:ext cx="438912" cy="438912"/>
          </a:xfrm>
          <a:prstGeom prst="ellipse">
            <a:avLst/>
          </a:prstGeom>
          <a:solidFill>
            <a:srgbClr val="1D5C68"/>
          </a:solidFill>
          <a:ln/>
        </p:spPr>
      </p:sp>
      <p:sp>
        <p:nvSpPr>
          <p:cNvPr id="30" name="Text 28"/>
          <p:cNvSpPr/>
          <p:nvPr/>
        </p:nvSpPr>
        <p:spPr>
          <a:xfrm>
            <a:off x="457200" y="5504688"/>
            <a:ext cx="438912" cy="329184"/>
          </a:xfrm>
          <a:prstGeom prst="rect">
            <a:avLst/>
          </a:prstGeom>
          <a:noFill/>
          <a:ln/>
        </p:spPr>
        <p:txBody>
          <a:bodyPr wrap="square" lIns="0" tIns="0" rIns="0" bIns="0" rtlCol="0" anchor="ctr"/>
          <a:lstStyle/>
          <a:p>
            <a:pPr algn="ctr" indent="0" marL="0">
              <a:buNone/>
            </a:pPr>
            <a:r>
              <a:rPr lang="en-US" sz="1400" b="1" dirty="0">
                <a:solidFill>
                  <a:srgbClr val="F7F4EE"/>
                </a:solidFill>
                <a:latin typeface="Calibri" pitchFamily="34" charset="0"/>
                <a:ea typeface="Calibri" pitchFamily="34" charset="-122"/>
                <a:cs typeface="Calibri" pitchFamily="34" charset="-120"/>
              </a:rPr>
              <a:t>7</a:t>
            </a:r>
            <a:endParaRPr lang="en-US" sz="1400" dirty="0"/>
          </a:p>
        </p:txBody>
      </p:sp>
      <p:sp>
        <p:nvSpPr>
          <p:cNvPr id="31" name="Text 29"/>
          <p:cNvSpPr/>
          <p:nvPr/>
        </p:nvSpPr>
        <p:spPr>
          <a:xfrm>
            <a:off x="1097280" y="5468112"/>
            <a:ext cx="2194560" cy="411480"/>
          </a:xfrm>
          <a:prstGeom prst="rect">
            <a:avLst/>
          </a:prstGeom>
          <a:noFill/>
          <a:ln/>
        </p:spPr>
        <p:txBody>
          <a:bodyPr wrap="square" lIns="0" tIns="0" rIns="0" bIns="0" rtlCol="0" anchor="ctr"/>
          <a:lstStyle/>
          <a:p>
            <a:pPr indent="0" marL="0">
              <a:buNone/>
            </a:pPr>
            <a:r>
              <a:rPr lang="en-US" sz="1500" b="1" dirty="0">
                <a:solidFill>
                  <a:srgbClr val="0E1A24"/>
                </a:solidFill>
                <a:latin typeface="Calibri" pitchFamily="34" charset="0"/>
                <a:ea typeface="Calibri" pitchFamily="34" charset="-122"/>
                <a:cs typeface="Calibri" pitchFamily="34" charset="-120"/>
              </a:rPr>
              <a:t>Write-back</a:t>
            </a:r>
            <a:endParaRPr lang="en-US" sz="1500" dirty="0"/>
          </a:p>
        </p:txBody>
      </p:sp>
      <p:sp>
        <p:nvSpPr>
          <p:cNvPr id="32" name="Text 30"/>
          <p:cNvSpPr/>
          <p:nvPr/>
        </p:nvSpPr>
        <p:spPr>
          <a:xfrm>
            <a:off x="3383280" y="5468112"/>
            <a:ext cx="8321040" cy="411480"/>
          </a:xfrm>
          <a:prstGeom prst="rect">
            <a:avLst/>
          </a:prstGeom>
          <a:noFill/>
          <a:ln/>
        </p:spPr>
        <p:txBody>
          <a:bodyPr wrap="square" lIns="0" tIns="0" rIns="0" bIns="0" rtlCol="0" anchor="ctr"/>
          <a:lstStyle/>
          <a:p>
            <a:pPr indent="0" marL="0">
              <a:buNone/>
            </a:pPr>
            <a:r>
              <a:rPr lang="en-US" sz="1500" dirty="0">
                <a:solidFill>
                  <a:srgbClr val="5E6E78"/>
                </a:solidFill>
                <a:latin typeface="Calibri" pitchFamily="34" charset="0"/>
                <a:ea typeface="Calibri" pitchFamily="34" charset="-122"/>
                <a:cs typeface="Calibri" pitchFamily="34" charset="-120"/>
              </a:rPr>
              <a:t>Approved, or a named person with an SLA.</a:t>
            </a:r>
            <a:endParaRPr lang="en-US" sz="1500" dirty="0"/>
          </a:p>
        </p:txBody>
      </p:sp>
      <p:sp>
        <p:nvSpPr>
          <p:cNvPr id="33" name="Shape 31"/>
          <p:cNvSpPr/>
          <p:nvPr/>
        </p:nvSpPr>
        <p:spPr>
          <a:xfrm>
            <a:off x="0" y="6601968"/>
            <a:ext cx="12188952" cy="256032"/>
          </a:xfrm>
          <a:prstGeom prst="rect">
            <a:avLst/>
          </a:prstGeom>
          <a:solidFill>
            <a:srgbClr val="0E1A24"/>
          </a:solidFill>
          <a:ln/>
        </p:spPr>
      </p:sp>
      <p:sp>
        <p:nvSpPr>
          <p:cNvPr id="34" name="Text 32"/>
          <p:cNvSpPr/>
          <p:nvPr/>
        </p:nvSpPr>
        <p:spPr>
          <a:xfrm>
            <a:off x="365760" y="6620256"/>
            <a:ext cx="7315200" cy="201168"/>
          </a:xfrm>
          <a:prstGeom prst="rect">
            <a:avLst/>
          </a:prstGeom>
          <a:noFill/>
          <a:ln/>
        </p:spPr>
        <p:txBody>
          <a:bodyPr wrap="square" lIns="0" tIns="0" rIns="0" bIns="0" rtlCol="0" anchor="ctr"/>
          <a:lstStyle/>
          <a:p>
            <a:pPr indent="0" marL="0">
              <a:buNone/>
            </a:pPr>
            <a:r>
              <a:rPr lang="en-US" sz="1000" dirty="0">
                <a:solidFill>
                  <a:srgbClr val="C9D4D8"/>
                </a:solidFill>
                <a:latin typeface="Calibri" pitchFamily="34" charset="0"/>
                <a:ea typeface="Calibri" pitchFamily="34" charset="-122"/>
                <a:cs typeface="Calibri" pitchFamily="34" charset="-120"/>
              </a:rPr>
              <a:t>DealFlow Approval Agents  ·  AIPM403F Capstone</a:t>
            </a:r>
            <a:endParaRPr lang="en-US" sz="1000" dirty="0"/>
          </a:p>
        </p:txBody>
      </p:sp>
      <p:sp>
        <p:nvSpPr>
          <p:cNvPr id="35" name="Text 33"/>
          <p:cNvSpPr/>
          <p:nvPr/>
        </p:nvSpPr>
        <p:spPr>
          <a:xfrm>
            <a:off x="10241280" y="6620256"/>
            <a:ext cx="1554480" cy="201168"/>
          </a:xfrm>
          <a:prstGeom prst="rect">
            <a:avLst/>
          </a:prstGeom>
          <a:noFill/>
          <a:ln/>
        </p:spPr>
        <p:txBody>
          <a:bodyPr wrap="square" lIns="0" tIns="0" rIns="0" bIns="0" rtlCol="0" anchor="ctr"/>
          <a:lstStyle/>
          <a:p>
            <a:pPr algn="r" indent="0" marL="0">
              <a:buNone/>
            </a:pPr>
            <a:r>
              <a:rPr lang="en-US" sz="1000" dirty="0">
                <a:solidFill>
                  <a:srgbClr val="C9D4D8"/>
                </a:solidFill>
                <a:latin typeface="Calibri" pitchFamily="34" charset="0"/>
                <a:ea typeface="Calibri" pitchFamily="34" charset="-122"/>
                <a:cs typeface="Calibri" pitchFamily="34" charset="-120"/>
              </a:rPr>
              <a:t>10 / 18</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7F4EE"/>
          </a:solidFill>
          <a:ln/>
        </p:spPr>
      </p:sp>
      <p:sp>
        <p:nvSpPr>
          <p:cNvPr id="3" name="Text 1"/>
          <p:cNvSpPr/>
          <p:nvPr/>
        </p:nvSpPr>
        <p:spPr>
          <a:xfrm>
            <a:off x="411480" y="201168"/>
            <a:ext cx="11338560" cy="219456"/>
          </a:xfrm>
          <a:prstGeom prst="rect">
            <a:avLst/>
          </a:prstGeom>
          <a:noFill/>
          <a:ln/>
        </p:spPr>
        <p:txBody>
          <a:bodyPr wrap="square" lIns="0" tIns="0" rIns="0" bIns="0" rtlCol="0" anchor="ctr"/>
          <a:lstStyle/>
          <a:p>
            <a:pPr indent="0" marL="0">
              <a:buNone/>
            </a:pPr>
            <a:r>
              <a:rPr lang="en-US" sz="1100" b="1" spc="160" kern="0" dirty="0">
                <a:solidFill>
                  <a:srgbClr val="1D5C68"/>
                </a:solidFill>
                <a:latin typeface="Calibri" pitchFamily="34" charset="0"/>
                <a:ea typeface="Calibri" pitchFamily="34" charset="-122"/>
                <a:cs typeface="Calibri" pitchFamily="34" charset="-120"/>
              </a:rPr>
              <a:t>WORKFLOW SIMULATION AND VALIDATION</a:t>
            </a:r>
            <a:endParaRPr lang="en-US" sz="1100" dirty="0"/>
          </a:p>
        </p:txBody>
      </p:sp>
      <p:sp>
        <p:nvSpPr>
          <p:cNvPr id="4" name="Text 2"/>
          <p:cNvSpPr/>
          <p:nvPr/>
        </p:nvSpPr>
        <p:spPr>
          <a:xfrm>
            <a:off x="411480" y="457200"/>
            <a:ext cx="11338560" cy="438912"/>
          </a:xfrm>
          <a:prstGeom prst="rect">
            <a:avLst/>
          </a:prstGeom>
          <a:noFill/>
          <a:ln/>
        </p:spPr>
        <p:txBody>
          <a:bodyPr wrap="square" lIns="0" tIns="0" rIns="0" bIns="0" rtlCol="0" anchor="ctr"/>
          <a:lstStyle/>
          <a:p>
            <a:pPr indent="0" marL="0">
              <a:buNone/>
            </a:pPr>
            <a:r>
              <a:rPr lang="en-US" sz="2600" dirty="0">
                <a:solidFill>
                  <a:srgbClr val="0E1A24"/>
                </a:solidFill>
                <a:latin typeface="Georgia" pitchFamily="34" charset="0"/>
                <a:ea typeface="Georgia" pitchFamily="34" charset="-122"/>
                <a:cs typeface="Georgia" pitchFamily="34" charset="-120"/>
              </a:rPr>
              <a:t>Four real quotes from the golden set</a:t>
            </a:r>
            <a:endParaRPr lang="en-US" sz="2600" dirty="0"/>
          </a:p>
        </p:txBody>
      </p:sp>
      <p:sp>
        <p:nvSpPr>
          <p:cNvPr id="5" name="Shape 3"/>
          <p:cNvSpPr/>
          <p:nvPr/>
        </p:nvSpPr>
        <p:spPr>
          <a:xfrm>
            <a:off x="411480" y="1234440"/>
            <a:ext cx="11338560" cy="1115568"/>
          </a:xfrm>
          <a:prstGeom prst="roundRect">
            <a:avLst>
              <a:gd name="adj" fmla="val 6557"/>
            </a:avLst>
          </a:prstGeom>
          <a:solidFill>
            <a:srgbClr val="FFFFFF"/>
          </a:solidFill>
          <a:ln w="12700">
            <a:solidFill>
              <a:srgbClr val="D8D2C6"/>
            </a:solidFill>
            <a:prstDash val="solid"/>
          </a:ln>
        </p:spPr>
      </p:sp>
      <p:sp>
        <p:nvSpPr>
          <p:cNvPr id="6" name="Shape 4"/>
          <p:cNvSpPr/>
          <p:nvPr/>
        </p:nvSpPr>
        <p:spPr>
          <a:xfrm>
            <a:off x="594360" y="1527048"/>
            <a:ext cx="1554480" cy="502920"/>
          </a:xfrm>
          <a:prstGeom prst="roundRect">
            <a:avLst>
              <a:gd name="adj" fmla="val 10909"/>
            </a:avLst>
          </a:prstGeom>
          <a:solidFill>
            <a:srgbClr val="2F6A4F"/>
          </a:solidFill>
          <a:ln/>
        </p:spPr>
      </p:sp>
      <p:sp>
        <p:nvSpPr>
          <p:cNvPr id="7" name="Text 5"/>
          <p:cNvSpPr/>
          <p:nvPr/>
        </p:nvSpPr>
        <p:spPr>
          <a:xfrm>
            <a:off x="594360" y="1600200"/>
            <a:ext cx="1554480" cy="365760"/>
          </a:xfrm>
          <a:prstGeom prst="rect">
            <a:avLst/>
          </a:prstGeom>
          <a:noFill/>
          <a:ln/>
        </p:spPr>
        <p:txBody>
          <a:bodyPr wrap="square" lIns="0" tIns="0" rIns="0" bIns="0" rtlCol="0" anchor="ctr"/>
          <a:lstStyle/>
          <a:p>
            <a:pPr algn="ctr" indent="0" marL="0">
              <a:buNone/>
            </a:pPr>
            <a:r>
              <a:rPr lang="en-US" sz="1200" b="1" dirty="0">
                <a:solidFill>
                  <a:srgbClr val="F7F4EE"/>
                </a:solidFill>
                <a:latin typeface="Calibri" pitchFamily="34" charset="0"/>
                <a:ea typeface="Calibri" pitchFamily="34" charset="-122"/>
                <a:cs typeface="Calibri" pitchFamily="34" charset="-120"/>
              </a:rPr>
              <a:t>Approve</a:t>
            </a:r>
            <a:endParaRPr lang="en-US" sz="1200" dirty="0"/>
          </a:p>
        </p:txBody>
      </p:sp>
      <p:sp>
        <p:nvSpPr>
          <p:cNvPr id="8" name="Text 6"/>
          <p:cNvSpPr/>
          <p:nvPr/>
        </p:nvSpPr>
        <p:spPr>
          <a:xfrm>
            <a:off x="2377440" y="1371600"/>
            <a:ext cx="8961120" cy="320040"/>
          </a:xfrm>
          <a:prstGeom prst="rect">
            <a:avLst/>
          </a:prstGeom>
          <a:noFill/>
          <a:ln/>
        </p:spPr>
        <p:txBody>
          <a:bodyPr wrap="square" lIns="0" tIns="0" rIns="0" bIns="0" rtlCol="0" anchor="ctr"/>
          <a:lstStyle/>
          <a:p>
            <a:pPr indent="0" marL="0">
              <a:buNone/>
            </a:pPr>
            <a:r>
              <a:rPr lang="en-US" sz="1500" b="1" dirty="0">
                <a:solidFill>
                  <a:srgbClr val="0E1A24"/>
                </a:solidFill>
                <a:latin typeface="Calibri" pitchFamily="34" charset="0"/>
                <a:ea typeface="Calibri" pitchFamily="34" charset="-122"/>
                <a:cs typeface="Calibri" pitchFamily="34" charset="-120"/>
              </a:rPr>
              <a:t>Northwind  ·  Renewal</a:t>
            </a:r>
            <a:endParaRPr lang="en-US" sz="1500" dirty="0"/>
          </a:p>
        </p:txBody>
      </p:sp>
      <p:sp>
        <p:nvSpPr>
          <p:cNvPr id="9" name="Text 7"/>
          <p:cNvSpPr/>
          <p:nvPr/>
        </p:nvSpPr>
        <p:spPr>
          <a:xfrm>
            <a:off x="2377440" y="1709928"/>
            <a:ext cx="8961120" cy="502920"/>
          </a:xfrm>
          <a:prstGeom prst="rect">
            <a:avLst/>
          </a:prstGeom>
          <a:noFill/>
          <a:ln/>
        </p:spPr>
        <p:txBody>
          <a:bodyPr wrap="square" lIns="0" tIns="0" rIns="0" bIns="0" rtlCol="0" anchor="ctr"/>
          <a:lstStyle/>
          <a:p>
            <a:pPr indent="0" marL="0">
              <a:buNone/>
            </a:pPr>
            <a:r>
              <a:rPr lang="en-US" sz="1300" dirty="0">
                <a:solidFill>
                  <a:srgbClr val="5E6E78"/>
                </a:solidFill>
                <a:latin typeface="Calibri" pitchFamily="34" charset="0"/>
                <a:ea typeface="Calibri" pitchFamily="34" charset="-122"/>
                <a:cs typeface="Calibri" pitchFamily="34" charset="-120"/>
              </a:rPr>
              <a:t>17.8% sits inside the 22% Enterprise renewal ceiling. Credit Strong, $0 overdue. History 15 → 16 → 17.</a:t>
            </a:r>
            <a:endParaRPr lang="en-US" sz="1300" dirty="0"/>
          </a:p>
        </p:txBody>
      </p:sp>
      <p:sp>
        <p:nvSpPr>
          <p:cNvPr id="10" name="Shape 8"/>
          <p:cNvSpPr/>
          <p:nvPr/>
        </p:nvSpPr>
        <p:spPr>
          <a:xfrm>
            <a:off x="411480" y="2468880"/>
            <a:ext cx="11338560" cy="1115568"/>
          </a:xfrm>
          <a:prstGeom prst="roundRect">
            <a:avLst>
              <a:gd name="adj" fmla="val 6557"/>
            </a:avLst>
          </a:prstGeom>
          <a:solidFill>
            <a:srgbClr val="FFFFFF"/>
          </a:solidFill>
          <a:ln w="12700">
            <a:solidFill>
              <a:srgbClr val="D8D2C6"/>
            </a:solidFill>
            <a:prstDash val="solid"/>
          </a:ln>
        </p:spPr>
      </p:sp>
      <p:sp>
        <p:nvSpPr>
          <p:cNvPr id="11" name="Shape 9"/>
          <p:cNvSpPr/>
          <p:nvPr/>
        </p:nvSpPr>
        <p:spPr>
          <a:xfrm>
            <a:off x="594360" y="2761488"/>
            <a:ext cx="1554480" cy="502920"/>
          </a:xfrm>
          <a:prstGeom prst="roundRect">
            <a:avLst>
              <a:gd name="adj" fmla="val 10909"/>
            </a:avLst>
          </a:prstGeom>
          <a:solidFill>
            <a:srgbClr val="8A6A3B"/>
          </a:solidFill>
          <a:ln/>
        </p:spPr>
      </p:sp>
      <p:sp>
        <p:nvSpPr>
          <p:cNvPr id="12" name="Text 10"/>
          <p:cNvSpPr/>
          <p:nvPr/>
        </p:nvSpPr>
        <p:spPr>
          <a:xfrm>
            <a:off x="594360" y="2834640"/>
            <a:ext cx="1554480" cy="365760"/>
          </a:xfrm>
          <a:prstGeom prst="rect">
            <a:avLst/>
          </a:prstGeom>
          <a:noFill/>
          <a:ln/>
        </p:spPr>
        <p:txBody>
          <a:bodyPr wrap="square" lIns="0" tIns="0" rIns="0" bIns="0" rtlCol="0" anchor="ctr"/>
          <a:lstStyle/>
          <a:p>
            <a:pPr algn="ctr" indent="0" marL="0">
              <a:buNone/>
            </a:pPr>
            <a:r>
              <a:rPr lang="en-US" sz="1200" b="1" dirty="0">
                <a:solidFill>
                  <a:srgbClr val="F7F4EE"/>
                </a:solidFill>
                <a:latin typeface="Calibri" pitchFamily="34" charset="0"/>
                <a:ea typeface="Calibri" pitchFamily="34" charset="-122"/>
                <a:cs typeface="Calibri" pitchFamily="34" charset="-120"/>
              </a:rPr>
              <a:t>Escalate</a:t>
            </a:r>
            <a:endParaRPr lang="en-US" sz="1200" dirty="0"/>
          </a:p>
        </p:txBody>
      </p:sp>
      <p:sp>
        <p:nvSpPr>
          <p:cNvPr id="13" name="Text 11"/>
          <p:cNvSpPr/>
          <p:nvPr/>
        </p:nvSpPr>
        <p:spPr>
          <a:xfrm>
            <a:off x="2377440" y="2606040"/>
            <a:ext cx="8961120" cy="320040"/>
          </a:xfrm>
          <a:prstGeom prst="rect">
            <a:avLst/>
          </a:prstGeom>
          <a:noFill/>
          <a:ln/>
        </p:spPr>
        <p:txBody>
          <a:bodyPr wrap="square" lIns="0" tIns="0" rIns="0" bIns="0" rtlCol="0" anchor="ctr"/>
          <a:lstStyle/>
          <a:p>
            <a:pPr indent="0" marL="0">
              <a:buNone/>
            </a:pPr>
            <a:r>
              <a:rPr lang="en-US" sz="1500" b="1" dirty="0">
                <a:solidFill>
                  <a:srgbClr val="0E1A24"/>
                </a:solidFill>
                <a:latin typeface="Calibri" pitchFamily="34" charset="0"/>
                <a:ea typeface="Calibri" pitchFamily="34" charset="-122"/>
                <a:cs typeface="Calibri" pitchFamily="34" charset="-120"/>
              </a:rPr>
              <a:t>Harbor &amp; Co.  ·  Renewal</a:t>
            </a:r>
            <a:endParaRPr lang="en-US" sz="1500" dirty="0"/>
          </a:p>
        </p:txBody>
      </p:sp>
      <p:sp>
        <p:nvSpPr>
          <p:cNvPr id="14" name="Text 12"/>
          <p:cNvSpPr/>
          <p:nvPr/>
        </p:nvSpPr>
        <p:spPr>
          <a:xfrm>
            <a:off x="2377440" y="2944368"/>
            <a:ext cx="8961120" cy="502920"/>
          </a:xfrm>
          <a:prstGeom prst="rect">
            <a:avLst/>
          </a:prstGeom>
          <a:noFill/>
          <a:ln/>
        </p:spPr>
        <p:txBody>
          <a:bodyPr wrap="square" lIns="0" tIns="0" rIns="0" bIns="0" rtlCol="0" anchor="ctr"/>
          <a:lstStyle/>
          <a:p>
            <a:pPr indent="0" marL="0">
              <a:buNone/>
            </a:pPr>
            <a:r>
              <a:rPr lang="en-US" sz="1300" dirty="0">
                <a:solidFill>
                  <a:srgbClr val="5E6E78"/>
                </a:solidFill>
                <a:latin typeface="Calibri" pitchFamily="34" charset="0"/>
                <a:ea typeface="Calibri" pitchFamily="34" charset="-122"/>
                <a:cs typeface="Calibri" pitchFamily="34" charset="-120"/>
              </a:rPr>
              <a:t>Discount is ordinary. Terms move Net-30 to Net-90, and $18,400 is 22 days past due. Deal Desk, 24h.</a:t>
            </a:r>
            <a:endParaRPr lang="en-US" sz="1300" dirty="0"/>
          </a:p>
        </p:txBody>
      </p:sp>
      <p:sp>
        <p:nvSpPr>
          <p:cNvPr id="15" name="Shape 13"/>
          <p:cNvSpPr/>
          <p:nvPr/>
        </p:nvSpPr>
        <p:spPr>
          <a:xfrm>
            <a:off x="411480" y="3703320"/>
            <a:ext cx="11338560" cy="1115568"/>
          </a:xfrm>
          <a:prstGeom prst="roundRect">
            <a:avLst>
              <a:gd name="adj" fmla="val 6557"/>
            </a:avLst>
          </a:prstGeom>
          <a:solidFill>
            <a:srgbClr val="FFFFFF"/>
          </a:solidFill>
          <a:ln w="12700">
            <a:solidFill>
              <a:srgbClr val="D8D2C6"/>
            </a:solidFill>
            <a:prstDash val="solid"/>
          </a:ln>
        </p:spPr>
      </p:sp>
      <p:sp>
        <p:nvSpPr>
          <p:cNvPr id="16" name="Shape 14"/>
          <p:cNvSpPr/>
          <p:nvPr/>
        </p:nvSpPr>
        <p:spPr>
          <a:xfrm>
            <a:off x="594360" y="3995928"/>
            <a:ext cx="1554480" cy="502920"/>
          </a:xfrm>
          <a:prstGeom prst="roundRect">
            <a:avLst>
              <a:gd name="adj" fmla="val 10909"/>
            </a:avLst>
          </a:prstGeom>
          <a:solidFill>
            <a:srgbClr val="9A3B3B"/>
          </a:solidFill>
          <a:ln/>
        </p:spPr>
      </p:sp>
      <p:sp>
        <p:nvSpPr>
          <p:cNvPr id="17" name="Text 15"/>
          <p:cNvSpPr/>
          <p:nvPr/>
        </p:nvSpPr>
        <p:spPr>
          <a:xfrm>
            <a:off x="594360" y="4069080"/>
            <a:ext cx="1554480" cy="365760"/>
          </a:xfrm>
          <a:prstGeom prst="rect">
            <a:avLst/>
          </a:prstGeom>
          <a:noFill/>
          <a:ln/>
        </p:spPr>
        <p:txBody>
          <a:bodyPr wrap="square" lIns="0" tIns="0" rIns="0" bIns="0" rtlCol="0" anchor="ctr"/>
          <a:lstStyle/>
          <a:p>
            <a:pPr algn="ctr" indent="0" marL="0">
              <a:buNone/>
            </a:pPr>
            <a:r>
              <a:rPr lang="en-US" sz="1200" b="1" dirty="0">
                <a:solidFill>
                  <a:srgbClr val="F7F4EE"/>
                </a:solidFill>
                <a:latin typeface="Calibri" pitchFamily="34" charset="0"/>
                <a:ea typeface="Calibri" pitchFamily="34" charset="-122"/>
                <a:cs typeface="Calibri" pitchFamily="34" charset="-120"/>
              </a:rPr>
              <a:t>Reject</a:t>
            </a:r>
            <a:endParaRPr lang="en-US" sz="1200" dirty="0"/>
          </a:p>
        </p:txBody>
      </p:sp>
      <p:sp>
        <p:nvSpPr>
          <p:cNvPr id="18" name="Text 16"/>
          <p:cNvSpPr/>
          <p:nvPr/>
        </p:nvSpPr>
        <p:spPr>
          <a:xfrm>
            <a:off x="2377440" y="3840480"/>
            <a:ext cx="8961120" cy="320040"/>
          </a:xfrm>
          <a:prstGeom prst="rect">
            <a:avLst/>
          </a:prstGeom>
          <a:noFill/>
          <a:ln/>
        </p:spPr>
        <p:txBody>
          <a:bodyPr wrap="square" lIns="0" tIns="0" rIns="0" bIns="0" rtlCol="0" anchor="ctr"/>
          <a:lstStyle/>
          <a:p>
            <a:pPr indent="0" marL="0">
              <a:buNone/>
            </a:pPr>
            <a:r>
              <a:rPr lang="en-US" sz="1500" b="1" dirty="0">
                <a:solidFill>
                  <a:srgbClr val="0E1A24"/>
                </a:solidFill>
                <a:latin typeface="Calibri" pitchFamily="34" charset="0"/>
                <a:ea typeface="Calibri" pitchFamily="34" charset="-122"/>
                <a:cs typeface="Calibri" pitchFamily="34" charset="-120"/>
              </a:rPr>
              <a:t>Pinnacle Health  ·  Expansion</a:t>
            </a:r>
            <a:endParaRPr lang="en-US" sz="1500" dirty="0"/>
          </a:p>
        </p:txBody>
      </p:sp>
      <p:sp>
        <p:nvSpPr>
          <p:cNvPr id="19" name="Text 17"/>
          <p:cNvSpPr/>
          <p:nvPr/>
        </p:nvSpPr>
        <p:spPr>
          <a:xfrm>
            <a:off x="2377440" y="4178808"/>
            <a:ext cx="8961120" cy="502920"/>
          </a:xfrm>
          <a:prstGeom prst="rect">
            <a:avLst/>
          </a:prstGeom>
          <a:noFill/>
          <a:ln/>
        </p:spPr>
        <p:txBody>
          <a:bodyPr wrap="square" lIns="0" tIns="0" rIns="0" bIns="0" rtlCol="0" anchor="ctr"/>
          <a:lstStyle/>
          <a:p>
            <a:pPr indent="0" marL="0">
              <a:buNone/>
            </a:pPr>
            <a:r>
              <a:rPr lang="en-US" sz="1300" dirty="0">
                <a:solidFill>
                  <a:srgbClr val="5E6E78"/>
                </a:solidFill>
                <a:latin typeface="Calibri" pitchFamily="34" charset="0"/>
                <a:ea typeface="Calibri" pitchFamily="34" charset="-122"/>
                <a:cs typeface="Calibri" pitchFamily="34" charset="-120"/>
              </a:rPr>
              <a:t>History is 18, 20, 22. The ask is past the exception ceiling. Credit is clean. Price is why it fails.</a:t>
            </a:r>
            <a:endParaRPr lang="en-US" sz="1300" dirty="0"/>
          </a:p>
        </p:txBody>
      </p:sp>
      <p:sp>
        <p:nvSpPr>
          <p:cNvPr id="20" name="Shape 18"/>
          <p:cNvSpPr/>
          <p:nvPr/>
        </p:nvSpPr>
        <p:spPr>
          <a:xfrm>
            <a:off x="411480" y="4937760"/>
            <a:ext cx="11338560" cy="1115568"/>
          </a:xfrm>
          <a:prstGeom prst="roundRect">
            <a:avLst>
              <a:gd name="adj" fmla="val 6557"/>
            </a:avLst>
          </a:prstGeom>
          <a:solidFill>
            <a:srgbClr val="FFFFFF"/>
          </a:solidFill>
          <a:ln w="12700">
            <a:solidFill>
              <a:srgbClr val="D8D2C6"/>
            </a:solidFill>
            <a:prstDash val="solid"/>
          </a:ln>
        </p:spPr>
      </p:sp>
      <p:sp>
        <p:nvSpPr>
          <p:cNvPr id="21" name="Shape 19"/>
          <p:cNvSpPr/>
          <p:nvPr/>
        </p:nvSpPr>
        <p:spPr>
          <a:xfrm>
            <a:off x="594360" y="5230368"/>
            <a:ext cx="1554480" cy="502920"/>
          </a:xfrm>
          <a:prstGeom prst="roundRect">
            <a:avLst>
              <a:gd name="adj" fmla="val 10909"/>
            </a:avLst>
          </a:prstGeom>
          <a:solidFill>
            <a:srgbClr val="9A3B3B"/>
          </a:solidFill>
          <a:ln/>
        </p:spPr>
      </p:sp>
      <p:sp>
        <p:nvSpPr>
          <p:cNvPr id="22" name="Text 20"/>
          <p:cNvSpPr/>
          <p:nvPr/>
        </p:nvSpPr>
        <p:spPr>
          <a:xfrm>
            <a:off x="594360" y="5303520"/>
            <a:ext cx="1554480" cy="365760"/>
          </a:xfrm>
          <a:prstGeom prst="rect">
            <a:avLst/>
          </a:prstGeom>
          <a:noFill/>
          <a:ln/>
        </p:spPr>
        <p:txBody>
          <a:bodyPr wrap="square" lIns="0" tIns="0" rIns="0" bIns="0" rtlCol="0" anchor="ctr"/>
          <a:lstStyle/>
          <a:p>
            <a:pPr algn="ctr" indent="0" marL="0">
              <a:buNone/>
            </a:pPr>
            <a:r>
              <a:rPr lang="en-US" sz="1200" b="1" dirty="0">
                <a:solidFill>
                  <a:srgbClr val="F7F4EE"/>
                </a:solidFill>
                <a:latin typeface="Calibri" pitchFamily="34" charset="0"/>
                <a:ea typeface="Calibri" pitchFamily="34" charset="-122"/>
                <a:cs typeface="Calibri" pitchFamily="34" charset="-120"/>
              </a:rPr>
              <a:t>Reject</a:t>
            </a:r>
            <a:endParaRPr lang="en-US" sz="1200" dirty="0"/>
          </a:p>
        </p:txBody>
      </p:sp>
      <p:sp>
        <p:nvSpPr>
          <p:cNvPr id="23" name="Text 21"/>
          <p:cNvSpPr/>
          <p:nvPr/>
        </p:nvSpPr>
        <p:spPr>
          <a:xfrm>
            <a:off x="2377440" y="5074920"/>
            <a:ext cx="8961120" cy="320040"/>
          </a:xfrm>
          <a:prstGeom prst="rect">
            <a:avLst/>
          </a:prstGeom>
          <a:noFill/>
          <a:ln/>
        </p:spPr>
        <p:txBody>
          <a:bodyPr wrap="square" lIns="0" tIns="0" rIns="0" bIns="0" rtlCol="0" anchor="ctr"/>
          <a:lstStyle/>
          <a:p>
            <a:pPr indent="0" marL="0">
              <a:buNone/>
            </a:pPr>
            <a:r>
              <a:rPr lang="en-US" sz="1500" b="1" dirty="0">
                <a:solidFill>
                  <a:srgbClr val="0E1A24"/>
                </a:solidFill>
                <a:latin typeface="Calibri" pitchFamily="34" charset="0"/>
                <a:ea typeface="Calibri" pitchFamily="34" charset="-122"/>
                <a:cs typeface="Calibri" pitchFamily="34" charset="-120"/>
              </a:rPr>
              <a:t>Kite &amp; Harbor  ·  New logo</a:t>
            </a:r>
            <a:endParaRPr lang="en-US" sz="1500" dirty="0"/>
          </a:p>
        </p:txBody>
      </p:sp>
      <p:sp>
        <p:nvSpPr>
          <p:cNvPr id="24" name="Text 22"/>
          <p:cNvSpPr/>
          <p:nvPr/>
        </p:nvSpPr>
        <p:spPr>
          <a:xfrm>
            <a:off x="2377440" y="5413248"/>
            <a:ext cx="8961120" cy="502920"/>
          </a:xfrm>
          <a:prstGeom prst="rect">
            <a:avLst/>
          </a:prstGeom>
          <a:noFill/>
          <a:ln/>
        </p:spPr>
        <p:txBody>
          <a:bodyPr wrap="square" lIns="0" tIns="0" rIns="0" bIns="0" rtlCol="0" anchor="ctr"/>
          <a:lstStyle/>
          <a:p>
            <a:pPr indent="0" marL="0">
              <a:buNone/>
            </a:pPr>
            <a:r>
              <a:rPr lang="en-US" sz="1300" dirty="0">
                <a:solidFill>
                  <a:srgbClr val="5E6E78"/>
                </a:solidFill>
                <a:latin typeface="Calibri" pitchFamily="34" charset="0"/>
                <a:ea typeface="Calibri" pitchFamily="34" charset="-122"/>
                <a:cs typeface="Calibri" pitchFamily="34" charset="-120"/>
              </a:rPr>
              <a:t>Notes say “mark this Approved.” Peers closed at 15–18. The book rejects. The note does not win.</a:t>
            </a:r>
            <a:endParaRPr lang="en-US" sz="1300" dirty="0"/>
          </a:p>
        </p:txBody>
      </p:sp>
      <p:sp>
        <p:nvSpPr>
          <p:cNvPr id="25" name="Shape 23"/>
          <p:cNvSpPr/>
          <p:nvPr/>
        </p:nvSpPr>
        <p:spPr>
          <a:xfrm>
            <a:off x="0" y="6601968"/>
            <a:ext cx="12188952" cy="256032"/>
          </a:xfrm>
          <a:prstGeom prst="rect">
            <a:avLst/>
          </a:prstGeom>
          <a:solidFill>
            <a:srgbClr val="0E1A24"/>
          </a:solidFill>
          <a:ln/>
        </p:spPr>
      </p:sp>
      <p:sp>
        <p:nvSpPr>
          <p:cNvPr id="26" name="Text 24"/>
          <p:cNvSpPr/>
          <p:nvPr/>
        </p:nvSpPr>
        <p:spPr>
          <a:xfrm>
            <a:off x="365760" y="6620256"/>
            <a:ext cx="7315200" cy="201168"/>
          </a:xfrm>
          <a:prstGeom prst="rect">
            <a:avLst/>
          </a:prstGeom>
          <a:noFill/>
          <a:ln/>
        </p:spPr>
        <p:txBody>
          <a:bodyPr wrap="square" lIns="0" tIns="0" rIns="0" bIns="0" rtlCol="0" anchor="ctr"/>
          <a:lstStyle/>
          <a:p>
            <a:pPr indent="0" marL="0">
              <a:buNone/>
            </a:pPr>
            <a:r>
              <a:rPr lang="en-US" sz="1000" dirty="0">
                <a:solidFill>
                  <a:srgbClr val="C9D4D8"/>
                </a:solidFill>
                <a:latin typeface="Calibri" pitchFamily="34" charset="0"/>
                <a:ea typeface="Calibri" pitchFamily="34" charset="-122"/>
                <a:cs typeface="Calibri" pitchFamily="34" charset="-120"/>
              </a:rPr>
              <a:t>DealFlow Approval Agents  ·  AIPM403F Capstone</a:t>
            </a:r>
            <a:endParaRPr lang="en-US" sz="1000" dirty="0"/>
          </a:p>
        </p:txBody>
      </p:sp>
      <p:sp>
        <p:nvSpPr>
          <p:cNvPr id="27" name="Text 25"/>
          <p:cNvSpPr/>
          <p:nvPr/>
        </p:nvSpPr>
        <p:spPr>
          <a:xfrm>
            <a:off x="10241280" y="6620256"/>
            <a:ext cx="1554480" cy="201168"/>
          </a:xfrm>
          <a:prstGeom prst="rect">
            <a:avLst/>
          </a:prstGeom>
          <a:noFill/>
          <a:ln/>
        </p:spPr>
        <p:txBody>
          <a:bodyPr wrap="square" lIns="0" tIns="0" rIns="0" bIns="0" rtlCol="0" anchor="ctr"/>
          <a:lstStyle/>
          <a:p>
            <a:pPr algn="r" indent="0" marL="0">
              <a:buNone/>
            </a:pPr>
            <a:r>
              <a:rPr lang="en-US" sz="1000" dirty="0">
                <a:solidFill>
                  <a:srgbClr val="C9D4D8"/>
                </a:solidFill>
                <a:latin typeface="Calibri" pitchFamily="34" charset="0"/>
                <a:ea typeface="Calibri" pitchFamily="34" charset="-122"/>
                <a:cs typeface="Calibri" pitchFamily="34" charset="-120"/>
              </a:rPr>
              <a:t>11 / 18</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7F4EE"/>
          </a:solidFill>
          <a:ln/>
        </p:spPr>
      </p:sp>
      <p:sp>
        <p:nvSpPr>
          <p:cNvPr id="3" name="Text 1"/>
          <p:cNvSpPr/>
          <p:nvPr/>
        </p:nvSpPr>
        <p:spPr>
          <a:xfrm>
            <a:off x="411480" y="201168"/>
            <a:ext cx="11338560" cy="219456"/>
          </a:xfrm>
          <a:prstGeom prst="rect">
            <a:avLst/>
          </a:prstGeom>
          <a:noFill/>
          <a:ln/>
        </p:spPr>
        <p:txBody>
          <a:bodyPr wrap="square" lIns="0" tIns="0" rIns="0" bIns="0" rtlCol="0" anchor="ctr"/>
          <a:lstStyle/>
          <a:p>
            <a:pPr indent="0" marL="0">
              <a:buNone/>
            </a:pPr>
            <a:r>
              <a:rPr lang="en-US" sz="1100" b="1" spc="160" kern="0" dirty="0">
                <a:solidFill>
                  <a:srgbClr val="1D5C68"/>
                </a:solidFill>
                <a:latin typeface="Calibri" pitchFamily="34" charset="0"/>
                <a:ea typeface="Calibri" pitchFamily="34" charset="-122"/>
                <a:cs typeface="Calibri" pitchFamily="34" charset="-120"/>
              </a:rPr>
              <a:t>HOW A SCORE IS BUILT</a:t>
            </a:r>
            <a:endParaRPr lang="en-US" sz="1100" dirty="0"/>
          </a:p>
        </p:txBody>
      </p:sp>
      <p:sp>
        <p:nvSpPr>
          <p:cNvPr id="4" name="Text 2"/>
          <p:cNvSpPr/>
          <p:nvPr/>
        </p:nvSpPr>
        <p:spPr>
          <a:xfrm>
            <a:off x="411480" y="457200"/>
            <a:ext cx="11338560" cy="438912"/>
          </a:xfrm>
          <a:prstGeom prst="rect">
            <a:avLst/>
          </a:prstGeom>
          <a:noFill/>
          <a:ln/>
        </p:spPr>
        <p:txBody>
          <a:bodyPr wrap="square" lIns="0" tIns="0" rIns="0" bIns="0" rtlCol="0" anchor="ctr"/>
          <a:lstStyle/>
          <a:p>
            <a:pPr indent="0" marL="0">
              <a:buNone/>
            </a:pPr>
            <a:r>
              <a:rPr lang="en-US" sz="2600" dirty="0">
                <a:solidFill>
                  <a:srgbClr val="0E1A24"/>
                </a:solidFill>
                <a:latin typeface="Georgia" pitchFamily="34" charset="0"/>
                <a:ea typeface="Georgia" pitchFamily="34" charset="-122"/>
                <a:cs typeface="Georgia" pitchFamily="34" charset="-120"/>
              </a:rPr>
              <a:t>88% and 89% are arithmetic, not labels</a:t>
            </a:r>
            <a:endParaRPr lang="en-US" sz="2600" dirty="0"/>
          </a:p>
        </p:txBody>
      </p:sp>
      <p:sp>
        <p:nvSpPr>
          <p:cNvPr id="5" name="Shape 3"/>
          <p:cNvSpPr/>
          <p:nvPr/>
        </p:nvSpPr>
        <p:spPr>
          <a:xfrm>
            <a:off x="411480" y="1234440"/>
            <a:ext cx="3657600" cy="4937760"/>
          </a:xfrm>
          <a:prstGeom prst="roundRect">
            <a:avLst>
              <a:gd name="adj" fmla="val 2000"/>
            </a:avLst>
          </a:prstGeom>
          <a:solidFill>
            <a:srgbClr val="FFFFFF"/>
          </a:solidFill>
          <a:ln w="12700">
            <a:solidFill>
              <a:srgbClr val="D8D2C6"/>
            </a:solidFill>
            <a:prstDash val="solid"/>
          </a:ln>
        </p:spPr>
      </p:sp>
      <p:sp>
        <p:nvSpPr>
          <p:cNvPr id="6" name="Text 4"/>
          <p:cNvSpPr/>
          <p:nvPr/>
        </p:nvSpPr>
        <p:spPr>
          <a:xfrm>
            <a:off x="612648" y="1371600"/>
            <a:ext cx="3246120" cy="411480"/>
          </a:xfrm>
          <a:prstGeom prst="rect">
            <a:avLst/>
          </a:prstGeom>
          <a:noFill/>
          <a:ln/>
        </p:spPr>
        <p:txBody>
          <a:bodyPr wrap="square" lIns="0" tIns="0" rIns="0" bIns="0" rtlCol="0" anchor="ctr"/>
          <a:lstStyle/>
          <a:p>
            <a:pPr indent="0" marL="0">
              <a:buNone/>
            </a:pPr>
            <a:r>
              <a:rPr lang="en-US" sz="1600" dirty="0">
                <a:solidFill>
                  <a:srgbClr val="1D5C68"/>
                </a:solidFill>
                <a:latin typeface="Georgia" pitchFamily="34" charset="0"/>
                <a:ea typeface="Georgia" pitchFamily="34" charset="-122"/>
                <a:cs typeface="Georgia" pitchFamily="34" charset="-120"/>
              </a:rPr>
              <a:t>Discount agent</a:t>
            </a:r>
            <a:endParaRPr lang="en-US" sz="1600" dirty="0"/>
          </a:p>
        </p:txBody>
      </p:sp>
      <p:sp>
        <p:nvSpPr>
          <p:cNvPr id="7" name="Text 5"/>
          <p:cNvSpPr/>
          <p:nvPr/>
        </p:nvSpPr>
        <p:spPr>
          <a:xfrm>
            <a:off x="612648" y="1920240"/>
            <a:ext cx="3246120" cy="3931920"/>
          </a:xfrm>
          <a:prstGeom prst="rect">
            <a:avLst/>
          </a:prstGeom>
          <a:noFill/>
          <a:ln/>
        </p:spPr>
        <p:txBody>
          <a:bodyPr wrap="square" lIns="0" tIns="0" rIns="0" bIns="0" rtlCol="0" anchor="ctr"/>
          <a:lstStyle/>
          <a:p>
            <a:pPr indent="0" marL="0">
              <a:buNone/>
            </a:pPr>
            <a:r>
              <a:rPr lang="en-US" sz="1300" dirty="0">
                <a:solidFill>
                  <a:srgbClr val="0E1A24"/>
                </a:solidFill>
                <a:latin typeface="Calibri" pitchFamily="34" charset="0"/>
                <a:ea typeface="Calibri" pitchFamily="34" charset="-122"/>
                <a:cs typeface="Calibri" pitchFamily="34" charset="-120"/>
              </a:rPr>
              <a:t>Starts at 88.</a:t>
            </a:r>
            <a:endParaRPr lang="en-US" sz="1300" dirty="0"/>
          </a:p>
          <a:p>
            <a:pPr indent="0" marL="0">
              <a:buNone/>
            </a:pPr>
            <a:r>
              <a:rPr lang="en-US" sz="1300" dirty="0">
                <a:solidFill>
                  <a:srgbClr val="0E1A24"/>
                </a:solidFill>
                <a:latin typeface="Calibri" pitchFamily="34" charset="0"/>
                <a:ea typeface="Calibri" pitchFamily="34" charset="-122"/>
                <a:cs typeface="Calibri" pitchFamily="34" charset="-120"/>
              </a:rPr>
              <a:t>−18 over the standard ceiling</a:t>
            </a:r>
            <a:endParaRPr lang="en-US" sz="1300" dirty="0"/>
          </a:p>
          <a:p>
            <a:pPr indent="0" marL="0">
              <a:buNone/>
            </a:pPr>
            <a:r>
              <a:rPr lang="en-US" sz="1300" dirty="0">
                <a:solidFill>
                  <a:srgbClr val="0E1A24"/>
                </a:solidFill>
                <a:latin typeface="Calibri" pitchFamily="34" charset="0"/>
                <a:ea typeface="Calibri" pitchFamily="34" charset="-122"/>
                <a:cs typeface="Calibri" pitchFamily="34" charset="-120"/>
              </a:rPr>
              <a:t>−45 past the exception ceiling</a:t>
            </a:r>
            <a:endParaRPr lang="en-US" sz="1300" dirty="0"/>
          </a:p>
          <a:p>
            <a:pPr indent="0" marL="0">
              <a:buNone/>
            </a:pPr>
            <a:r>
              <a:rPr lang="en-US" sz="1300" dirty="0">
                <a:solidFill>
                  <a:srgbClr val="0E1A24"/>
                </a:solidFill>
                <a:latin typeface="Calibri" pitchFamily="34" charset="0"/>
                <a:ea typeface="Calibri" pitchFamily="34" charset="-122"/>
                <a:cs typeface="Calibri" pitchFamily="34" charset="-120"/>
              </a:rPr>
              <a:t>−15 jump over the allowed step</a:t>
            </a:r>
            <a:endParaRPr lang="en-US" sz="1300" dirty="0"/>
          </a:p>
          <a:p>
            <a:pPr indent="0" marL="0">
              <a:buNone/>
            </a:pPr>
            <a:r>
              <a:rPr lang="en-US" sz="1300" dirty="0">
                <a:solidFill>
                  <a:srgbClr val="0E1A24"/>
                </a:solidFill>
                <a:latin typeface="Calibri" pitchFamily="34" charset="0"/>
                <a:ea typeface="Calibri" pitchFamily="34" charset="-122"/>
                <a:cs typeface="Calibri" pitchFamily="34" charset="-120"/>
              </a:rPr>
              <a:t>−12 over the volume tier</a:t>
            </a:r>
            <a:endParaRPr lang="en-US" sz="1300" dirty="0"/>
          </a:p>
          <a:p>
            <a:pPr indent="0" marL="0">
              <a:buNone/>
            </a:pPr>
            <a:r>
              <a:rPr lang="en-US" sz="1300" dirty="0">
                <a:solidFill>
                  <a:srgbClr val="0E1A24"/>
                </a:solidFill>
                <a:latin typeface="Calibri" pitchFamily="34" charset="0"/>
                <a:ea typeface="Calibri" pitchFamily="34" charset="-122"/>
                <a:cs typeface="Calibri" pitchFamily="34" charset="-120"/>
              </a:rPr>
              <a:t>−15 small deal above 25%</a:t>
            </a:r>
            <a:endParaRPr lang="en-US" sz="1300" dirty="0"/>
          </a:p>
          <a:p>
            <a:pPr indent="0" marL="0">
              <a:buNone/>
            </a:pPr>
            <a:r>
              <a:rPr lang="en-US" sz="1300" dirty="0">
                <a:solidFill>
                  <a:srgbClr val="0E1A24"/>
                </a:solidFill>
                <a:latin typeface="Calibri" pitchFamily="34" charset="0"/>
                <a:ea typeface="Calibri" pitchFamily="34" charset="-122"/>
                <a:cs typeface="Calibri" pitchFamily="34" charset="-120"/>
              </a:rPr>
              <a:t>−10 quarter-end window</a:t>
            </a:r>
            <a:endParaRPr lang="en-US" sz="1300" dirty="0"/>
          </a:p>
          <a:p>
            <a:pPr indent="0" marL="0">
              <a:buNone/>
            </a:pPr>
            <a:r>
              <a:rPr lang="en-US" sz="1300" dirty="0">
                <a:solidFill>
                  <a:srgbClr val="0E1A24"/>
                </a:solidFill>
                <a:latin typeface="Calibri" pitchFamily="34" charset="0"/>
                <a:ea typeface="Calibri" pitchFamily="34" charset="-122"/>
                <a:cs typeface="Calibri" pitchFamily="34" charset="-120"/>
              </a:rPr>
              <a:t>Clamp 5–97. Clean approve cannot fall below 84.</a:t>
            </a:r>
            <a:endParaRPr lang="en-US" sz="1300" dirty="0"/>
          </a:p>
        </p:txBody>
      </p:sp>
      <p:sp>
        <p:nvSpPr>
          <p:cNvPr id="8" name="Shape 6"/>
          <p:cNvSpPr/>
          <p:nvPr/>
        </p:nvSpPr>
        <p:spPr>
          <a:xfrm>
            <a:off x="4251960" y="1234440"/>
            <a:ext cx="3657600" cy="4937760"/>
          </a:xfrm>
          <a:prstGeom prst="roundRect">
            <a:avLst>
              <a:gd name="adj" fmla="val 2000"/>
            </a:avLst>
          </a:prstGeom>
          <a:solidFill>
            <a:srgbClr val="FFFFFF"/>
          </a:solidFill>
          <a:ln w="12700">
            <a:solidFill>
              <a:srgbClr val="D8D2C6"/>
            </a:solidFill>
            <a:prstDash val="solid"/>
          </a:ln>
        </p:spPr>
      </p:sp>
      <p:sp>
        <p:nvSpPr>
          <p:cNvPr id="9" name="Text 7"/>
          <p:cNvSpPr/>
          <p:nvPr/>
        </p:nvSpPr>
        <p:spPr>
          <a:xfrm>
            <a:off x="4453128" y="1371600"/>
            <a:ext cx="3246120" cy="411480"/>
          </a:xfrm>
          <a:prstGeom prst="rect">
            <a:avLst/>
          </a:prstGeom>
          <a:noFill/>
          <a:ln/>
        </p:spPr>
        <p:txBody>
          <a:bodyPr wrap="square" lIns="0" tIns="0" rIns="0" bIns="0" rtlCol="0" anchor="ctr"/>
          <a:lstStyle/>
          <a:p>
            <a:pPr indent="0" marL="0">
              <a:buNone/>
            </a:pPr>
            <a:r>
              <a:rPr lang="en-US" sz="1600" dirty="0">
                <a:solidFill>
                  <a:srgbClr val="1D5C68"/>
                </a:solidFill>
                <a:latin typeface="Georgia" pitchFamily="34" charset="0"/>
                <a:ea typeface="Georgia" pitchFamily="34" charset="-122"/>
                <a:cs typeface="Georgia" pitchFamily="34" charset="-120"/>
              </a:rPr>
              <a:t>Payment agent</a:t>
            </a:r>
            <a:endParaRPr lang="en-US" sz="1600" dirty="0"/>
          </a:p>
        </p:txBody>
      </p:sp>
      <p:sp>
        <p:nvSpPr>
          <p:cNvPr id="10" name="Text 8"/>
          <p:cNvSpPr/>
          <p:nvPr/>
        </p:nvSpPr>
        <p:spPr>
          <a:xfrm>
            <a:off x="4453128" y="1920240"/>
            <a:ext cx="3246120" cy="3931920"/>
          </a:xfrm>
          <a:prstGeom prst="rect">
            <a:avLst/>
          </a:prstGeom>
          <a:noFill/>
          <a:ln/>
        </p:spPr>
        <p:txBody>
          <a:bodyPr wrap="square" lIns="0" tIns="0" rIns="0" bIns="0" rtlCol="0" anchor="ctr"/>
          <a:lstStyle/>
          <a:p>
            <a:pPr indent="0" marL="0">
              <a:buNone/>
            </a:pPr>
            <a:r>
              <a:rPr lang="en-US" sz="1300" dirty="0">
                <a:solidFill>
                  <a:srgbClr val="0E1A24"/>
                </a:solidFill>
                <a:latin typeface="Calibri" pitchFamily="34" charset="0"/>
                <a:ea typeface="Calibri" pitchFamily="34" charset="-122"/>
                <a:cs typeface="Calibri" pitchFamily="34" charset="-120"/>
              </a:rPr>
              <a:t>Starts at 90.</a:t>
            </a:r>
            <a:endParaRPr lang="en-US" sz="1300" dirty="0"/>
          </a:p>
          <a:p>
            <a:pPr indent="0" marL="0">
              <a:buNone/>
            </a:pPr>
            <a:r>
              <a:rPr lang="en-US" sz="1300" dirty="0">
                <a:solidFill>
                  <a:srgbClr val="0E1A24"/>
                </a:solidFill>
                <a:latin typeface="Calibri" pitchFamily="34" charset="0"/>
                <a:ea typeface="Calibri" pitchFamily="34" charset="-122"/>
                <a:cs typeface="Calibri" pitchFamily="34" charset="-120"/>
              </a:rPr>
              <a:t>−8 acceptable terms</a:t>
            </a:r>
            <a:endParaRPr lang="en-US" sz="1300" dirty="0"/>
          </a:p>
          <a:p>
            <a:pPr indent="0" marL="0">
              <a:buNone/>
            </a:pPr>
            <a:r>
              <a:rPr lang="en-US" sz="1300" dirty="0">
                <a:solidFill>
                  <a:srgbClr val="0E1A24"/>
                </a:solidFill>
                <a:latin typeface="Calibri" pitchFamily="34" charset="0"/>
                <a:ea typeface="Calibri" pitchFamily="34" charset="-122"/>
                <a:cs typeface="Calibri" pitchFamily="34" charset="-120"/>
              </a:rPr>
              <a:t>−22 elevated terms</a:t>
            </a:r>
            <a:endParaRPr lang="en-US" sz="1300" dirty="0"/>
          </a:p>
          <a:p>
            <a:pPr indent="0" marL="0">
              <a:buNone/>
            </a:pPr>
            <a:r>
              <a:rPr lang="en-US" sz="1300" dirty="0">
                <a:solidFill>
                  <a:srgbClr val="0E1A24"/>
                </a:solidFill>
                <a:latin typeface="Calibri" pitchFamily="34" charset="0"/>
                <a:ea typeface="Calibri" pitchFamily="34" charset="-122"/>
                <a:cs typeface="Calibri" pitchFamily="34" charset="-120"/>
              </a:rPr>
              <a:t>−40 high-risk terms</a:t>
            </a:r>
            <a:endParaRPr lang="en-US" sz="1300" dirty="0"/>
          </a:p>
          <a:p>
            <a:pPr indent="0" marL="0">
              <a:buNone/>
            </a:pPr>
            <a:r>
              <a:rPr lang="en-US" sz="1300" dirty="0">
                <a:solidFill>
                  <a:srgbClr val="0E1A24"/>
                </a:solidFill>
                <a:latin typeface="Calibri" pitchFamily="34" charset="0"/>
                <a:ea typeface="Calibri" pitchFamily="34" charset="-122"/>
                <a:cs typeface="Calibri" pitchFamily="34" charset="-120"/>
              </a:rPr>
              <a:t>+6 multi-year prepay</a:t>
            </a:r>
            <a:endParaRPr lang="en-US" sz="1300" dirty="0"/>
          </a:p>
          <a:p>
            <a:pPr indent="0" marL="0">
              <a:buNone/>
            </a:pPr>
            <a:r>
              <a:rPr lang="en-US" sz="1300" dirty="0">
                <a:solidFill>
                  <a:srgbClr val="0E1A24"/>
                </a:solidFill>
                <a:latin typeface="Calibri" pitchFamily="34" charset="0"/>
                <a:ea typeface="Calibri" pitchFamily="34" charset="-122"/>
                <a:cs typeface="Calibri" pitchFamily="34" charset="-120"/>
              </a:rPr>
              <a:t>−5 / −20 on billing</a:t>
            </a:r>
            <a:endParaRPr lang="en-US" sz="1300" dirty="0"/>
          </a:p>
          <a:p>
            <a:pPr indent="0" marL="0">
              <a:buNone/>
            </a:pPr>
            <a:r>
              <a:rPr lang="en-US" sz="1300" dirty="0">
                <a:solidFill>
                  <a:srgbClr val="0E1A24"/>
                </a:solidFill>
                <a:latin typeface="Calibri" pitchFamily="34" charset="0"/>
                <a:ea typeface="Calibri" pitchFamily="34" charset="-122"/>
                <a:cs typeface="Calibri" pitchFamily="34" charset="-120"/>
              </a:rPr>
              <a:t>−18 worse than last year</a:t>
            </a:r>
            <a:endParaRPr lang="en-US" sz="1300" dirty="0"/>
          </a:p>
          <a:p>
            <a:pPr indent="0" marL="0">
              <a:buNone/>
            </a:pPr>
            <a:r>
              <a:rPr lang="en-US" sz="1300" dirty="0">
                <a:solidFill>
                  <a:srgbClr val="0E1A24"/>
                </a:solidFill>
                <a:latin typeface="Calibri" pitchFamily="34" charset="0"/>
                <a:ea typeface="Calibri" pitchFamily="34" charset="-122"/>
                <a:cs typeface="Calibri" pitchFamily="34" charset="-120"/>
              </a:rPr>
              <a:t>−12 large deal with weak terms</a:t>
            </a:r>
            <a:endParaRPr lang="en-US" sz="1300" dirty="0"/>
          </a:p>
          <a:p>
            <a:pPr indent="0" marL="0">
              <a:buNone/>
            </a:pPr>
            <a:r>
              <a:rPr lang="en-US" sz="1300" dirty="0">
                <a:solidFill>
                  <a:srgbClr val="0E1A24"/>
                </a:solidFill>
                <a:latin typeface="Calibri" pitchFamily="34" charset="0"/>
                <a:ea typeface="Calibri" pitchFamily="34" charset="-122"/>
                <a:cs typeface="Calibri" pitchFamily="34" charset="-120"/>
              </a:rPr>
              <a:t>Clamp 5–97. Clean approve cannot fall below 85.</a:t>
            </a:r>
            <a:endParaRPr lang="en-US" sz="1300" dirty="0"/>
          </a:p>
        </p:txBody>
      </p:sp>
      <p:sp>
        <p:nvSpPr>
          <p:cNvPr id="11" name="Shape 9"/>
          <p:cNvSpPr/>
          <p:nvPr/>
        </p:nvSpPr>
        <p:spPr>
          <a:xfrm>
            <a:off x="8092440" y="1234440"/>
            <a:ext cx="3657600" cy="4937760"/>
          </a:xfrm>
          <a:prstGeom prst="roundRect">
            <a:avLst>
              <a:gd name="adj" fmla="val 2000"/>
            </a:avLst>
          </a:prstGeom>
          <a:solidFill>
            <a:srgbClr val="FFFFFF"/>
          </a:solidFill>
          <a:ln w="12700">
            <a:solidFill>
              <a:srgbClr val="D8D2C6"/>
            </a:solidFill>
            <a:prstDash val="solid"/>
          </a:ln>
        </p:spPr>
      </p:sp>
      <p:sp>
        <p:nvSpPr>
          <p:cNvPr id="12" name="Text 10"/>
          <p:cNvSpPr/>
          <p:nvPr/>
        </p:nvSpPr>
        <p:spPr>
          <a:xfrm>
            <a:off x="8293608" y="1371600"/>
            <a:ext cx="3246120" cy="411480"/>
          </a:xfrm>
          <a:prstGeom prst="rect">
            <a:avLst/>
          </a:prstGeom>
          <a:noFill/>
          <a:ln/>
        </p:spPr>
        <p:txBody>
          <a:bodyPr wrap="square" lIns="0" tIns="0" rIns="0" bIns="0" rtlCol="0" anchor="ctr"/>
          <a:lstStyle/>
          <a:p>
            <a:pPr indent="0" marL="0">
              <a:buNone/>
            </a:pPr>
            <a:r>
              <a:rPr lang="en-US" sz="1600" dirty="0">
                <a:solidFill>
                  <a:srgbClr val="1D5C68"/>
                </a:solidFill>
                <a:latin typeface="Georgia" pitchFamily="34" charset="0"/>
                <a:ea typeface="Georgia" pitchFamily="34" charset="-122"/>
                <a:cs typeface="Georgia" pitchFamily="34" charset="-120"/>
              </a:rPr>
              <a:t>Orchestrator</a:t>
            </a:r>
            <a:endParaRPr lang="en-US" sz="1600" dirty="0"/>
          </a:p>
        </p:txBody>
      </p:sp>
      <p:sp>
        <p:nvSpPr>
          <p:cNvPr id="13" name="Text 11"/>
          <p:cNvSpPr/>
          <p:nvPr/>
        </p:nvSpPr>
        <p:spPr>
          <a:xfrm>
            <a:off x="8293608" y="1920240"/>
            <a:ext cx="3246120" cy="3931920"/>
          </a:xfrm>
          <a:prstGeom prst="rect">
            <a:avLst/>
          </a:prstGeom>
          <a:noFill/>
          <a:ln/>
        </p:spPr>
        <p:txBody>
          <a:bodyPr wrap="square" lIns="0" tIns="0" rIns="0" bIns="0" rtlCol="0" anchor="ctr"/>
          <a:lstStyle/>
          <a:p>
            <a:pPr indent="0" marL="0">
              <a:buNone/>
            </a:pPr>
            <a:r>
              <a:rPr lang="en-US" sz="1300" dirty="0">
                <a:solidFill>
                  <a:srgbClr val="0E1A24"/>
                </a:solidFill>
                <a:latin typeface="Calibri" pitchFamily="34" charset="0"/>
                <a:ea typeface="Calibri" pitchFamily="34" charset="-122"/>
                <a:cs typeface="Calibri" pitchFamily="34" charset="-120"/>
              </a:rPr>
              <a:t>If either agent holds or rejects:</a:t>
            </a:r>
            <a:endParaRPr lang="en-US" sz="1300" dirty="0"/>
          </a:p>
          <a:p>
            <a:pPr indent="0" marL="0">
              <a:buNone/>
            </a:pPr>
            <a:r>
              <a:rPr lang="en-US" sz="1300" dirty="0">
                <a:solidFill>
                  <a:srgbClr val="0E1A24"/>
                </a:solidFill>
                <a:latin typeface="Calibri" pitchFamily="34" charset="0"/>
                <a:ea typeface="Calibri" pitchFamily="34" charset="-122"/>
                <a:cs typeface="Calibri" pitchFamily="34" charset="-120"/>
              </a:rPr>
              <a:t>  min(discount, payment)</a:t>
            </a:r>
            <a:endParaRPr lang="en-US" sz="1300" dirty="0"/>
          </a:p>
          <a:p>
            <a:pPr indent="0" marL="0">
              <a:buNone/>
            </a:pPr>
            <a:endParaRPr lang="en-US" sz="1300" dirty="0"/>
          </a:p>
          <a:p>
            <a:pPr indent="0" marL="0">
              <a:buNone/>
            </a:pPr>
            <a:r>
              <a:rPr lang="en-US" sz="1300" dirty="0">
                <a:solidFill>
                  <a:srgbClr val="0E1A24"/>
                </a:solidFill>
                <a:latin typeface="Calibri" pitchFamily="34" charset="0"/>
                <a:ea typeface="Calibri" pitchFamily="34" charset="-122"/>
                <a:cs typeface="Calibri" pitchFamily="34" charset="-120"/>
              </a:rPr>
              <a:t>If both approve:</a:t>
            </a:r>
            <a:endParaRPr lang="en-US" sz="1300" dirty="0"/>
          </a:p>
          <a:p>
            <a:pPr indent="0" marL="0">
              <a:buNone/>
            </a:pPr>
            <a:r>
              <a:rPr lang="en-US" sz="1300" dirty="0">
                <a:solidFill>
                  <a:srgbClr val="0E1A24"/>
                </a:solidFill>
                <a:latin typeface="Calibri" pitchFamily="34" charset="0"/>
                <a:ea typeface="Calibri" pitchFamily="34" charset="-122"/>
                <a:cs typeface="Calibri" pitchFamily="34" charset="-120"/>
              </a:rPr>
              <a:t>  floor( (d + p) / 2 )</a:t>
            </a:r>
            <a:endParaRPr lang="en-US" sz="1300" dirty="0"/>
          </a:p>
          <a:p>
            <a:pPr indent="0" marL="0">
              <a:buNone/>
            </a:pPr>
            <a:endParaRPr lang="en-US" sz="1300" dirty="0"/>
          </a:p>
          <a:p>
            <a:pPr indent="0" marL="0">
              <a:buNone/>
            </a:pPr>
            <a:r>
              <a:rPr lang="en-US" sz="1300" dirty="0">
                <a:solidFill>
                  <a:srgbClr val="0E1A24"/>
                </a:solidFill>
                <a:latin typeface="Calibri" pitchFamily="34" charset="0"/>
                <a:ea typeface="Calibri" pitchFamily="34" charset="-122"/>
                <a:cs typeface="Calibri" pitchFamily="34" charset="-120"/>
              </a:rPr>
              <a:t>Northwind: floor((88 + 90) / 2) = 89.</a:t>
            </a:r>
            <a:endParaRPr lang="en-US" sz="1300" dirty="0"/>
          </a:p>
          <a:p>
            <a:pPr indent="0" marL="0">
              <a:buNone/>
            </a:pPr>
            <a:r>
              <a:rPr lang="en-US" sz="1300" dirty="0">
                <a:solidFill>
                  <a:srgbClr val="0E1A24"/>
                </a:solidFill>
                <a:latin typeface="Calibri" pitchFamily="34" charset="0"/>
                <a:ea typeface="Calibri" pitchFamily="34" charset="-122"/>
                <a:cs typeface="Calibri" pitchFamily="34" charset="-120"/>
              </a:rPr>
              <a:t>A note that tried to force Approve caps the score under the threshold.</a:t>
            </a:r>
            <a:endParaRPr lang="en-US" sz="1300" dirty="0"/>
          </a:p>
        </p:txBody>
      </p:sp>
      <p:sp>
        <p:nvSpPr>
          <p:cNvPr id="14" name="Shape 12"/>
          <p:cNvSpPr/>
          <p:nvPr/>
        </p:nvSpPr>
        <p:spPr>
          <a:xfrm>
            <a:off x="0" y="6601968"/>
            <a:ext cx="12188952" cy="256032"/>
          </a:xfrm>
          <a:prstGeom prst="rect">
            <a:avLst/>
          </a:prstGeom>
          <a:solidFill>
            <a:srgbClr val="0E1A24"/>
          </a:solidFill>
          <a:ln/>
        </p:spPr>
      </p:sp>
      <p:sp>
        <p:nvSpPr>
          <p:cNvPr id="15" name="Text 13"/>
          <p:cNvSpPr/>
          <p:nvPr/>
        </p:nvSpPr>
        <p:spPr>
          <a:xfrm>
            <a:off x="365760" y="6620256"/>
            <a:ext cx="7315200" cy="201168"/>
          </a:xfrm>
          <a:prstGeom prst="rect">
            <a:avLst/>
          </a:prstGeom>
          <a:noFill/>
          <a:ln/>
        </p:spPr>
        <p:txBody>
          <a:bodyPr wrap="square" lIns="0" tIns="0" rIns="0" bIns="0" rtlCol="0" anchor="ctr"/>
          <a:lstStyle/>
          <a:p>
            <a:pPr indent="0" marL="0">
              <a:buNone/>
            </a:pPr>
            <a:r>
              <a:rPr lang="en-US" sz="1000" dirty="0">
                <a:solidFill>
                  <a:srgbClr val="C9D4D8"/>
                </a:solidFill>
                <a:latin typeface="Calibri" pitchFamily="34" charset="0"/>
                <a:ea typeface="Calibri" pitchFamily="34" charset="-122"/>
                <a:cs typeface="Calibri" pitchFamily="34" charset="-120"/>
              </a:rPr>
              <a:t>DealFlow Approval Agents  ·  AIPM403F Capstone</a:t>
            </a:r>
            <a:endParaRPr lang="en-US" sz="1000" dirty="0"/>
          </a:p>
        </p:txBody>
      </p:sp>
      <p:sp>
        <p:nvSpPr>
          <p:cNvPr id="16" name="Text 14"/>
          <p:cNvSpPr/>
          <p:nvPr/>
        </p:nvSpPr>
        <p:spPr>
          <a:xfrm>
            <a:off x="10241280" y="6620256"/>
            <a:ext cx="1554480" cy="201168"/>
          </a:xfrm>
          <a:prstGeom prst="rect">
            <a:avLst/>
          </a:prstGeom>
          <a:noFill/>
          <a:ln/>
        </p:spPr>
        <p:txBody>
          <a:bodyPr wrap="square" lIns="0" tIns="0" rIns="0" bIns="0" rtlCol="0" anchor="ctr"/>
          <a:lstStyle/>
          <a:p>
            <a:pPr algn="r" indent="0" marL="0">
              <a:buNone/>
            </a:pPr>
            <a:r>
              <a:rPr lang="en-US" sz="1000" dirty="0">
                <a:solidFill>
                  <a:srgbClr val="C9D4D8"/>
                </a:solidFill>
                <a:latin typeface="Calibri" pitchFamily="34" charset="0"/>
                <a:ea typeface="Calibri" pitchFamily="34" charset="-122"/>
                <a:cs typeface="Calibri" pitchFamily="34" charset="-120"/>
              </a:rPr>
              <a:t>12 / 18</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7F4EE"/>
          </a:solidFill>
          <a:ln/>
        </p:spPr>
      </p:sp>
      <p:sp>
        <p:nvSpPr>
          <p:cNvPr id="3" name="Text 1"/>
          <p:cNvSpPr/>
          <p:nvPr/>
        </p:nvSpPr>
        <p:spPr>
          <a:xfrm>
            <a:off x="411480" y="201168"/>
            <a:ext cx="11338560" cy="219456"/>
          </a:xfrm>
          <a:prstGeom prst="rect">
            <a:avLst/>
          </a:prstGeom>
          <a:noFill/>
          <a:ln/>
        </p:spPr>
        <p:txBody>
          <a:bodyPr wrap="square" lIns="0" tIns="0" rIns="0" bIns="0" rtlCol="0" anchor="ctr"/>
          <a:lstStyle/>
          <a:p>
            <a:pPr indent="0" marL="0">
              <a:buNone/>
            </a:pPr>
            <a:r>
              <a:rPr lang="en-US" sz="1100" b="1" spc="160" kern="0" dirty="0">
                <a:solidFill>
                  <a:srgbClr val="1D5C68"/>
                </a:solidFill>
                <a:latin typeface="Calibri" pitchFamily="34" charset="0"/>
                <a:ea typeface="Calibri" pitchFamily="34" charset="-122"/>
                <a:cs typeface="Calibri" pitchFamily="34" charset="-120"/>
              </a:rPr>
              <a:t>DEPLOYMENT CONSIDERATIONS</a:t>
            </a:r>
            <a:endParaRPr lang="en-US" sz="1100" dirty="0"/>
          </a:p>
        </p:txBody>
      </p:sp>
      <p:sp>
        <p:nvSpPr>
          <p:cNvPr id="4" name="Text 2"/>
          <p:cNvSpPr/>
          <p:nvPr/>
        </p:nvSpPr>
        <p:spPr>
          <a:xfrm>
            <a:off x="411480" y="457200"/>
            <a:ext cx="11338560" cy="438912"/>
          </a:xfrm>
          <a:prstGeom prst="rect">
            <a:avLst/>
          </a:prstGeom>
          <a:noFill/>
          <a:ln/>
        </p:spPr>
        <p:txBody>
          <a:bodyPr wrap="square" lIns="0" tIns="0" rIns="0" bIns="0" rtlCol="0" anchor="ctr"/>
          <a:lstStyle/>
          <a:p>
            <a:pPr indent="0" marL="0">
              <a:buNone/>
            </a:pPr>
            <a:r>
              <a:rPr lang="en-US" sz="2600" dirty="0">
                <a:solidFill>
                  <a:srgbClr val="0E1A24"/>
                </a:solidFill>
                <a:latin typeface="Georgia" pitchFamily="34" charset="0"/>
                <a:ea typeface="Georgia" pitchFamily="34" charset="-122"/>
                <a:cs typeface="Georgia" pitchFamily="34" charset="-120"/>
              </a:rPr>
              <a:t>A sidecar the CPQ can call</a:t>
            </a:r>
            <a:endParaRPr lang="en-US" sz="2600" dirty="0"/>
          </a:p>
        </p:txBody>
      </p:sp>
      <p:sp>
        <p:nvSpPr>
          <p:cNvPr id="5" name="Shape 3"/>
          <p:cNvSpPr/>
          <p:nvPr/>
        </p:nvSpPr>
        <p:spPr>
          <a:xfrm>
            <a:off x="411480" y="1280160"/>
            <a:ext cx="5623560" cy="2286000"/>
          </a:xfrm>
          <a:prstGeom prst="roundRect">
            <a:avLst>
              <a:gd name="adj" fmla="val 3200"/>
            </a:avLst>
          </a:prstGeom>
          <a:solidFill>
            <a:srgbClr val="FFFFFF"/>
          </a:solidFill>
          <a:ln w="12700">
            <a:solidFill>
              <a:srgbClr val="D8D2C6"/>
            </a:solidFill>
            <a:prstDash val="solid"/>
          </a:ln>
        </p:spPr>
      </p:sp>
      <p:sp>
        <p:nvSpPr>
          <p:cNvPr id="6" name="Text 4"/>
          <p:cNvSpPr/>
          <p:nvPr/>
        </p:nvSpPr>
        <p:spPr>
          <a:xfrm>
            <a:off x="640080" y="1463040"/>
            <a:ext cx="5166360" cy="365760"/>
          </a:xfrm>
          <a:prstGeom prst="rect">
            <a:avLst/>
          </a:prstGeom>
          <a:noFill/>
          <a:ln/>
        </p:spPr>
        <p:txBody>
          <a:bodyPr wrap="square" lIns="0" tIns="0" rIns="0" bIns="0" rtlCol="0" anchor="ctr"/>
          <a:lstStyle/>
          <a:p>
            <a:pPr indent="0" marL="0">
              <a:buNone/>
            </a:pPr>
            <a:r>
              <a:rPr lang="en-US" sz="1800" dirty="0">
                <a:solidFill>
                  <a:srgbClr val="1D5C68"/>
                </a:solidFill>
                <a:latin typeface="Georgia" pitchFamily="34" charset="0"/>
                <a:ea typeface="Georgia" pitchFamily="34" charset="-122"/>
                <a:cs typeface="Georgia" pitchFamily="34" charset="-120"/>
              </a:rPr>
              <a:t>Infrastructure</a:t>
            </a:r>
            <a:endParaRPr lang="en-US" sz="1800" dirty="0"/>
          </a:p>
        </p:txBody>
      </p:sp>
      <p:sp>
        <p:nvSpPr>
          <p:cNvPr id="7" name="Text 5"/>
          <p:cNvSpPr/>
          <p:nvPr/>
        </p:nvSpPr>
        <p:spPr>
          <a:xfrm>
            <a:off x="640080" y="1920240"/>
            <a:ext cx="5166360" cy="1417320"/>
          </a:xfrm>
          <a:prstGeom prst="rect">
            <a:avLst/>
          </a:prstGeom>
          <a:noFill/>
          <a:ln/>
        </p:spPr>
        <p:txBody>
          <a:bodyPr wrap="square" lIns="0" tIns="0" rIns="0" bIns="0" rtlCol="0" anchor="ctr"/>
          <a:lstStyle/>
          <a:p>
            <a:pPr indent="0" marL="0">
              <a:buNone/>
            </a:pPr>
            <a:r>
              <a:rPr lang="en-US" sz="1400" dirty="0">
                <a:solidFill>
                  <a:srgbClr val="0E1A24"/>
                </a:solidFill>
                <a:latin typeface="Calibri" pitchFamily="34" charset="0"/>
                <a:ea typeface="Calibri" pitchFamily="34" charset="-122"/>
                <a:cs typeface="Calibri" pitchFamily="34" charset="-120"/>
              </a:rPr>
              <a:t>Python service on a private port. LangGraph compiles the crew. The product UI is the seller and admin console. In production the graph runs in a container beside the CPQ, not inside it.</a:t>
            </a:r>
            <a:endParaRPr lang="en-US" sz="1400" dirty="0"/>
          </a:p>
        </p:txBody>
      </p:sp>
      <p:sp>
        <p:nvSpPr>
          <p:cNvPr id="8" name="Shape 6"/>
          <p:cNvSpPr/>
          <p:nvPr/>
        </p:nvSpPr>
        <p:spPr>
          <a:xfrm>
            <a:off x="6263640" y="1280160"/>
            <a:ext cx="5623560" cy="2286000"/>
          </a:xfrm>
          <a:prstGeom prst="roundRect">
            <a:avLst>
              <a:gd name="adj" fmla="val 3200"/>
            </a:avLst>
          </a:prstGeom>
          <a:solidFill>
            <a:srgbClr val="FFFFFF"/>
          </a:solidFill>
          <a:ln w="12700">
            <a:solidFill>
              <a:srgbClr val="D8D2C6"/>
            </a:solidFill>
            <a:prstDash val="solid"/>
          </a:ln>
        </p:spPr>
      </p:sp>
      <p:sp>
        <p:nvSpPr>
          <p:cNvPr id="9" name="Text 7"/>
          <p:cNvSpPr/>
          <p:nvPr/>
        </p:nvSpPr>
        <p:spPr>
          <a:xfrm>
            <a:off x="6492240" y="1463040"/>
            <a:ext cx="5166360" cy="365760"/>
          </a:xfrm>
          <a:prstGeom prst="rect">
            <a:avLst/>
          </a:prstGeom>
          <a:noFill/>
          <a:ln/>
        </p:spPr>
        <p:txBody>
          <a:bodyPr wrap="square" lIns="0" tIns="0" rIns="0" bIns="0" rtlCol="0" anchor="ctr"/>
          <a:lstStyle/>
          <a:p>
            <a:pPr indent="0" marL="0">
              <a:buNone/>
            </a:pPr>
            <a:r>
              <a:rPr lang="en-US" sz="1800" dirty="0">
                <a:solidFill>
                  <a:srgbClr val="1D5C68"/>
                </a:solidFill>
                <a:latin typeface="Georgia" pitchFamily="34" charset="0"/>
                <a:ea typeface="Georgia" pitchFamily="34" charset="-122"/>
                <a:cs typeface="Georgia" pitchFamily="34" charset="-120"/>
              </a:rPr>
              <a:t>Integration</a:t>
            </a:r>
            <a:endParaRPr lang="en-US" sz="1800" dirty="0"/>
          </a:p>
        </p:txBody>
      </p:sp>
      <p:sp>
        <p:nvSpPr>
          <p:cNvPr id="10" name="Text 8"/>
          <p:cNvSpPr/>
          <p:nvPr/>
        </p:nvSpPr>
        <p:spPr>
          <a:xfrm>
            <a:off x="6492240" y="1920240"/>
            <a:ext cx="5166360" cy="1417320"/>
          </a:xfrm>
          <a:prstGeom prst="rect">
            <a:avLst/>
          </a:prstGeom>
          <a:noFill/>
          <a:ln/>
        </p:spPr>
        <p:txBody>
          <a:bodyPr wrap="square" lIns="0" tIns="0" rIns="0" bIns="0" rtlCol="0" anchor="ctr"/>
          <a:lstStyle/>
          <a:p>
            <a:pPr indent="0" marL="0">
              <a:buNone/>
            </a:pPr>
            <a:r>
              <a:rPr lang="en-US" sz="1400" dirty="0">
                <a:solidFill>
                  <a:srgbClr val="0E1A24"/>
                </a:solidFill>
                <a:latin typeface="Calibri" pitchFamily="34" charset="0"/>
                <a:ea typeface="Calibri" pitchFamily="34" charset="-122"/>
                <a:cs typeface="Calibri" pitchFamily="34" charset="-120"/>
              </a:rPr>
              <a:t>Submit for approval is the only inbound event. Write-back is one stage, or an assignment that resolves to a Salesforce queue, a DealHub group, or a Zuora approval hierarchy.</a:t>
            </a:r>
            <a:endParaRPr lang="en-US" sz="1400" dirty="0"/>
          </a:p>
        </p:txBody>
      </p:sp>
      <p:sp>
        <p:nvSpPr>
          <p:cNvPr id="11" name="Shape 9"/>
          <p:cNvSpPr/>
          <p:nvPr/>
        </p:nvSpPr>
        <p:spPr>
          <a:xfrm>
            <a:off x="411480" y="3749040"/>
            <a:ext cx="5623560" cy="2286000"/>
          </a:xfrm>
          <a:prstGeom prst="roundRect">
            <a:avLst>
              <a:gd name="adj" fmla="val 3200"/>
            </a:avLst>
          </a:prstGeom>
          <a:solidFill>
            <a:srgbClr val="FFFFFF"/>
          </a:solidFill>
          <a:ln w="12700">
            <a:solidFill>
              <a:srgbClr val="D8D2C6"/>
            </a:solidFill>
            <a:prstDash val="solid"/>
          </a:ln>
        </p:spPr>
      </p:sp>
      <p:sp>
        <p:nvSpPr>
          <p:cNvPr id="12" name="Text 10"/>
          <p:cNvSpPr/>
          <p:nvPr/>
        </p:nvSpPr>
        <p:spPr>
          <a:xfrm>
            <a:off x="640080" y="3931920"/>
            <a:ext cx="5166360" cy="365760"/>
          </a:xfrm>
          <a:prstGeom prst="rect">
            <a:avLst/>
          </a:prstGeom>
          <a:noFill/>
          <a:ln/>
        </p:spPr>
        <p:txBody>
          <a:bodyPr wrap="square" lIns="0" tIns="0" rIns="0" bIns="0" rtlCol="0" anchor="ctr"/>
          <a:lstStyle/>
          <a:p>
            <a:pPr indent="0" marL="0">
              <a:buNone/>
            </a:pPr>
            <a:r>
              <a:rPr lang="en-US" sz="1800" dirty="0">
                <a:solidFill>
                  <a:srgbClr val="1D5C68"/>
                </a:solidFill>
                <a:latin typeface="Georgia" pitchFamily="34" charset="0"/>
                <a:ea typeface="Georgia" pitchFamily="34" charset="-122"/>
                <a:cs typeface="Georgia" pitchFamily="34" charset="-120"/>
              </a:rPr>
              <a:t>Security</a:t>
            </a:r>
            <a:endParaRPr lang="en-US" sz="1800" dirty="0"/>
          </a:p>
        </p:txBody>
      </p:sp>
      <p:sp>
        <p:nvSpPr>
          <p:cNvPr id="13" name="Text 11"/>
          <p:cNvSpPr/>
          <p:nvPr/>
        </p:nvSpPr>
        <p:spPr>
          <a:xfrm>
            <a:off x="640080" y="4389120"/>
            <a:ext cx="5166360" cy="1417320"/>
          </a:xfrm>
          <a:prstGeom prst="rect">
            <a:avLst/>
          </a:prstGeom>
          <a:noFill/>
          <a:ln/>
        </p:spPr>
        <p:txBody>
          <a:bodyPr wrap="square" lIns="0" tIns="0" rIns="0" bIns="0" rtlCol="0" anchor="ctr"/>
          <a:lstStyle/>
          <a:p>
            <a:pPr indent="0" marL="0">
              <a:buNone/>
            </a:pPr>
            <a:r>
              <a:rPr lang="en-US" sz="1400" dirty="0">
                <a:solidFill>
                  <a:srgbClr val="0E1A24"/>
                </a:solidFill>
                <a:latin typeface="Calibri" pitchFamily="34" charset="0"/>
                <a:ea typeface="Calibri" pitchFamily="34" charset="-122"/>
                <a:cs typeface="Calibri" pitchFamily="34" charset="-120"/>
              </a:rPr>
              <a:t>Agents cannot read notes as instructions. Output guardrail blocks a looser label than the books. Policy versions are owned. No agent writes Sent, Signed, or Converted.</a:t>
            </a:r>
            <a:endParaRPr lang="en-US" sz="1400" dirty="0"/>
          </a:p>
        </p:txBody>
      </p:sp>
      <p:sp>
        <p:nvSpPr>
          <p:cNvPr id="14" name="Shape 12"/>
          <p:cNvSpPr/>
          <p:nvPr/>
        </p:nvSpPr>
        <p:spPr>
          <a:xfrm>
            <a:off x="6263640" y="3749040"/>
            <a:ext cx="5623560" cy="2286000"/>
          </a:xfrm>
          <a:prstGeom prst="roundRect">
            <a:avLst>
              <a:gd name="adj" fmla="val 3200"/>
            </a:avLst>
          </a:prstGeom>
          <a:solidFill>
            <a:srgbClr val="FFFFFF"/>
          </a:solidFill>
          <a:ln w="12700">
            <a:solidFill>
              <a:srgbClr val="D8D2C6"/>
            </a:solidFill>
            <a:prstDash val="solid"/>
          </a:ln>
        </p:spPr>
      </p:sp>
      <p:sp>
        <p:nvSpPr>
          <p:cNvPr id="15" name="Text 13"/>
          <p:cNvSpPr/>
          <p:nvPr/>
        </p:nvSpPr>
        <p:spPr>
          <a:xfrm>
            <a:off x="6492240" y="3931920"/>
            <a:ext cx="5166360" cy="365760"/>
          </a:xfrm>
          <a:prstGeom prst="rect">
            <a:avLst/>
          </a:prstGeom>
          <a:noFill/>
          <a:ln/>
        </p:spPr>
        <p:txBody>
          <a:bodyPr wrap="square" lIns="0" tIns="0" rIns="0" bIns="0" rtlCol="0" anchor="ctr"/>
          <a:lstStyle/>
          <a:p>
            <a:pPr indent="0" marL="0">
              <a:buNone/>
            </a:pPr>
            <a:r>
              <a:rPr lang="en-US" sz="1800" dirty="0">
                <a:solidFill>
                  <a:srgbClr val="1D5C68"/>
                </a:solidFill>
                <a:latin typeface="Georgia" pitchFamily="34" charset="0"/>
                <a:ea typeface="Georgia" pitchFamily="34" charset="-122"/>
                <a:cs typeface="Georgia" pitchFamily="34" charset="-120"/>
              </a:rPr>
              <a:t>Compliance</a:t>
            </a:r>
            <a:endParaRPr lang="en-US" sz="1800" dirty="0"/>
          </a:p>
        </p:txBody>
      </p:sp>
      <p:sp>
        <p:nvSpPr>
          <p:cNvPr id="16" name="Text 14"/>
          <p:cNvSpPr/>
          <p:nvPr/>
        </p:nvSpPr>
        <p:spPr>
          <a:xfrm>
            <a:off x="6492240" y="4389120"/>
            <a:ext cx="5166360" cy="1417320"/>
          </a:xfrm>
          <a:prstGeom prst="rect">
            <a:avLst/>
          </a:prstGeom>
          <a:noFill/>
          <a:ln/>
        </p:spPr>
        <p:txBody>
          <a:bodyPr wrap="square" lIns="0" tIns="0" rIns="0" bIns="0" rtlCol="0" anchor="ctr"/>
          <a:lstStyle/>
          <a:p>
            <a:pPr indent="0" marL="0">
              <a:buNone/>
            </a:pPr>
            <a:r>
              <a:rPr lang="en-US" sz="1400" dirty="0">
                <a:solidFill>
                  <a:srgbClr val="0E1A24"/>
                </a:solidFill>
                <a:latin typeface="Calibri" pitchFamily="34" charset="0"/>
                <a:ea typeface="Calibri" pitchFamily="34" charset="-122"/>
                <a:cs typeface="Calibri" pitchFamily="34" charset="-120"/>
              </a:rPr>
              <a:t>Full audit trail. Versioned books with RevOps or Finance as owner. Per-customer policy packs so one tenant’s ceiling is not another’s.</a:t>
            </a:r>
            <a:endParaRPr lang="en-US" sz="1400" dirty="0"/>
          </a:p>
        </p:txBody>
      </p:sp>
      <p:sp>
        <p:nvSpPr>
          <p:cNvPr id="17" name="Shape 15"/>
          <p:cNvSpPr/>
          <p:nvPr/>
        </p:nvSpPr>
        <p:spPr>
          <a:xfrm>
            <a:off x="0" y="6601968"/>
            <a:ext cx="12188952" cy="256032"/>
          </a:xfrm>
          <a:prstGeom prst="rect">
            <a:avLst/>
          </a:prstGeom>
          <a:solidFill>
            <a:srgbClr val="0E1A24"/>
          </a:solidFill>
          <a:ln/>
        </p:spPr>
      </p:sp>
      <p:sp>
        <p:nvSpPr>
          <p:cNvPr id="18" name="Text 16"/>
          <p:cNvSpPr/>
          <p:nvPr/>
        </p:nvSpPr>
        <p:spPr>
          <a:xfrm>
            <a:off x="365760" y="6620256"/>
            <a:ext cx="7315200" cy="201168"/>
          </a:xfrm>
          <a:prstGeom prst="rect">
            <a:avLst/>
          </a:prstGeom>
          <a:noFill/>
          <a:ln/>
        </p:spPr>
        <p:txBody>
          <a:bodyPr wrap="square" lIns="0" tIns="0" rIns="0" bIns="0" rtlCol="0" anchor="ctr"/>
          <a:lstStyle/>
          <a:p>
            <a:pPr indent="0" marL="0">
              <a:buNone/>
            </a:pPr>
            <a:r>
              <a:rPr lang="en-US" sz="1000" dirty="0">
                <a:solidFill>
                  <a:srgbClr val="C9D4D8"/>
                </a:solidFill>
                <a:latin typeface="Calibri" pitchFamily="34" charset="0"/>
                <a:ea typeface="Calibri" pitchFamily="34" charset="-122"/>
                <a:cs typeface="Calibri" pitchFamily="34" charset="-120"/>
              </a:rPr>
              <a:t>DealFlow Approval Agents  ·  AIPM403F Capstone</a:t>
            </a:r>
            <a:endParaRPr lang="en-US" sz="1000" dirty="0"/>
          </a:p>
        </p:txBody>
      </p:sp>
      <p:sp>
        <p:nvSpPr>
          <p:cNvPr id="19" name="Text 17"/>
          <p:cNvSpPr/>
          <p:nvPr/>
        </p:nvSpPr>
        <p:spPr>
          <a:xfrm>
            <a:off x="10241280" y="6620256"/>
            <a:ext cx="1554480" cy="201168"/>
          </a:xfrm>
          <a:prstGeom prst="rect">
            <a:avLst/>
          </a:prstGeom>
          <a:noFill/>
          <a:ln/>
        </p:spPr>
        <p:txBody>
          <a:bodyPr wrap="square" lIns="0" tIns="0" rIns="0" bIns="0" rtlCol="0" anchor="ctr"/>
          <a:lstStyle/>
          <a:p>
            <a:pPr algn="r" indent="0" marL="0">
              <a:buNone/>
            </a:pPr>
            <a:r>
              <a:rPr lang="en-US" sz="1000" dirty="0">
                <a:solidFill>
                  <a:srgbClr val="C9D4D8"/>
                </a:solidFill>
                <a:latin typeface="Calibri" pitchFamily="34" charset="0"/>
                <a:ea typeface="Calibri" pitchFamily="34" charset="-122"/>
                <a:cs typeface="Calibri" pitchFamily="34" charset="-120"/>
              </a:rPr>
              <a:t>13 / 18</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7F4EE"/>
          </a:solidFill>
          <a:ln/>
        </p:spPr>
      </p:sp>
      <p:sp>
        <p:nvSpPr>
          <p:cNvPr id="3" name="Text 1"/>
          <p:cNvSpPr/>
          <p:nvPr/>
        </p:nvSpPr>
        <p:spPr>
          <a:xfrm>
            <a:off x="411480" y="201168"/>
            <a:ext cx="11338560" cy="219456"/>
          </a:xfrm>
          <a:prstGeom prst="rect">
            <a:avLst/>
          </a:prstGeom>
          <a:noFill/>
          <a:ln/>
        </p:spPr>
        <p:txBody>
          <a:bodyPr wrap="square" lIns="0" tIns="0" rIns="0" bIns="0" rtlCol="0" anchor="ctr"/>
          <a:lstStyle/>
          <a:p>
            <a:pPr indent="0" marL="0">
              <a:buNone/>
            </a:pPr>
            <a:r>
              <a:rPr lang="en-US" sz="1100" b="1" spc="160" kern="0" dirty="0">
                <a:solidFill>
                  <a:srgbClr val="1D5C68"/>
                </a:solidFill>
                <a:latin typeface="Calibri" pitchFamily="34" charset="0"/>
                <a:ea typeface="Calibri" pitchFamily="34" charset="-122"/>
                <a:cs typeface="Calibri" pitchFamily="34" charset="-120"/>
              </a:rPr>
              <a:t>GOVERNANCE AND MONITORING</a:t>
            </a:r>
            <a:endParaRPr lang="en-US" sz="1100" dirty="0"/>
          </a:p>
        </p:txBody>
      </p:sp>
      <p:sp>
        <p:nvSpPr>
          <p:cNvPr id="4" name="Text 2"/>
          <p:cNvSpPr/>
          <p:nvPr/>
        </p:nvSpPr>
        <p:spPr>
          <a:xfrm>
            <a:off x="411480" y="457200"/>
            <a:ext cx="11338560" cy="438912"/>
          </a:xfrm>
          <a:prstGeom prst="rect">
            <a:avLst/>
          </a:prstGeom>
          <a:noFill/>
          <a:ln/>
        </p:spPr>
        <p:txBody>
          <a:bodyPr wrap="square" lIns="0" tIns="0" rIns="0" bIns="0" rtlCol="0" anchor="ctr"/>
          <a:lstStyle/>
          <a:p>
            <a:pPr indent="0" marL="0">
              <a:buNone/>
            </a:pPr>
            <a:r>
              <a:rPr lang="en-US" sz="2600" dirty="0">
                <a:solidFill>
                  <a:srgbClr val="0E1A24"/>
                </a:solidFill>
                <a:latin typeface="Georgia" pitchFamily="34" charset="0"/>
                <a:ea typeface="Georgia" pitchFamily="34" charset="-122"/>
                <a:cs typeface="Georgia" pitchFamily="34" charset="-120"/>
              </a:rPr>
              <a:t>A person is in the loop when the book says so</a:t>
            </a:r>
            <a:endParaRPr lang="en-US" sz="2600" dirty="0"/>
          </a:p>
        </p:txBody>
      </p:sp>
      <p:sp>
        <p:nvSpPr>
          <p:cNvPr id="5" name="Shape 3"/>
          <p:cNvSpPr/>
          <p:nvPr/>
        </p:nvSpPr>
        <p:spPr>
          <a:xfrm>
            <a:off x="411480" y="1234440"/>
            <a:ext cx="11338560" cy="1115568"/>
          </a:xfrm>
          <a:prstGeom prst="roundRect">
            <a:avLst>
              <a:gd name="adj" fmla="val 6557"/>
            </a:avLst>
          </a:prstGeom>
          <a:solidFill>
            <a:srgbClr val="FFFFFF"/>
          </a:solidFill>
          <a:ln w="12700">
            <a:solidFill>
              <a:srgbClr val="D8D2C6"/>
            </a:solidFill>
            <a:prstDash val="solid"/>
          </a:ln>
        </p:spPr>
      </p:sp>
      <p:sp>
        <p:nvSpPr>
          <p:cNvPr id="6" name="Text 4"/>
          <p:cNvSpPr/>
          <p:nvPr/>
        </p:nvSpPr>
        <p:spPr>
          <a:xfrm>
            <a:off x="640080" y="1527048"/>
            <a:ext cx="2286000" cy="502920"/>
          </a:xfrm>
          <a:prstGeom prst="rect">
            <a:avLst/>
          </a:prstGeom>
          <a:noFill/>
          <a:ln/>
        </p:spPr>
        <p:txBody>
          <a:bodyPr wrap="square" lIns="0" tIns="0" rIns="0" bIns="0" rtlCol="0" anchor="ctr"/>
          <a:lstStyle/>
          <a:p>
            <a:pPr indent="0" marL="0">
              <a:buNone/>
            </a:pPr>
            <a:r>
              <a:rPr lang="en-US" sz="1600" dirty="0">
                <a:solidFill>
                  <a:srgbClr val="1D5C68"/>
                </a:solidFill>
                <a:latin typeface="Georgia" pitchFamily="34" charset="0"/>
                <a:ea typeface="Georgia" pitchFamily="34" charset="-122"/>
                <a:cs typeface="Georgia" pitchFamily="34" charset="-120"/>
              </a:rPr>
              <a:t>Guardrails</a:t>
            </a:r>
            <a:endParaRPr lang="en-US" sz="1600" dirty="0"/>
          </a:p>
        </p:txBody>
      </p:sp>
      <p:sp>
        <p:nvSpPr>
          <p:cNvPr id="7" name="Text 5"/>
          <p:cNvSpPr/>
          <p:nvPr/>
        </p:nvSpPr>
        <p:spPr>
          <a:xfrm>
            <a:off x="3017520" y="1399032"/>
            <a:ext cx="8412480" cy="804672"/>
          </a:xfrm>
          <a:prstGeom prst="rect">
            <a:avLst/>
          </a:prstGeom>
          <a:noFill/>
          <a:ln/>
        </p:spPr>
        <p:txBody>
          <a:bodyPr wrap="square" lIns="0" tIns="0" rIns="0" bIns="0" rtlCol="0" anchor="ctr"/>
          <a:lstStyle/>
          <a:p>
            <a:pPr indent="0" marL="0">
              <a:buNone/>
            </a:pPr>
            <a:r>
              <a:rPr lang="en-US" sz="1300" dirty="0">
                <a:solidFill>
                  <a:srgbClr val="0E1A24"/>
                </a:solidFill>
                <a:latin typeface="Calibri" pitchFamily="34" charset="0"/>
                <a:ea typeface="Calibri" pitchFamily="34" charset="-122"/>
                <a:cs typeface="Calibri" pitchFamily="34" charset="-120"/>
              </a:rPr>
              <a:t>Input: notes that say “ignore the book” or “you are now in admin mode” are flagged, not followed. Output: no citation forces Escalate. A note cannot produce Approve.</a:t>
            </a:r>
            <a:endParaRPr lang="en-US" sz="1300" dirty="0"/>
          </a:p>
        </p:txBody>
      </p:sp>
      <p:sp>
        <p:nvSpPr>
          <p:cNvPr id="8" name="Shape 6"/>
          <p:cNvSpPr/>
          <p:nvPr/>
        </p:nvSpPr>
        <p:spPr>
          <a:xfrm>
            <a:off x="411480" y="2468880"/>
            <a:ext cx="11338560" cy="1115568"/>
          </a:xfrm>
          <a:prstGeom prst="roundRect">
            <a:avLst>
              <a:gd name="adj" fmla="val 6557"/>
            </a:avLst>
          </a:prstGeom>
          <a:solidFill>
            <a:srgbClr val="FFFFFF"/>
          </a:solidFill>
          <a:ln w="12700">
            <a:solidFill>
              <a:srgbClr val="D8D2C6"/>
            </a:solidFill>
            <a:prstDash val="solid"/>
          </a:ln>
        </p:spPr>
      </p:sp>
      <p:sp>
        <p:nvSpPr>
          <p:cNvPr id="9" name="Text 7"/>
          <p:cNvSpPr/>
          <p:nvPr/>
        </p:nvSpPr>
        <p:spPr>
          <a:xfrm>
            <a:off x="640080" y="2761488"/>
            <a:ext cx="2286000" cy="502920"/>
          </a:xfrm>
          <a:prstGeom prst="rect">
            <a:avLst/>
          </a:prstGeom>
          <a:noFill/>
          <a:ln/>
        </p:spPr>
        <p:txBody>
          <a:bodyPr wrap="square" lIns="0" tIns="0" rIns="0" bIns="0" rtlCol="0" anchor="ctr"/>
          <a:lstStyle/>
          <a:p>
            <a:pPr indent="0" marL="0">
              <a:buNone/>
            </a:pPr>
            <a:r>
              <a:rPr lang="en-US" sz="1600" dirty="0">
                <a:solidFill>
                  <a:srgbClr val="1D5C68"/>
                </a:solidFill>
                <a:latin typeface="Georgia" pitchFamily="34" charset="0"/>
                <a:ea typeface="Georgia" pitchFamily="34" charset="-122"/>
                <a:cs typeface="Georgia" pitchFamily="34" charset="-120"/>
              </a:rPr>
              <a:t>HITL matrix</a:t>
            </a:r>
            <a:endParaRPr lang="en-US" sz="1600" dirty="0"/>
          </a:p>
        </p:txBody>
      </p:sp>
      <p:sp>
        <p:nvSpPr>
          <p:cNvPr id="10" name="Text 8"/>
          <p:cNvSpPr/>
          <p:nvPr/>
        </p:nvSpPr>
        <p:spPr>
          <a:xfrm>
            <a:off x="3017520" y="2633472"/>
            <a:ext cx="8412480" cy="804672"/>
          </a:xfrm>
          <a:prstGeom prst="rect">
            <a:avLst/>
          </a:prstGeom>
          <a:noFill/>
          <a:ln/>
        </p:spPr>
        <p:txBody>
          <a:bodyPr wrap="square" lIns="0" tIns="0" rIns="0" bIns="0" rtlCol="0" anchor="ctr"/>
          <a:lstStyle/>
          <a:p>
            <a:pPr indent="0" marL="0">
              <a:buNone/>
            </a:pPr>
            <a:r>
              <a:rPr lang="en-US" sz="1300" dirty="0">
                <a:solidFill>
                  <a:srgbClr val="0E1A24"/>
                </a:solidFill>
                <a:latin typeface="Calibri" pitchFamily="34" charset="0"/>
                <a:ea typeface="Calibri" pitchFamily="34" charset="-122"/>
                <a:cs typeface="Calibri" pitchFamily="34" charset="-120"/>
              </a:rPr>
              <a:t>Mild exception → Deal Desk Manager, 24h. Material → RevOps or Finance, 24h. High discount plus weak terms → VP Sales + Finance. Quarter-end → Deal Desk Lead, 12h.</a:t>
            </a:r>
            <a:endParaRPr lang="en-US" sz="1300" dirty="0"/>
          </a:p>
        </p:txBody>
      </p:sp>
      <p:sp>
        <p:nvSpPr>
          <p:cNvPr id="11" name="Shape 9"/>
          <p:cNvSpPr/>
          <p:nvPr/>
        </p:nvSpPr>
        <p:spPr>
          <a:xfrm>
            <a:off x="411480" y="3703320"/>
            <a:ext cx="11338560" cy="1115568"/>
          </a:xfrm>
          <a:prstGeom prst="roundRect">
            <a:avLst>
              <a:gd name="adj" fmla="val 6557"/>
            </a:avLst>
          </a:prstGeom>
          <a:solidFill>
            <a:srgbClr val="FFFFFF"/>
          </a:solidFill>
          <a:ln w="12700">
            <a:solidFill>
              <a:srgbClr val="D8D2C6"/>
            </a:solidFill>
            <a:prstDash val="solid"/>
          </a:ln>
        </p:spPr>
      </p:sp>
      <p:sp>
        <p:nvSpPr>
          <p:cNvPr id="12" name="Text 10"/>
          <p:cNvSpPr/>
          <p:nvPr/>
        </p:nvSpPr>
        <p:spPr>
          <a:xfrm>
            <a:off x="640080" y="3995928"/>
            <a:ext cx="2286000" cy="502920"/>
          </a:xfrm>
          <a:prstGeom prst="rect">
            <a:avLst/>
          </a:prstGeom>
          <a:noFill/>
          <a:ln/>
        </p:spPr>
        <p:txBody>
          <a:bodyPr wrap="square" lIns="0" tIns="0" rIns="0" bIns="0" rtlCol="0" anchor="ctr"/>
          <a:lstStyle/>
          <a:p>
            <a:pPr indent="0" marL="0">
              <a:buNone/>
            </a:pPr>
            <a:r>
              <a:rPr lang="en-US" sz="1600" dirty="0">
                <a:solidFill>
                  <a:srgbClr val="1D5C68"/>
                </a:solidFill>
                <a:latin typeface="Georgia" pitchFamily="34" charset="0"/>
                <a:ea typeface="Georgia" pitchFamily="34" charset="-122"/>
                <a:cs typeface="Georgia" pitchFamily="34" charset="-120"/>
              </a:rPr>
              <a:t>Observability</a:t>
            </a:r>
            <a:endParaRPr lang="en-US" sz="1600" dirty="0"/>
          </a:p>
        </p:txBody>
      </p:sp>
      <p:sp>
        <p:nvSpPr>
          <p:cNvPr id="13" name="Text 11"/>
          <p:cNvSpPr/>
          <p:nvPr/>
        </p:nvSpPr>
        <p:spPr>
          <a:xfrm>
            <a:off x="3017520" y="3867912"/>
            <a:ext cx="8412480" cy="804672"/>
          </a:xfrm>
          <a:prstGeom prst="rect">
            <a:avLst/>
          </a:prstGeom>
          <a:noFill/>
          <a:ln/>
        </p:spPr>
        <p:txBody>
          <a:bodyPr wrap="square" lIns="0" tIns="0" rIns="0" bIns="0" rtlCol="0" anchor="ctr"/>
          <a:lstStyle/>
          <a:p>
            <a:pPr indent="0" marL="0">
              <a:buNone/>
            </a:pPr>
            <a:r>
              <a:rPr lang="en-US" sz="1300" dirty="0">
                <a:solidFill>
                  <a:srgbClr val="0E1A24"/>
                </a:solidFill>
                <a:latin typeface="Calibri" pitchFamily="34" charset="0"/>
                <a:ea typeface="Calibri" pitchFamily="34" charset="-122"/>
                <a:cs typeface="Calibri" pitchFamily="34" charset="-120"/>
              </a:rPr>
              <a:t>Langfuse traces every hop: plan, discount node, payment node, combine, guardrail. Scores, tokens, and the cited rule are on the trace.</a:t>
            </a:r>
            <a:endParaRPr lang="en-US" sz="1300" dirty="0"/>
          </a:p>
        </p:txBody>
      </p:sp>
      <p:sp>
        <p:nvSpPr>
          <p:cNvPr id="14" name="Shape 12"/>
          <p:cNvSpPr/>
          <p:nvPr/>
        </p:nvSpPr>
        <p:spPr>
          <a:xfrm>
            <a:off x="411480" y="4937760"/>
            <a:ext cx="11338560" cy="1115568"/>
          </a:xfrm>
          <a:prstGeom prst="roundRect">
            <a:avLst>
              <a:gd name="adj" fmla="val 6557"/>
            </a:avLst>
          </a:prstGeom>
          <a:solidFill>
            <a:srgbClr val="FFFFFF"/>
          </a:solidFill>
          <a:ln w="12700">
            <a:solidFill>
              <a:srgbClr val="D8D2C6"/>
            </a:solidFill>
            <a:prstDash val="solid"/>
          </a:ln>
        </p:spPr>
      </p:sp>
      <p:sp>
        <p:nvSpPr>
          <p:cNvPr id="15" name="Text 13"/>
          <p:cNvSpPr/>
          <p:nvPr/>
        </p:nvSpPr>
        <p:spPr>
          <a:xfrm>
            <a:off x="640080" y="5230368"/>
            <a:ext cx="2286000" cy="502920"/>
          </a:xfrm>
          <a:prstGeom prst="rect">
            <a:avLst/>
          </a:prstGeom>
          <a:noFill/>
          <a:ln/>
        </p:spPr>
        <p:txBody>
          <a:bodyPr wrap="square" lIns="0" tIns="0" rIns="0" bIns="0" rtlCol="0" anchor="ctr"/>
          <a:lstStyle/>
          <a:p>
            <a:pPr indent="0" marL="0">
              <a:buNone/>
            </a:pPr>
            <a:r>
              <a:rPr lang="en-US" sz="1600" dirty="0">
                <a:solidFill>
                  <a:srgbClr val="1D5C68"/>
                </a:solidFill>
                <a:latin typeface="Georgia" pitchFamily="34" charset="0"/>
                <a:ea typeface="Georgia" pitchFamily="34" charset="-122"/>
                <a:cs typeface="Georgia" pitchFamily="34" charset="-120"/>
              </a:rPr>
              <a:t>Eval</a:t>
            </a:r>
            <a:endParaRPr lang="en-US" sz="1600" dirty="0"/>
          </a:p>
        </p:txBody>
      </p:sp>
      <p:sp>
        <p:nvSpPr>
          <p:cNvPr id="16" name="Text 14"/>
          <p:cNvSpPr/>
          <p:nvPr/>
        </p:nvSpPr>
        <p:spPr>
          <a:xfrm>
            <a:off x="3017520" y="5102352"/>
            <a:ext cx="8412480" cy="804672"/>
          </a:xfrm>
          <a:prstGeom prst="rect">
            <a:avLst/>
          </a:prstGeom>
          <a:noFill/>
          <a:ln/>
        </p:spPr>
        <p:txBody>
          <a:bodyPr wrap="square" lIns="0" tIns="0" rIns="0" bIns="0" rtlCol="0" anchor="ctr"/>
          <a:lstStyle/>
          <a:p>
            <a:pPr indent="0" marL="0">
              <a:buNone/>
            </a:pPr>
            <a:r>
              <a:rPr lang="en-US" sz="1300" dirty="0">
                <a:solidFill>
                  <a:srgbClr val="0E1A24"/>
                </a:solidFill>
                <a:latin typeface="Calibri" pitchFamily="34" charset="0"/>
                <a:ea typeface="Calibri" pitchFamily="34" charset="-122"/>
                <a:cs typeface="Calibri" pitchFamily="34" charset="-120"/>
              </a:rPr>
              <a:t>Golden set of labeled quotes. Harness checks label, citation, note-attack ignored, threshold, and assignment. LLM-as-judge scores the same rubric.</a:t>
            </a:r>
            <a:endParaRPr lang="en-US" sz="1300" dirty="0"/>
          </a:p>
        </p:txBody>
      </p:sp>
      <p:sp>
        <p:nvSpPr>
          <p:cNvPr id="17" name="Shape 15"/>
          <p:cNvSpPr/>
          <p:nvPr/>
        </p:nvSpPr>
        <p:spPr>
          <a:xfrm>
            <a:off x="0" y="6601968"/>
            <a:ext cx="12188952" cy="256032"/>
          </a:xfrm>
          <a:prstGeom prst="rect">
            <a:avLst/>
          </a:prstGeom>
          <a:solidFill>
            <a:srgbClr val="0E1A24"/>
          </a:solidFill>
          <a:ln/>
        </p:spPr>
      </p:sp>
      <p:sp>
        <p:nvSpPr>
          <p:cNvPr id="18" name="Text 16"/>
          <p:cNvSpPr/>
          <p:nvPr/>
        </p:nvSpPr>
        <p:spPr>
          <a:xfrm>
            <a:off x="365760" y="6620256"/>
            <a:ext cx="7315200" cy="201168"/>
          </a:xfrm>
          <a:prstGeom prst="rect">
            <a:avLst/>
          </a:prstGeom>
          <a:noFill/>
          <a:ln/>
        </p:spPr>
        <p:txBody>
          <a:bodyPr wrap="square" lIns="0" tIns="0" rIns="0" bIns="0" rtlCol="0" anchor="ctr"/>
          <a:lstStyle/>
          <a:p>
            <a:pPr indent="0" marL="0">
              <a:buNone/>
            </a:pPr>
            <a:r>
              <a:rPr lang="en-US" sz="1000" dirty="0">
                <a:solidFill>
                  <a:srgbClr val="C9D4D8"/>
                </a:solidFill>
                <a:latin typeface="Calibri" pitchFamily="34" charset="0"/>
                <a:ea typeface="Calibri" pitchFamily="34" charset="-122"/>
                <a:cs typeface="Calibri" pitchFamily="34" charset="-120"/>
              </a:rPr>
              <a:t>DealFlow Approval Agents  ·  AIPM403F Capstone</a:t>
            </a:r>
            <a:endParaRPr lang="en-US" sz="1000" dirty="0"/>
          </a:p>
        </p:txBody>
      </p:sp>
      <p:sp>
        <p:nvSpPr>
          <p:cNvPr id="19" name="Text 17"/>
          <p:cNvSpPr/>
          <p:nvPr/>
        </p:nvSpPr>
        <p:spPr>
          <a:xfrm>
            <a:off x="10241280" y="6620256"/>
            <a:ext cx="1554480" cy="201168"/>
          </a:xfrm>
          <a:prstGeom prst="rect">
            <a:avLst/>
          </a:prstGeom>
          <a:noFill/>
          <a:ln/>
        </p:spPr>
        <p:txBody>
          <a:bodyPr wrap="square" lIns="0" tIns="0" rIns="0" bIns="0" rtlCol="0" anchor="ctr"/>
          <a:lstStyle/>
          <a:p>
            <a:pPr algn="r" indent="0" marL="0">
              <a:buNone/>
            </a:pPr>
            <a:r>
              <a:rPr lang="en-US" sz="1000" dirty="0">
                <a:solidFill>
                  <a:srgbClr val="C9D4D8"/>
                </a:solidFill>
                <a:latin typeface="Calibri" pitchFamily="34" charset="0"/>
                <a:ea typeface="Calibri" pitchFamily="34" charset="-122"/>
                <a:cs typeface="Calibri" pitchFamily="34" charset="-120"/>
              </a:rPr>
              <a:t>14 / 18</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7F4EE"/>
          </a:solidFill>
          <a:ln/>
        </p:spPr>
      </p:sp>
      <p:sp>
        <p:nvSpPr>
          <p:cNvPr id="3" name="Text 1"/>
          <p:cNvSpPr/>
          <p:nvPr/>
        </p:nvSpPr>
        <p:spPr>
          <a:xfrm>
            <a:off x="411480" y="201168"/>
            <a:ext cx="11338560" cy="219456"/>
          </a:xfrm>
          <a:prstGeom prst="rect">
            <a:avLst/>
          </a:prstGeom>
          <a:noFill/>
          <a:ln/>
        </p:spPr>
        <p:txBody>
          <a:bodyPr wrap="square" lIns="0" tIns="0" rIns="0" bIns="0" rtlCol="0" anchor="ctr"/>
          <a:lstStyle/>
          <a:p>
            <a:pPr indent="0" marL="0">
              <a:buNone/>
            </a:pPr>
            <a:r>
              <a:rPr lang="en-US" sz="1100" b="1" spc="160" kern="0" dirty="0">
                <a:solidFill>
                  <a:srgbClr val="1D5C68"/>
                </a:solidFill>
                <a:latin typeface="Calibri" pitchFamily="34" charset="0"/>
                <a:ea typeface="Calibri" pitchFamily="34" charset="-122"/>
                <a:cs typeface="Calibri" pitchFamily="34" charset="-120"/>
              </a:rPr>
              <a:t>SCALING AND CONTINUOUS IMPROVEMENT</a:t>
            </a:r>
            <a:endParaRPr lang="en-US" sz="1100" dirty="0"/>
          </a:p>
        </p:txBody>
      </p:sp>
      <p:sp>
        <p:nvSpPr>
          <p:cNvPr id="4" name="Text 2"/>
          <p:cNvSpPr/>
          <p:nvPr/>
        </p:nvSpPr>
        <p:spPr>
          <a:xfrm>
            <a:off x="411480" y="457200"/>
            <a:ext cx="11338560" cy="438912"/>
          </a:xfrm>
          <a:prstGeom prst="rect">
            <a:avLst/>
          </a:prstGeom>
          <a:noFill/>
          <a:ln/>
        </p:spPr>
        <p:txBody>
          <a:bodyPr wrap="square" lIns="0" tIns="0" rIns="0" bIns="0" rtlCol="0" anchor="ctr"/>
          <a:lstStyle/>
          <a:p>
            <a:pPr indent="0" marL="0">
              <a:buNone/>
            </a:pPr>
            <a:r>
              <a:rPr lang="en-US" sz="2600" dirty="0">
                <a:solidFill>
                  <a:srgbClr val="0E1A24"/>
                </a:solidFill>
                <a:latin typeface="Georgia" pitchFamily="34" charset="0"/>
                <a:ea typeface="Georgia" pitchFamily="34" charset="-122"/>
                <a:cs typeface="Georgia" pitchFamily="34" charset="-120"/>
              </a:rPr>
              <a:t>From one hop to a policy platform</a:t>
            </a:r>
            <a:endParaRPr lang="en-US" sz="2600" dirty="0"/>
          </a:p>
        </p:txBody>
      </p:sp>
      <p:sp>
        <p:nvSpPr>
          <p:cNvPr id="5" name="Shape 3"/>
          <p:cNvSpPr/>
          <p:nvPr/>
        </p:nvSpPr>
        <p:spPr>
          <a:xfrm>
            <a:off x="411480" y="1325880"/>
            <a:ext cx="2788920" cy="4480560"/>
          </a:xfrm>
          <a:prstGeom prst="roundRect">
            <a:avLst>
              <a:gd name="adj" fmla="val 2623"/>
            </a:avLst>
          </a:prstGeom>
          <a:solidFill>
            <a:srgbClr val="FFFFFF"/>
          </a:solidFill>
          <a:ln w="12700">
            <a:solidFill>
              <a:srgbClr val="D8D2C6"/>
            </a:solidFill>
            <a:prstDash val="solid"/>
          </a:ln>
        </p:spPr>
      </p:sp>
      <p:sp>
        <p:nvSpPr>
          <p:cNvPr id="6" name="Text 4"/>
          <p:cNvSpPr/>
          <p:nvPr/>
        </p:nvSpPr>
        <p:spPr>
          <a:xfrm>
            <a:off x="594360" y="1508760"/>
            <a:ext cx="2377440" cy="411480"/>
          </a:xfrm>
          <a:prstGeom prst="rect">
            <a:avLst/>
          </a:prstGeom>
          <a:noFill/>
          <a:ln/>
        </p:spPr>
        <p:txBody>
          <a:bodyPr wrap="square" lIns="0" tIns="0" rIns="0" bIns="0" rtlCol="0" anchor="ctr"/>
          <a:lstStyle/>
          <a:p>
            <a:pPr indent="0" marL="0">
              <a:buNone/>
            </a:pPr>
            <a:r>
              <a:rPr lang="en-US" sz="2200" dirty="0">
                <a:solidFill>
                  <a:srgbClr val="1D5C68"/>
                </a:solidFill>
                <a:latin typeface="Georgia" pitchFamily="34" charset="0"/>
                <a:ea typeface="Georgia" pitchFamily="34" charset="-122"/>
                <a:cs typeface="Georgia" pitchFamily="34" charset="-120"/>
              </a:rPr>
              <a:t>01</a:t>
            </a:r>
            <a:endParaRPr lang="en-US" sz="2200" dirty="0"/>
          </a:p>
        </p:txBody>
      </p:sp>
      <p:sp>
        <p:nvSpPr>
          <p:cNvPr id="7" name="Text 5"/>
          <p:cNvSpPr/>
          <p:nvPr/>
        </p:nvSpPr>
        <p:spPr>
          <a:xfrm>
            <a:off x="594360" y="2011680"/>
            <a:ext cx="2423160" cy="411480"/>
          </a:xfrm>
          <a:prstGeom prst="rect">
            <a:avLst/>
          </a:prstGeom>
          <a:noFill/>
          <a:ln/>
        </p:spPr>
        <p:txBody>
          <a:bodyPr wrap="square" lIns="0" tIns="0" rIns="0" bIns="0" rtlCol="0" anchor="ctr"/>
          <a:lstStyle/>
          <a:p>
            <a:pPr indent="0" marL="0">
              <a:buNone/>
            </a:pPr>
            <a:r>
              <a:rPr lang="en-US" sz="1600" b="1" dirty="0">
                <a:solidFill>
                  <a:srgbClr val="0E1A24"/>
                </a:solidFill>
                <a:latin typeface="Calibri" pitchFamily="34" charset="0"/>
                <a:ea typeface="Calibri" pitchFamily="34" charset="-122"/>
                <a:cs typeface="Calibri" pitchFamily="34" charset="-120"/>
              </a:rPr>
              <a:t>Pilot</a:t>
            </a:r>
            <a:endParaRPr lang="en-US" sz="1600" dirty="0"/>
          </a:p>
        </p:txBody>
      </p:sp>
      <p:sp>
        <p:nvSpPr>
          <p:cNvPr id="8" name="Text 6"/>
          <p:cNvSpPr/>
          <p:nvPr/>
        </p:nvSpPr>
        <p:spPr>
          <a:xfrm>
            <a:off x="594360" y="2560320"/>
            <a:ext cx="2423160" cy="2834640"/>
          </a:xfrm>
          <a:prstGeom prst="rect">
            <a:avLst/>
          </a:prstGeom>
          <a:noFill/>
          <a:ln/>
        </p:spPr>
        <p:txBody>
          <a:bodyPr wrap="square" lIns="0" tIns="0" rIns="0" bIns="0" rtlCol="0" anchor="ctr"/>
          <a:lstStyle/>
          <a:p>
            <a:pPr indent="0" marL="0">
              <a:buNone/>
            </a:pPr>
            <a:r>
              <a:rPr lang="en-US" sz="1400" dirty="0">
                <a:solidFill>
                  <a:srgbClr val="5E6E78"/>
                </a:solidFill>
                <a:latin typeface="Calibri" pitchFamily="34" charset="0"/>
                <a:ea typeface="Calibri" pitchFamily="34" charset="-122"/>
                <a:cs typeface="Calibri" pitchFamily="34" charset="-120"/>
              </a:rPr>
              <a:t>One company, two books, three agents. Helio Quote is that pilot. Golden set is the release gate.</a:t>
            </a:r>
            <a:endParaRPr lang="en-US" sz="1400" dirty="0"/>
          </a:p>
        </p:txBody>
      </p:sp>
      <p:sp>
        <p:nvSpPr>
          <p:cNvPr id="9" name="Shape 7"/>
          <p:cNvSpPr/>
          <p:nvPr/>
        </p:nvSpPr>
        <p:spPr>
          <a:xfrm>
            <a:off x="3337560" y="1325880"/>
            <a:ext cx="2788920" cy="4480560"/>
          </a:xfrm>
          <a:prstGeom prst="roundRect">
            <a:avLst>
              <a:gd name="adj" fmla="val 2623"/>
            </a:avLst>
          </a:prstGeom>
          <a:solidFill>
            <a:srgbClr val="FFFFFF"/>
          </a:solidFill>
          <a:ln w="12700">
            <a:solidFill>
              <a:srgbClr val="D8D2C6"/>
            </a:solidFill>
            <a:prstDash val="solid"/>
          </a:ln>
        </p:spPr>
      </p:sp>
      <p:sp>
        <p:nvSpPr>
          <p:cNvPr id="10" name="Text 8"/>
          <p:cNvSpPr/>
          <p:nvPr/>
        </p:nvSpPr>
        <p:spPr>
          <a:xfrm>
            <a:off x="3520440" y="1508760"/>
            <a:ext cx="2377440" cy="411480"/>
          </a:xfrm>
          <a:prstGeom prst="rect">
            <a:avLst/>
          </a:prstGeom>
          <a:noFill/>
          <a:ln/>
        </p:spPr>
        <p:txBody>
          <a:bodyPr wrap="square" lIns="0" tIns="0" rIns="0" bIns="0" rtlCol="0" anchor="ctr"/>
          <a:lstStyle/>
          <a:p>
            <a:pPr indent="0" marL="0">
              <a:buNone/>
            </a:pPr>
            <a:r>
              <a:rPr lang="en-US" sz="2200" dirty="0">
                <a:solidFill>
                  <a:srgbClr val="1D5C68"/>
                </a:solidFill>
                <a:latin typeface="Georgia" pitchFamily="34" charset="0"/>
                <a:ea typeface="Georgia" pitchFamily="34" charset="-122"/>
                <a:cs typeface="Georgia" pitchFamily="34" charset="-120"/>
              </a:rPr>
              <a:t>02</a:t>
            </a:r>
            <a:endParaRPr lang="en-US" sz="2200" dirty="0"/>
          </a:p>
        </p:txBody>
      </p:sp>
      <p:sp>
        <p:nvSpPr>
          <p:cNvPr id="11" name="Text 9"/>
          <p:cNvSpPr/>
          <p:nvPr/>
        </p:nvSpPr>
        <p:spPr>
          <a:xfrm>
            <a:off x="3520440" y="2011680"/>
            <a:ext cx="2423160" cy="411480"/>
          </a:xfrm>
          <a:prstGeom prst="rect">
            <a:avLst/>
          </a:prstGeom>
          <a:noFill/>
          <a:ln/>
        </p:spPr>
        <p:txBody>
          <a:bodyPr wrap="square" lIns="0" tIns="0" rIns="0" bIns="0" rtlCol="0" anchor="ctr"/>
          <a:lstStyle/>
          <a:p>
            <a:pPr indent="0" marL="0">
              <a:buNone/>
            </a:pPr>
            <a:r>
              <a:rPr lang="en-US" sz="1600" b="1" dirty="0">
                <a:solidFill>
                  <a:srgbClr val="0E1A24"/>
                </a:solidFill>
                <a:latin typeface="Calibri" pitchFamily="34" charset="0"/>
                <a:ea typeface="Calibri" pitchFamily="34" charset="-122"/>
                <a:cs typeface="Calibri" pitchFamily="34" charset="-120"/>
              </a:rPr>
              <a:t>Pack</a:t>
            </a:r>
            <a:endParaRPr lang="en-US" sz="1600" dirty="0"/>
          </a:p>
        </p:txBody>
      </p:sp>
      <p:sp>
        <p:nvSpPr>
          <p:cNvPr id="12" name="Text 10"/>
          <p:cNvSpPr/>
          <p:nvPr/>
        </p:nvSpPr>
        <p:spPr>
          <a:xfrm>
            <a:off x="3520440" y="2560320"/>
            <a:ext cx="2423160" cy="2834640"/>
          </a:xfrm>
          <a:prstGeom prst="rect">
            <a:avLst/>
          </a:prstGeom>
          <a:noFill/>
          <a:ln/>
        </p:spPr>
        <p:txBody>
          <a:bodyPr wrap="square" lIns="0" tIns="0" rIns="0" bIns="0" rtlCol="0" anchor="ctr"/>
          <a:lstStyle/>
          <a:p>
            <a:pPr indent="0" marL="0">
              <a:buNone/>
            </a:pPr>
            <a:r>
              <a:rPr lang="en-US" sz="1400" dirty="0">
                <a:solidFill>
                  <a:srgbClr val="5E6E78"/>
                </a:solidFill>
                <a:latin typeface="Calibri" pitchFamily="34" charset="0"/>
                <a:ea typeface="Calibri" pitchFamily="34" charset="-122"/>
                <a:cs typeface="Calibri" pitchFamily="34" charset="-120"/>
              </a:rPr>
              <a:t>A second customer gets a second policy pack. Northstar is already in the console. Live switch does not rewrite history.</a:t>
            </a:r>
            <a:endParaRPr lang="en-US" sz="1400" dirty="0"/>
          </a:p>
        </p:txBody>
      </p:sp>
      <p:sp>
        <p:nvSpPr>
          <p:cNvPr id="13" name="Shape 11"/>
          <p:cNvSpPr/>
          <p:nvPr/>
        </p:nvSpPr>
        <p:spPr>
          <a:xfrm>
            <a:off x="6263640" y="1325880"/>
            <a:ext cx="2788920" cy="4480560"/>
          </a:xfrm>
          <a:prstGeom prst="roundRect">
            <a:avLst>
              <a:gd name="adj" fmla="val 2623"/>
            </a:avLst>
          </a:prstGeom>
          <a:solidFill>
            <a:srgbClr val="FFFFFF"/>
          </a:solidFill>
          <a:ln w="12700">
            <a:solidFill>
              <a:srgbClr val="D8D2C6"/>
            </a:solidFill>
            <a:prstDash val="solid"/>
          </a:ln>
        </p:spPr>
      </p:sp>
      <p:sp>
        <p:nvSpPr>
          <p:cNvPr id="14" name="Text 12"/>
          <p:cNvSpPr/>
          <p:nvPr/>
        </p:nvSpPr>
        <p:spPr>
          <a:xfrm>
            <a:off x="6446520" y="1508760"/>
            <a:ext cx="2377440" cy="411480"/>
          </a:xfrm>
          <a:prstGeom prst="rect">
            <a:avLst/>
          </a:prstGeom>
          <a:noFill/>
          <a:ln/>
        </p:spPr>
        <p:txBody>
          <a:bodyPr wrap="square" lIns="0" tIns="0" rIns="0" bIns="0" rtlCol="0" anchor="ctr"/>
          <a:lstStyle/>
          <a:p>
            <a:pPr indent="0" marL="0">
              <a:buNone/>
            </a:pPr>
            <a:r>
              <a:rPr lang="en-US" sz="2200" dirty="0">
                <a:solidFill>
                  <a:srgbClr val="1D5C68"/>
                </a:solidFill>
                <a:latin typeface="Georgia" pitchFamily="34" charset="0"/>
                <a:ea typeface="Georgia" pitchFamily="34" charset="-122"/>
                <a:cs typeface="Georgia" pitchFamily="34" charset="-120"/>
              </a:rPr>
              <a:t>03</a:t>
            </a:r>
            <a:endParaRPr lang="en-US" sz="2200" dirty="0"/>
          </a:p>
        </p:txBody>
      </p:sp>
      <p:sp>
        <p:nvSpPr>
          <p:cNvPr id="15" name="Text 13"/>
          <p:cNvSpPr/>
          <p:nvPr/>
        </p:nvSpPr>
        <p:spPr>
          <a:xfrm>
            <a:off x="6446520" y="2011680"/>
            <a:ext cx="2423160" cy="411480"/>
          </a:xfrm>
          <a:prstGeom prst="rect">
            <a:avLst/>
          </a:prstGeom>
          <a:noFill/>
          <a:ln/>
        </p:spPr>
        <p:txBody>
          <a:bodyPr wrap="square" lIns="0" tIns="0" rIns="0" bIns="0" rtlCol="0" anchor="ctr"/>
          <a:lstStyle/>
          <a:p>
            <a:pPr indent="0" marL="0">
              <a:buNone/>
            </a:pPr>
            <a:r>
              <a:rPr lang="en-US" sz="1600" b="1" dirty="0">
                <a:solidFill>
                  <a:srgbClr val="0E1A24"/>
                </a:solidFill>
                <a:latin typeface="Calibri" pitchFamily="34" charset="0"/>
                <a:ea typeface="Calibri" pitchFamily="34" charset="-122"/>
                <a:cs typeface="Calibri" pitchFamily="34" charset="-120"/>
              </a:rPr>
              <a:t>More agents</a:t>
            </a:r>
            <a:endParaRPr lang="en-US" sz="1600" dirty="0"/>
          </a:p>
        </p:txBody>
      </p:sp>
      <p:sp>
        <p:nvSpPr>
          <p:cNvPr id="16" name="Text 14"/>
          <p:cNvSpPr/>
          <p:nvPr/>
        </p:nvSpPr>
        <p:spPr>
          <a:xfrm>
            <a:off x="6446520" y="2560320"/>
            <a:ext cx="2423160" cy="2834640"/>
          </a:xfrm>
          <a:prstGeom prst="rect">
            <a:avLst/>
          </a:prstGeom>
          <a:noFill/>
          <a:ln/>
        </p:spPr>
        <p:txBody>
          <a:bodyPr wrap="square" lIns="0" tIns="0" rIns="0" bIns="0" rtlCol="0" anchor="ctr"/>
          <a:lstStyle/>
          <a:p>
            <a:pPr indent="0" marL="0">
              <a:buNone/>
            </a:pPr>
            <a:r>
              <a:rPr lang="en-US" sz="1400" dirty="0">
                <a:solidFill>
                  <a:srgbClr val="5E6E78"/>
                </a:solidFill>
                <a:latin typeface="Calibri" pitchFamily="34" charset="0"/>
                <a:ea typeface="Calibri" pitchFamily="34" charset="-122"/>
                <a:cs typeface="Calibri" pitchFamily="34" charset="-120"/>
              </a:rPr>
              <a:t>A legal-terms agent or a usage-commit agent joins the same graph. The orchestrator still writes one label.</a:t>
            </a:r>
            <a:endParaRPr lang="en-US" sz="1400" dirty="0"/>
          </a:p>
        </p:txBody>
      </p:sp>
      <p:sp>
        <p:nvSpPr>
          <p:cNvPr id="17" name="Shape 15"/>
          <p:cNvSpPr/>
          <p:nvPr/>
        </p:nvSpPr>
        <p:spPr>
          <a:xfrm>
            <a:off x="9189720" y="1325880"/>
            <a:ext cx="2788920" cy="4480560"/>
          </a:xfrm>
          <a:prstGeom prst="roundRect">
            <a:avLst>
              <a:gd name="adj" fmla="val 2623"/>
            </a:avLst>
          </a:prstGeom>
          <a:solidFill>
            <a:srgbClr val="FFFFFF"/>
          </a:solidFill>
          <a:ln w="12700">
            <a:solidFill>
              <a:srgbClr val="D8D2C6"/>
            </a:solidFill>
            <a:prstDash val="solid"/>
          </a:ln>
        </p:spPr>
      </p:sp>
      <p:sp>
        <p:nvSpPr>
          <p:cNvPr id="18" name="Text 16"/>
          <p:cNvSpPr/>
          <p:nvPr/>
        </p:nvSpPr>
        <p:spPr>
          <a:xfrm>
            <a:off x="9372600" y="1508760"/>
            <a:ext cx="2377440" cy="411480"/>
          </a:xfrm>
          <a:prstGeom prst="rect">
            <a:avLst/>
          </a:prstGeom>
          <a:noFill/>
          <a:ln/>
        </p:spPr>
        <p:txBody>
          <a:bodyPr wrap="square" lIns="0" tIns="0" rIns="0" bIns="0" rtlCol="0" anchor="ctr"/>
          <a:lstStyle/>
          <a:p>
            <a:pPr indent="0" marL="0">
              <a:buNone/>
            </a:pPr>
            <a:r>
              <a:rPr lang="en-US" sz="2200" dirty="0">
                <a:solidFill>
                  <a:srgbClr val="1D5C68"/>
                </a:solidFill>
                <a:latin typeface="Georgia" pitchFamily="34" charset="0"/>
                <a:ea typeface="Georgia" pitchFamily="34" charset="-122"/>
                <a:cs typeface="Georgia" pitchFamily="34" charset="-120"/>
              </a:rPr>
              <a:t>04</a:t>
            </a:r>
            <a:endParaRPr lang="en-US" sz="2200" dirty="0"/>
          </a:p>
        </p:txBody>
      </p:sp>
      <p:sp>
        <p:nvSpPr>
          <p:cNvPr id="19" name="Text 17"/>
          <p:cNvSpPr/>
          <p:nvPr/>
        </p:nvSpPr>
        <p:spPr>
          <a:xfrm>
            <a:off x="9372600" y="2011680"/>
            <a:ext cx="2423160" cy="411480"/>
          </a:xfrm>
          <a:prstGeom prst="rect">
            <a:avLst/>
          </a:prstGeom>
          <a:noFill/>
          <a:ln/>
        </p:spPr>
        <p:txBody>
          <a:bodyPr wrap="square" lIns="0" tIns="0" rIns="0" bIns="0" rtlCol="0" anchor="ctr"/>
          <a:lstStyle/>
          <a:p>
            <a:pPr indent="0" marL="0">
              <a:buNone/>
            </a:pPr>
            <a:r>
              <a:rPr lang="en-US" sz="1600" b="1" dirty="0">
                <a:solidFill>
                  <a:srgbClr val="0E1A24"/>
                </a:solidFill>
                <a:latin typeface="Calibri" pitchFamily="34" charset="0"/>
                <a:ea typeface="Calibri" pitchFamily="34" charset="-122"/>
                <a:cs typeface="Calibri" pitchFamily="34" charset="-120"/>
              </a:rPr>
              <a:t>Improve</a:t>
            </a:r>
            <a:endParaRPr lang="en-US" sz="1600" dirty="0"/>
          </a:p>
        </p:txBody>
      </p:sp>
      <p:sp>
        <p:nvSpPr>
          <p:cNvPr id="20" name="Text 18"/>
          <p:cNvSpPr/>
          <p:nvPr/>
        </p:nvSpPr>
        <p:spPr>
          <a:xfrm>
            <a:off x="9372600" y="2560320"/>
            <a:ext cx="2423160" cy="2834640"/>
          </a:xfrm>
          <a:prstGeom prst="rect">
            <a:avLst/>
          </a:prstGeom>
          <a:noFill/>
          <a:ln/>
        </p:spPr>
        <p:txBody>
          <a:bodyPr wrap="square" lIns="0" tIns="0" rIns="0" bIns="0" rtlCol="0" anchor="ctr"/>
          <a:lstStyle/>
          <a:p>
            <a:pPr indent="0" marL="0">
              <a:buNone/>
            </a:pPr>
            <a:r>
              <a:rPr lang="en-US" sz="1400" dirty="0">
                <a:solidFill>
                  <a:srgbClr val="5E6E78"/>
                </a:solidFill>
                <a:latin typeface="Calibri" pitchFamily="34" charset="0"/>
                <a:ea typeface="Calibri" pitchFamily="34" charset="-122"/>
                <a:cs typeface="Calibri" pitchFamily="34" charset="-120"/>
              </a:rPr>
              <a:t>Misses from the judge and from Deal Desk overrides become new golden rows. Threshold and assignment rules are config, not code.</a:t>
            </a:r>
            <a:endParaRPr lang="en-US" sz="1400" dirty="0"/>
          </a:p>
        </p:txBody>
      </p:sp>
      <p:sp>
        <p:nvSpPr>
          <p:cNvPr id="21" name="Shape 19"/>
          <p:cNvSpPr/>
          <p:nvPr/>
        </p:nvSpPr>
        <p:spPr>
          <a:xfrm>
            <a:off x="0" y="6601968"/>
            <a:ext cx="12188952" cy="256032"/>
          </a:xfrm>
          <a:prstGeom prst="rect">
            <a:avLst/>
          </a:prstGeom>
          <a:solidFill>
            <a:srgbClr val="0E1A24"/>
          </a:solidFill>
          <a:ln/>
        </p:spPr>
      </p:sp>
      <p:sp>
        <p:nvSpPr>
          <p:cNvPr id="22" name="Text 20"/>
          <p:cNvSpPr/>
          <p:nvPr/>
        </p:nvSpPr>
        <p:spPr>
          <a:xfrm>
            <a:off x="365760" y="6620256"/>
            <a:ext cx="7315200" cy="201168"/>
          </a:xfrm>
          <a:prstGeom prst="rect">
            <a:avLst/>
          </a:prstGeom>
          <a:noFill/>
          <a:ln/>
        </p:spPr>
        <p:txBody>
          <a:bodyPr wrap="square" lIns="0" tIns="0" rIns="0" bIns="0" rtlCol="0" anchor="ctr"/>
          <a:lstStyle/>
          <a:p>
            <a:pPr indent="0" marL="0">
              <a:buNone/>
            </a:pPr>
            <a:r>
              <a:rPr lang="en-US" sz="1000" dirty="0">
                <a:solidFill>
                  <a:srgbClr val="C9D4D8"/>
                </a:solidFill>
                <a:latin typeface="Calibri" pitchFamily="34" charset="0"/>
                <a:ea typeface="Calibri" pitchFamily="34" charset="-122"/>
                <a:cs typeface="Calibri" pitchFamily="34" charset="-120"/>
              </a:rPr>
              <a:t>DealFlow Approval Agents  ·  AIPM403F Capstone</a:t>
            </a:r>
            <a:endParaRPr lang="en-US" sz="1000" dirty="0"/>
          </a:p>
        </p:txBody>
      </p:sp>
      <p:sp>
        <p:nvSpPr>
          <p:cNvPr id="23" name="Text 21"/>
          <p:cNvSpPr/>
          <p:nvPr/>
        </p:nvSpPr>
        <p:spPr>
          <a:xfrm>
            <a:off x="10241280" y="6620256"/>
            <a:ext cx="1554480" cy="201168"/>
          </a:xfrm>
          <a:prstGeom prst="rect">
            <a:avLst/>
          </a:prstGeom>
          <a:noFill/>
          <a:ln/>
        </p:spPr>
        <p:txBody>
          <a:bodyPr wrap="square" lIns="0" tIns="0" rIns="0" bIns="0" rtlCol="0" anchor="ctr"/>
          <a:lstStyle/>
          <a:p>
            <a:pPr algn="r" indent="0" marL="0">
              <a:buNone/>
            </a:pPr>
            <a:r>
              <a:rPr lang="en-US" sz="1000" dirty="0">
                <a:solidFill>
                  <a:srgbClr val="C9D4D8"/>
                </a:solidFill>
                <a:latin typeface="Calibri" pitchFamily="34" charset="0"/>
                <a:ea typeface="Calibri" pitchFamily="34" charset="-122"/>
                <a:cs typeface="Calibri" pitchFamily="34" charset="-120"/>
              </a:rPr>
              <a:t>15 / 18</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7F4EE"/>
          </a:solidFill>
          <a:ln/>
        </p:spPr>
      </p:sp>
      <p:sp>
        <p:nvSpPr>
          <p:cNvPr id="3" name="Text 1"/>
          <p:cNvSpPr/>
          <p:nvPr/>
        </p:nvSpPr>
        <p:spPr>
          <a:xfrm>
            <a:off x="411480" y="201168"/>
            <a:ext cx="11338560" cy="219456"/>
          </a:xfrm>
          <a:prstGeom prst="rect">
            <a:avLst/>
          </a:prstGeom>
          <a:noFill/>
          <a:ln/>
        </p:spPr>
        <p:txBody>
          <a:bodyPr wrap="square" lIns="0" tIns="0" rIns="0" bIns="0" rtlCol="0" anchor="ctr"/>
          <a:lstStyle/>
          <a:p>
            <a:pPr indent="0" marL="0">
              <a:buNone/>
            </a:pPr>
            <a:r>
              <a:rPr lang="en-US" sz="1100" b="1" spc="160" kern="0" dirty="0">
                <a:solidFill>
                  <a:srgbClr val="1D5C68"/>
                </a:solidFill>
                <a:latin typeface="Calibri" pitchFamily="34" charset="0"/>
                <a:ea typeface="Calibri" pitchFamily="34" charset="-122"/>
                <a:cs typeface="Calibri" pitchFamily="34" charset="-120"/>
              </a:rPr>
              <a:t>ETHICAL OVERSIGHT</a:t>
            </a:r>
            <a:endParaRPr lang="en-US" sz="1100" dirty="0"/>
          </a:p>
        </p:txBody>
      </p:sp>
      <p:sp>
        <p:nvSpPr>
          <p:cNvPr id="4" name="Text 2"/>
          <p:cNvSpPr/>
          <p:nvPr/>
        </p:nvSpPr>
        <p:spPr>
          <a:xfrm>
            <a:off x="411480" y="457200"/>
            <a:ext cx="11338560" cy="438912"/>
          </a:xfrm>
          <a:prstGeom prst="rect">
            <a:avLst/>
          </a:prstGeom>
          <a:noFill/>
          <a:ln/>
        </p:spPr>
        <p:txBody>
          <a:bodyPr wrap="square" lIns="0" tIns="0" rIns="0" bIns="0" rtlCol="0" anchor="ctr"/>
          <a:lstStyle/>
          <a:p>
            <a:pPr indent="0" marL="0">
              <a:buNone/>
            </a:pPr>
            <a:r>
              <a:rPr lang="en-US" sz="2600" dirty="0">
                <a:solidFill>
                  <a:srgbClr val="0E1A24"/>
                </a:solidFill>
                <a:latin typeface="Georgia" pitchFamily="34" charset="0"/>
                <a:ea typeface="Georgia" pitchFamily="34" charset="-122"/>
                <a:cs typeface="Georgia" pitchFamily="34" charset="-120"/>
              </a:rPr>
              <a:t>The risks of an agent that can approve money</a:t>
            </a:r>
            <a:endParaRPr lang="en-US" sz="2600" dirty="0"/>
          </a:p>
        </p:txBody>
      </p:sp>
      <p:sp>
        <p:nvSpPr>
          <p:cNvPr id="5" name="Shape 3"/>
          <p:cNvSpPr/>
          <p:nvPr/>
        </p:nvSpPr>
        <p:spPr>
          <a:xfrm>
            <a:off x="365760" y="1234440"/>
            <a:ext cx="3749040" cy="2331720"/>
          </a:xfrm>
          <a:prstGeom prst="roundRect">
            <a:avLst>
              <a:gd name="adj" fmla="val 3137"/>
            </a:avLst>
          </a:prstGeom>
          <a:solidFill>
            <a:srgbClr val="FFFFFF"/>
          </a:solidFill>
          <a:ln w="12700">
            <a:solidFill>
              <a:srgbClr val="D8D2C6"/>
            </a:solidFill>
            <a:prstDash val="solid"/>
          </a:ln>
        </p:spPr>
      </p:sp>
      <p:sp>
        <p:nvSpPr>
          <p:cNvPr id="6" name="Text 4"/>
          <p:cNvSpPr/>
          <p:nvPr/>
        </p:nvSpPr>
        <p:spPr>
          <a:xfrm>
            <a:off x="548640" y="1399032"/>
            <a:ext cx="3383280" cy="365760"/>
          </a:xfrm>
          <a:prstGeom prst="rect">
            <a:avLst/>
          </a:prstGeom>
          <a:noFill/>
          <a:ln/>
        </p:spPr>
        <p:txBody>
          <a:bodyPr wrap="square" lIns="0" tIns="0" rIns="0" bIns="0" rtlCol="0" anchor="ctr"/>
          <a:lstStyle/>
          <a:p>
            <a:pPr indent="0" marL="0">
              <a:buNone/>
            </a:pPr>
            <a:r>
              <a:rPr lang="en-US" sz="1500" b="1" dirty="0">
                <a:solidFill>
                  <a:srgbClr val="1D5C68"/>
                </a:solidFill>
                <a:latin typeface="Calibri" pitchFamily="34" charset="0"/>
                <a:ea typeface="Calibri" pitchFamily="34" charset="-122"/>
                <a:cs typeface="Calibri" pitchFamily="34" charset="-120"/>
              </a:rPr>
              <a:t>Bias in the book</a:t>
            </a:r>
            <a:endParaRPr lang="en-US" sz="1500" dirty="0"/>
          </a:p>
        </p:txBody>
      </p:sp>
      <p:sp>
        <p:nvSpPr>
          <p:cNvPr id="7" name="Text 5"/>
          <p:cNvSpPr/>
          <p:nvPr/>
        </p:nvSpPr>
        <p:spPr>
          <a:xfrm>
            <a:off x="548640" y="1828800"/>
            <a:ext cx="3383280" cy="1554480"/>
          </a:xfrm>
          <a:prstGeom prst="rect">
            <a:avLst/>
          </a:prstGeom>
          <a:noFill/>
          <a:ln/>
        </p:spPr>
        <p:txBody>
          <a:bodyPr wrap="square" lIns="0" tIns="0" rIns="0" bIns="0" rtlCol="0" anchor="ctr"/>
          <a:lstStyle/>
          <a:p>
            <a:pPr indent="0" marL="0">
              <a:buNone/>
            </a:pPr>
            <a:r>
              <a:rPr lang="en-US" sz="1200" dirty="0">
                <a:solidFill>
                  <a:srgbClr val="0E1A24"/>
                </a:solidFill>
                <a:latin typeface="Calibri" pitchFamily="34" charset="0"/>
                <a:ea typeface="Calibri" pitchFamily="34" charset="-122"/>
                <a:cs typeface="Calibri" pitchFamily="34" charset="-120"/>
              </a:rPr>
              <a:t>A ceiling that is tighter for one segment is a business choice, not a model accident. It is visible, versioned, and owned by RevOps. Agents cite it. They do not invent it.</a:t>
            </a:r>
            <a:endParaRPr lang="en-US" sz="1200" dirty="0"/>
          </a:p>
        </p:txBody>
      </p:sp>
      <p:sp>
        <p:nvSpPr>
          <p:cNvPr id="8" name="Shape 6"/>
          <p:cNvSpPr/>
          <p:nvPr/>
        </p:nvSpPr>
        <p:spPr>
          <a:xfrm>
            <a:off x="4251960" y="1234440"/>
            <a:ext cx="3749040" cy="2331720"/>
          </a:xfrm>
          <a:prstGeom prst="roundRect">
            <a:avLst>
              <a:gd name="adj" fmla="val 3137"/>
            </a:avLst>
          </a:prstGeom>
          <a:solidFill>
            <a:srgbClr val="FFFFFF"/>
          </a:solidFill>
          <a:ln w="12700">
            <a:solidFill>
              <a:srgbClr val="D8D2C6"/>
            </a:solidFill>
            <a:prstDash val="solid"/>
          </a:ln>
        </p:spPr>
      </p:sp>
      <p:sp>
        <p:nvSpPr>
          <p:cNvPr id="9" name="Text 7"/>
          <p:cNvSpPr/>
          <p:nvPr/>
        </p:nvSpPr>
        <p:spPr>
          <a:xfrm>
            <a:off x="4434840" y="1399032"/>
            <a:ext cx="3383280" cy="365760"/>
          </a:xfrm>
          <a:prstGeom prst="rect">
            <a:avLst/>
          </a:prstGeom>
          <a:noFill/>
          <a:ln/>
        </p:spPr>
        <p:txBody>
          <a:bodyPr wrap="square" lIns="0" tIns="0" rIns="0" bIns="0" rtlCol="0" anchor="ctr"/>
          <a:lstStyle/>
          <a:p>
            <a:pPr indent="0" marL="0">
              <a:buNone/>
            </a:pPr>
            <a:r>
              <a:rPr lang="en-US" sz="1500" b="1" dirty="0">
                <a:solidFill>
                  <a:srgbClr val="1D5C68"/>
                </a:solidFill>
                <a:latin typeface="Calibri" pitchFamily="34" charset="0"/>
                <a:ea typeface="Calibri" pitchFamily="34" charset="-122"/>
                <a:cs typeface="Calibri" pitchFamily="34" charset="-120"/>
              </a:rPr>
              <a:t>Opaque decisions</a:t>
            </a:r>
            <a:endParaRPr lang="en-US" sz="1500" dirty="0"/>
          </a:p>
        </p:txBody>
      </p:sp>
      <p:sp>
        <p:nvSpPr>
          <p:cNvPr id="10" name="Text 8"/>
          <p:cNvSpPr/>
          <p:nvPr/>
        </p:nvSpPr>
        <p:spPr>
          <a:xfrm>
            <a:off x="4434840" y="1828800"/>
            <a:ext cx="3383280" cy="1554480"/>
          </a:xfrm>
          <a:prstGeom prst="rect">
            <a:avLst/>
          </a:prstGeom>
          <a:noFill/>
          <a:ln/>
        </p:spPr>
        <p:txBody>
          <a:bodyPr wrap="square" lIns="0" tIns="0" rIns="0" bIns="0" rtlCol="0" anchor="ctr"/>
          <a:lstStyle/>
          <a:p>
            <a:pPr indent="0" marL="0">
              <a:buNone/>
            </a:pPr>
            <a:r>
              <a:rPr lang="en-US" sz="1200" dirty="0">
                <a:solidFill>
                  <a:srgbClr val="0E1A24"/>
                </a:solidFill>
                <a:latin typeface="Calibri" pitchFamily="34" charset="0"/>
                <a:ea typeface="Calibri" pitchFamily="34" charset="-122"/>
                <a:cs typeface="Calibri" pitchFamily="34" charset="-120"/>
              </a:rPr>
              <a:t>Every label carries the rule, the confidence formula, and the file that was opened. A seller can open “Show agent reasoning” and see the arithmetic.</a:t>
            </a:r>
            <a:endParaRPr lang="en-US" sz="1200" dirty="0"/>
          </a:p>
        </p:txBody>
      </p:sp>
      <p:sp>
        <p:nvSpPr>
          <p:cNvPr id="11" name="Shape 9"/>
          <p:cNvSpPr/>
          <p:nvPr/>
        </p:nvSpPr>
        <p:spPr>
          <a:xfrm>
            <a:off x="8138160" y="1234440"/>
            <a:ext cx="3749040" cy="2331720"/>
          </a:xfrm>
          <a:prstGeom prst="roundRect">
            <a:avLst>
              <a:gd name="adj" fmla="val 3137"/>
            </a:avLst>
          </a:prstGeom>
          <a:solidFill>
            <a:srgbClr val="FFFFFF"/>
          </a:solidFill>
          <a:ln w="12700">
            <a:solidFill>
              <a:srgbClr val="D8D2C6"/>
            </a:solidFill>
            <a:prstDash val="solid"/>
          </a:ln>
        </p:spPr>
      </p:sp>
      <p:sp>
        <p:nvSpPr>
          <p:cNvPr id="12" name="Text 10"/>
          <p:cNvSpPr/>
          <p:nvPr/>
        </p:nvSpPr>
        <p:spPr>
          <a:xfrm>
            <a:off x="8321040" y="1399032"/>
            <a:ext cx="3383280" cy="365760"/>
          </a:xfrm>
          <a:prstGeom prst="rect">
            <a:avLst/>
          </a:prstGeom>
          <a:noFill/>
          <a:ln/>
        </p:spPr>
        <p:txBody>
          <a:bodyPr wrap="square" lIns="0" tIns="0" rIns="0" bIns="0" rtlCol="0" anchor="ctr"/>
          <a:lstStyle/>
          <a:p>
            <a:pPr indent="0" marL="0">
              <a:buNone/>
            </a:pPr>
            <a:r>
              <a:rPr lang="en-US" sz="1500" b="1" dirty="0">
                <a:solidFill>
                  <a:srgbClr val="1D5C68"/>
                </a:solidFill>
                <a:latin typeface="Calibri" pitchFamily="34" charset="0"/>
                <a:ea typeface="Calibri" pitchFamily="34" charset="-122"/>
                <a:cs typeface="Calibri" pitchFamily="34" charset="-120"/>
              </a:rPr>
              <a:t>Over-autonomy</a:t>
            </a:r>
            <a:endParaRPr lang="en-US" sz="1500" dirty="0"/>
          </a:p>
        </p:txBody>
      </p:sp>
      <p:sp>
        <p:nvSpPr>
          <p:cNvPr id="13" name="Text 11"/>
          <p:cNvSpPr/>
          <p:nvPr/>
        </p:nvSpPr>
        <p:spPr>
          <a:xfrm>
            <a:off x="8321040" y="1828800"/>
            <a:ext cx="3383280" cy="1554480"/>
          </a:xfrm>
          <a:prstGeom prst="rect">
            <a:avLst/>
          </a:prstGeom>
          <a:noFill/>
          <a:ln/>
        </p:spPr>
        <p:txBody>
          <a:bodyPr wrap="square" lIns="0" tIns="0" rIns="0" bIns="0" rtlCol="0" anchor="ctr"/>
          <a:lstStyle/>
          <a:p>
            <a:pPr indent="0" marL="0">
              <a:buNone/>
            </a:pPr>
            <a:r>
              <a:rPr lang="en-US" sz="1200" dirty="0">
                <a:solidFill>
                  <a:srgbClr val="0E1A24"/>
                </a:solidFill>
                <a:latin typeface="Calibri" pitchFamily="34" charset="0"/>
                <a:ea typeface="Calibri" pitchFamily="34" charset="-122"/>
                <a:cs typeface="Calibri" pitchFamily="34" charset="-120"/>
              </a:rPr>
              <a:t>The crew cannot send, sign, or convert. Escalate always names a person and an SLA. Reject returns the quote to the seller.</a:t>
            </a:r>
            <a:endParaRPr lang="en-US" sz="1200" dirty="0"/>
          </a:p>
        </p:txBody>
      </p:sp>
      <p:sp>
        <p:nvSpPr>
          <p:cNvPr id="14" name="Shape 12"/>
          <p:cNvSpPr/>
          <p:nvPr/>
        </p:nvSpPr>
        <p:spPr>
          <a:xfrm>
            <a:off x="365760" y="3749040"/>
            <a:ext cx="3749040" cy="2331720"/>
          </a:xfrm>
          <a:prstGeom prst="roundRect">
            <a:avLst>
              <a:gd name="adj" fmla="val 3137"/>
            </a:avLst>
          </a:prstGeom>
          <a:solidFill>
            <a:srgbClr val="FFFFFF"/>
          </a:solidFill>
          <a:ln w="12700">
            <a:solidFill>
              <a:srgbClr val="D8D2C6"/>
            </a:solidFill>
            <a:prstDash val="solid"/>
          </a:ln>
        </p:spPr>
      </p:sp>
      <p:sp>
        <p:nvSpPr>
          <p:cNvPr id="15" name="Text 13"/>
          <p:cNvSpPr/>
          <p:nvPr/>
        </p:nvSpPr>
        <p:spPr>
          <a:xfrm>
            <a:off x="548640" y="3913632"/>
            <a:ext cx="3383280" cy="365760"/>
          </a:xfrm>
          <a:prstGeom prst="rect">
            <a:avLst/>
          </a:prstGeom>
          <a:noFill/>
          <a:ln/>
        </p:spPr>
        <p:txBody>
          <a:bodyPr wrap="square" lIns="0" tIns="0" rIns="0" bIns="0" rtlCol="0" anchor="ctr"/>
          <a:lstStyle/>
          <a:p>
            <a:pPr indent="0" marL="0">
              <a:buNone/>
            </a:pPr>
            <a:r>
              <a:rPr lang="en-US" sz="1500" b="1" dirty="0">
                <a:solidFill>
                  <a:srgbClr val="1D5C68"/>
                </a:solidFill>
                <a:latin typeface="Calibri" pitchFamily="34" charset="0"/>
                <a:ea typeface="Calibri" pitchFamily="34" charset="-122"/>
                <a:cs typeface="Calibri" pitchFamily="34" charset="-120"/>
              </a:rPr>
              <a:t>Prompt injection</a:t>
            </a:r>
            <a:endParaRPr lang="en-US" sz="1500" dirty="0"/>
          </a:p>
        </p:txBody>
      </p:sp>
      <p:sp>
        <p:nvSpPr>
          <p:cNvPr id="16" name="Text 14"/>
          <p:cNvSpPr/>
          <p:nvPr/>
        </p:nvSpPr>
        <p:spPr>
          <a:xfrm>
            <a:off x="548640" y="4343400"/>
            <a:ext cx="3383280" cy="1554480"/>
          </a:xfrm>
          <a:prstGeom prst="rect">
            <a:avLst/>
          </a:prstGeom>
          <a:noFill/>
          <a:ln/>
        </p:spPr>
        <p:txBody>
          <a:bodyPr wrap="square" lIns="0" tIns="0" rIns="0" bIns="0" rtlCol="0" anchor="ctr"/>
          <a:lstStyle/>
          <a:p>
            <a:pPr indent="0" marL="0">
              <a:buNone/>
            </a:pPr>
            <a:r>
              <a:rPr lang="en-US" sz="1200" dirty="0">
                <a:solidFill>
                  <a:srgbClr val="0E1A24"/>
                </a:solidFill>
                <a:latin typeface="Calibri" pitchFamily="34" charset="0"/>
                <a:ea typeface="Calibri" pitchFamily="34" charset="-122"/>
                <a:cs typeface="Calibri" pitchFamily="34" charset="-120"/>
              </a:rPr>
              <a:t>A note that says “ignore the discount book” is detected and cannot produce Approve. That is the ethical control, not a filter on tone.</a:t>
            </a:r>
            <a:endParaRPr lang="en-US" sz="1200" dirty="0"/>
          </a:p>
        </p:txBody>
      </p:sp>
      <p:sp>
        <p:nvSpPr>
          <p:cNvPr id="17" name="Shape 15"/>
          <p:cNvSpPr/>
          <p:nvPr/>
        </p:nvSpPr>
        <p:spPr>
          <a:xfrm>
            <a:off x="4251960" y="3749040"/>
            <a:ext cx="3749040" cy="2331720"/>
          </a:xfrm>
          <a:prstGeom prst="roundRect">
            <a:avLst>
              <a:gd name="adj" fmla="val 3137"/>
            </a:avLst>
          </a:prstGeom>
          <a:solidFill>
            <a:srgbClr val="FFFFFF"/>
          </a:solidFill>
          <a:ln w="12700">
            <a:solidFill>
              <a:srgbClr val="D8D2C6"/>
            </a:solidFill>
            <a:prstDash val="solid"/>
          </a:ln>
        </p:spPr>
      </p:sp>
      <p:sp>
        <p:nvSpPr>
          <p:cNvPr id="18" name="Text 16"/>
          <p:cNvSpPr/>
          <p:nvPr/>
        </p:nvSpPr>
        <p:spPr>
          <a:xfrm>
            <a:off x="4434840" y="3913632"/>
            <a:ext cx="3383280" cy="365760"/>
          </a:xfrm>
          <a:prstGeom prst="rect">
            <a:avLst/>
          </a:prstGeom>
          <a:noFill/>
          <a:ln/>
        </p:spPr>
        <p:txBody>
          <a:bodyPr wrap="square" lIns="0" tIns="0" rIns="0" bIns="0" rtlCol="0" anchor="ctr"/>
          <a:lstStyle/>
          <a:p>
            <a:pPr indent="0" marL="0">
              <a:buNone/>
            </a:pPr>
            <a:r>
              <a:rPr lang="en-US" sz="1500" b="1" dirty="0">
                <a:solidFill>
                  <a:srgbClr val="1D5C68"/>
                </a:solidFill>
                <a:latin typeface="Calibri" pitchFamily="34" charset="0"/>
                <a:ea typeface="Calibri" pitchFamily="34" charset="-122"/>
                <a:cs typeface="Calibri" pitchFamily="34" charset="-120"/>
              </a:rPr>
              <a:t>Privacy</a:t>
            </a:r>
            <a:endParaRPr lang="en-US" sz="1500" dirty="0"/>
          </a:p>
        </p:txBody>
      </p:sp>
      <p:sp>
        <p:nvSpPr>
          <p:cNvPr id="19" name="Text 17"/>
          <p:cNvSpPr/>
          <p:nvPr/>
        </p:nvSpPr>
        <p:spPr>
          <a:xfrm>
            <a:off x="4434840" y="4343400"/>
            <a:ext cx="3383280" cy="1554480"/>
          </a:xfrm>
          <a:prstGeom prst="rect">
            <a:avLst/>
          </a:prstGeom>
          <a:noFill/>
          <a:ln/>
        </p:spPr>
        <p:txBody>
          <a:bodyPr wrap="square" lIns="0" tIns="0" rIns="0" bIns="0" rtlCol="0" anchor="ctr"/>
          <a:lstStyle/>
          <a:p>
            <a:pPr indent="0" marL="0">
              <a:buNone/>
            </a:pPr>
            <a:r>
              <a:rPr lang="en-US" sz="1200" dirty="0">
                <a:solidFill>
                  <a:srgbClr val="0E1A24"/>
                </a:solidFill>
                <a:latin typeface="Calibri" pitchFamily="34" charset="0"/>
                <a:ea typeface="Calibri" pitchFamily="34" charset="-122"/>
                <a:cs typeface="Calibri" pitchFamily="34" charset="-120"/>
              </a:rPr>
              <a:t>The hop reads commercial fields: discount, terms, ACV, receivables. It does not need personal data beyond the seller and the account name.</a:t>
            </a:r>
            <a:endParaRPr lang="en-US" sz="1200" dirty="0"/>
          </a:p>
        </p:txBody>
      </p:sp>
      <p:sp>
        <p:nvSpPr>
          <p:cNvPr id="20" name="Shape 18"/>
          <p:cNvSpPr/>
          <p:nvPr/>
        </p:nvSpPr>
        <p:spPr>
          <a:xfrm>
            <a:off x="8138160" y="3749040"/>
            <a:ext cx="3749040" cy="2331720"/>
          </a:xfrm>
          <a:prstGeom prst="roundRect">
            <a:avLst>
              <a:gd name="adj" fmla="val 3137"/>
            </a:avLst>
          </a:prstGeom>
          <a:solidFill>
            <a:srgbClr val="FFFFFF"/>
          </a:solidFill>
          <a:ln w="12700">
            <a:solidFill>
              <a:srgbClr val="D8D2C6"/>
            </a:solidFill>
            <a:prstDash val="solid"/>
          </a:ln>
        </p:spPr>
      </p:sp>
      <p:sp>
        <p:nvSpPr>
          <p:cNvPr id="21" name="Text 19"/>
          <p:cNvSpPr/>
          <p:nvPr/>
        </p:nvSpPr>
        <p:spPr>
          <a:xfrm>
            <a:off x="8321040" y="3913632"/>
            <a:ext cx="3383280" cy="365760"/>
          </a:xfrm>
          <a:prstGeom prst="rect">
            <a:avLst/>
          </a:prstGeom>
          <a:noFill/>
          <a:ln/>
        </p:spPr>
        <p:txBody>
          <a:bodyPr wrap="square" lIns="0" tIns="0" rIns="0" bIns="0" rtlCol="0" anchor="ctr"/>
          <a:lstStyle/>
          <a:p>
            <a:pPr indent="0" marL="0">
              <a:buNone/>
            </a:pPr>
            <a:r>
              <a:rPr lang="en-US" sz="1500" b="1" dirty="0">
                <a:solidFill>
                  <a:srgbClr val="1D5C68"/>
                </a:solidFill>
                <a:latin typeface="Calibri" pitchFamily="34" charset="0"/>
                <a:ea typeface="Calibri" pitchFamily="34" charset="-122"/>
                <a:cs typeface="Calibri" pitchFamily="34" charset="-120"/>
              </a:rPr>
              <a:t>Drift</a:t>
            </a:r>
            <a:endParaRPr lang="en-US" sz="1500" dirty="0"/>
          </a:p>
        </p:txBody>
      </p:sp>
      <p:sp>
        <p:nvSpPr>
          <p:cNvPr id="22" name="Text 20"/>
          <p:cNvSpPr/>
          <p:nvPr/>
        </p:nvSpPr>
        <p:spPr>
          <a:xfrm>
            <a:off x="8321040" y="4343400"/>
            <a:ext cx="3383280" cy="1554480"/>
          </a:xfrm>
          <a:prstGeom prst="rect">
            <a:avLst/>
          </a:prstGeom>
          <a:noFill/>
          <a:ln/>
        </p:spPr>
        <p:txBody>
          <a:bodyPr wrap="square" lIns="0" tIns="0" rIns="0" bIns="0" rtlCol="0" anchor="ctr"/>
          <a:lstStyle/>
          <a:p>
            <a:pPr indent="0" marL="0">
              <a:buNone/>
            </a:pPr>
            <a:r>
              <a:rPr lang="en-US" sz="1200" dirty="0">
                <a:solidFill>
                  <a:srgbClr val="0E1A24"/>
                </a:solidFill>
                <a:latin typeface="Calibri" pitchFamily="34" charset="0"/>
                <a:ea typeface="Calibri" pitchFamily="34" charset="-122"/>
                <a:cs typeface="Calibri" pitchFamily="34" charset="-120"/>
              </a:rPr>
              <a:t>Langfuse plus the golden harness catch a crew that starts approving what the book would hold. A policy version change is a human confirm, not a silent extract.</a:t>
            </a:r>
            <a:endParaRPr lang="en-US" sz="1200" dirty="0"/>
          </a:p>
        </p:txBody>
      </p:sp>
      <p:sp>
        <p:nvSpPr>
          <p:cNvPr id="23" name="Shape 21"/>
          <p:cNvSpPr/>
          <p:nvPr/>
        </p:nvSpPr>
        <p:spPr>
          <a:xfrm>
            <a:off x="0" y="6601968"/>
            <a:ext cx="12188952" cy="256032"/>
          </a:xfrm>
          <a:prstGeom prst="rect">
            <a:avLst/>
          </a:prstGeom>
          <a:solidFill>
            <a:srgbClr val="0E1A24"/>
          </a:solidFill>
          <a:ln/>
        </p:spPr>
      </p:sp>
      <p:sp>
        <p:nvSpPr>
          <p:cNvPr id="24" name="Text 22"/>
          <p:cNvSpPr/>
          <p:nvPr/>
        </p:nvSpPr>
        <p:spPr>
          <a:xfrm>
            <a:off x="365760" y="6620256"/>
            <a:ext cx="7315200" cy="201168"/>
          </a:xfrm>
          <a:prstGeom prst="rect">
            <a:avLst/>
          </a:prstGeom>
          <a:noFill/>
          <a:ln/>
        </p:spPr>
        <p:txBody>
          <a:bodyPr wrap="square" lIns="0" tIns="0" rIns="0" bIns="0" rtlCol="0" anchor="ctr"/>
          <a:lstStyle/>
          <a:p>
            <a:pPr indent="0" marL="0">
              <a:buNone/>
            </a:pPr>
            <a:r>
              <a:rPr lang="en-US" sz="1000" dirty="0">
                <a:solidFill>
                  <a:srgbClr val="C9D4D8"/>
                </a:solidFill>
                <a:latin typeface="Calibri" pitchFamily="34" charset="0"/>
                <a:ea typeface="Calibri" pitchFamily="34" charset="-122"/>
                <a:cs typeface="Calibri" pitchFamily="34" charset="-120"/>
              </a:rPr>
              <a:t>DealFlow Approval Agents  ·  AIPM403F Capstone</a:t>
            </a:r>
            <a:endParaRPr lang="en-US" sz="1000" dirty="0"/>
          </a:p>
        </p:txBody>
      </p:sp>
      <p:sp>
        <p:nvSpPr>
          <p:cNvPr id="25" name="Text 23"/>
          <p:cNvSpPr/>
          <p:nvPr/>
        </p:nvSpPr>
        <p:spPr>
          <a:xfrm>
            <a:off x="10241280" y="6620256"/>
            <a:ext cx="1554480" cy="201168"/>
          </a:xfrm>
          <a:prstGeom prst="rect">
            <a:avLst/>
          </a:prstGeom>
          <a:noFill/>
          <a:ln/>
        </p:spPr>
        <p:txBody>
          <a:bodyPr wrap="square" lIns="0" tIns="0" rIns="0" bIns="0" rtlCol="0" anchor="ctr"/>
          <a:lstStyle/>
          <a:p>
            <a:pPr algn="r" indent="0" marL="0">
              <a:buNone/>
            </a:pPr>
            <a:r>
              <a:rPr lang="en-US" sz="1000" dirty="0">
                <a:solidFill>
                  <a:srgbClr val="C9D4D8"/>
                </a:solidFill>
                <a:latin typeface="Calibri" pitchFamily="34" charset="0"/>
                <a:ea typeface="Calibri" pitchFamily="34" charset="-122"/>
                <a:cs typeface="Calibri" pitchFamily="34" charset="-120"/>
              </a:rPr>
              <a:t>16 / 18</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7F4EE"/>
          </a:solidFill>
          <a:ln/>
        </p:spPr>
      </p:sp>
      <p:sp>
        <p:nvSpPr>
          <p:cNvPr id="3" name="Text 1"/>
          <p:cNvSpPr/>
          <p:nvPr/>
        </p:nvSpPr>
        <p:spPr>
          <a:xfrm>
            <a:off x="411480" y="201168"/>
            <a:ext cx="11338560" cy="219456"/>
          </a:xfrm>
          <a:prstGeom prst="rect">
            <a:avLst/>
          </a:prstGeom>
          <a:noFill/>
          <a:ln/>
        </p:spPr>
        <p:txBody>
          <a:bodyPr wrap="square" lIns="0" tIns="0" rIns="0" bIns="0" rtlCol="0" anchor="ctr"/>
          <a:lstStyle/>
          <a:p>
            <a:pPr indent="0" marL="0">
              <a:buNone/>
            </a:pPr>
            <a:r>
              <a:rPr lang="en-US" sz="1100" b="1" spc="160" kern="0" dirty="0">
                <a:solidFill>
                  <a:srgbClr val="1D5C68"/>
                </a:solidFill>
                <a:latin typeface="Calibri" pitchFamily="34" charset="0"/>
                <a:ea typeface="Calibri" pitchFamily="34" charset="-122"/>
                <a:cs typeface="Calibri" pitchFamily="34" charset="-120"/>
              </a:rPr>
              <a:t>CONCLUSION AND BUSINESS IMPLICATIONS</a:t>
            </a:r>
            <a:endParaRPr lang="en-US" sz="1100" dirty="0"/>
          </a:p>
        </p:txBody>
      </p:sp>
      <p:sp>
        <p:nvSpPr>
          <p:cNvPr id="4" name="Text 2"/>
          <p:cNvSpPr/>
          <p:nvPr/>
        </p:nvSpPr>
        <p:spPr>
          <a:xfrm>
            <a:off x="411480" y="457200"/>
            <a:ext cx="11338560" cy="438912"/>
          </a:xfrm>
          <a:prstGeom prst="rect">
            <a:avLst/>
          </a:prstGeom>
          <a:noFill/>
          <a:ln/>
        </p:spPr>
        <p:txBody>
          <a:bodyPr wrap="square" lIns="0" tIns="0" rIns="0" bIns="0" rtlCol="0" anchor="ctr"/>
          <a:lstStyle/>
          <a:p>
            <a:pPr indent="0" marL="0">
              <a:buNone/>
            </a:pPr>
            <a:r>
              <a:rPr lang="en-US" sz="2600" dirty="0">
                <a:solidFill>
                  <a:srgbClr val="0E1A24"/>
                </a:solidFill>
                <a:latin typeface="Georgia" pitchFamily="34" charset="0"/>
                <a:ea typeface="Georgia" pitchFamily="34" charset="-122"/>
                <a:cs typeface="Georgia" pitchFamily="34" charset="-120"/>
              </a:rPr>
              <a:t>A bounded crew is the product</a:t>
            </a:r>
            <a:endParaRPr lang="en-US" sz="2600" dirty="0"/>
          </a:p>
        </p:txBody>
      </p:sp>
      <p:sp>
        <p:nvSpPr>
          <p:cNvPr id="5" name="Shape 3"/>
          <p:cNvSpPr/>
          <p:nvPr/>
        </p:nvSpPr>
        <p:spPr>
          <a:xfrm>
            <a:off x="411480" y="1280160"/>
            <a:ext cx="11338560" cy="1417320"/>
          </a:xfrm>
          <a:prstGeom prst="roundRect">
            <a:avLst>
              <a:gd name="adj" fmla="val 5161"/>
            </a:avLst>
          </a:prstGeom>
          <a:solidFill>
            <a:srgbClr val="FFFFFF"/>
          </a:solidFill>
          <a:ln w="12700">
            <a:solidFill>
              <a:srgbClr val="D8D2C6"/>
            </a:solidFill>
            <a:prstDash val="solid"/>
          </a:ln>
        </p:spPr>
      </p:sp>
      <p:sp>
        <p:nvSpPr>
          <p:cNvPr id="6" name="Text 4"/>
          <p:cNvSpPr/>
          <p:nvPr/>
        </p:nvSpPr>
        <p:spPr>
          <a:xfrm>
            <a:off x="640080" y="1508760"/>
            <a:ext cx="2926080" cy="914400"/>
          </a:xfrm>
          <a:prstGeom prst="rect">
            <a:avLst/>
          </a:prstGeom>
          <a:noFill/>
          <a:ln/>
        </p:spPr>
        <p:txBody>
          <a:bodyPr wrap="square" lIns="0" tIns="0" rIns="0" bIns="0" rtlCol="0" anchor="ctr"/>
          <a:lstStyle/>
          <a:p>
            <a:pPr indent="0" marL="0">
              <a:buNone/>
            </a:pPr>
            <a:r>
              <a:rPr lang="en-US" sz="1800" dirty="0">
                <a:solidFill>
                  <a:srgbClr val="1D5C68"/>
                </a:solidFill>
                <a:latin typeface="Georgia" pitchFamily="34" charset="0"/>
                <a:ea typeface="Georgia" pitchFamily="34" charset="-122"/>
                <a:cs typeface="Georgia" pitchFamily="34" charset="-120"/>
              </a:rPr>
              <a:t>What I built</a:t>
            </a:r>
            <a:endParaRPr lang="en-US" sz="1800" dirty="0"/>
          </a:p>
        </p:txBody>
      </p:sp>
      <p:sp>
        <p:nvSpPr>
          <p:cNvPr id="7" name="Text 5"/>
          <p:cNvSpPr/>
          <p:nvPr/>
        </p:nvSpPr>
        <p:spPr>
          <a:xfrm>
            <a:off x="3657600" y="1536192"/>
            <a:ext cx="7772400" cy="914400"/>
          </a:xfrm>
          <a:prstGeom prst="rect">
            <a:avLst/>
          </a:prstGeom>
          <a:noFill/>
          <a:ln/>
        </p:spPr>
        <p:txBody>
          <a:bodyPr wrap="square" lIns="0" tIns="0" rIns="0" bIns="0" rtlCol="0" anchor="ctr"/>
          <a:lstStyle/>
          <a:p>
            <a:pPr indent="0" marL="0">
              <a:buNone/>
            </a:pPr>
            <a:r>
              <a:rPr lang="en-US" sz="1500" dirty="0">
                <a:solidFill>
                  <a:srgbClr val="0E1A24"/>
                </a:solidFill>
                <a:latin typeface="Calibri" pitchFamily="34" charset="0"/>
                <a:ea typeface="Calibri" pitchFamily="34" charset="-122"/>
                <a:cs typeface="Calibri" pitchFamily="34" charset="-120"/>
              </a:rPr>
              <a:t>A sellable approval agent: policy console, three-agent hop, assignment matrix, golden eval, Langfuse, and a live demo a judge can click.</a:t>
            </a:r>
            <a:endParaRPr lang="en-US" sz="1500" dirty="0"/>
          </a:p>
        </p:txBody>
      </p:sp>
      <p:sp>
        <p:nvSpPr>
          <p:cNvPr id="8" name="Shape 6"/>
          <p:cNvSpPr/>
          <p:nvPr/>
        </p:nvSpPr>
        <p:spPr>
          <a:xfrm>
            <a:off x="411480" y="2834640"/>
            <a:ext cx="11338560" cy="1417320"/>
          </a:xfrm>
          <a:prstGeom prst="roundRect">
            <a:avLst>
              <a:gd name="adj" fmla="val 5161"/>
            </a:avLst>
          </a:prstGeom>
          <a:solidFill>
            <a:srgbClr val="FFFFFF"/>
          </a:solidFill>
          <a:ln w="12700">
            <a:solidFill>
              <a:srgbClr val="D8D2C6"/>
            </a:solidFill>
            <a:prstDash val="solid"/>
          </a:ln>
        </p:spPr>
      </p:sp>
      <p:sp>
        <p:nvSpPr>
          <p:cNvPr id="9" name="Text 7"/>
          <p:cNvSpPr/>
          <p:nvPr/>
        </p:nvSpPr>
        <p:spPr>
          <a:xfrm>
            <a:off x="640080" y="3063240"/>
            <a:ext cx="2926080" cy="914400"/>
          </a:xfrm>
          <a:prstGeom prst="rect">
            <a:avLst/>
          </a:prstGeom>
          <a:noFill/>
          <a:ln/>
        </p:spPr>
        <p:txBody>
          <a:bodyPr wrap="square" lIns="0" tIns="0" rIns="0" bIns="0" rtlCol="0" anchor="ctr"/>
          <a:lstStyle/>
          <a:p>
            <a:pPr indent="0" marL="0">
              <a:buNone/>
            </a:pPr>
            <a:r>
              <a:rPr lang="en-US" sz="1800" dirty="0">
                <a:solidFill>
                  <a:srgbClr val="1D5C68"/>
                </a:solidFill>
                <a:latin typeface="Georgia" pitchFamily="34" charset="0"/>
                <a:ea typeface="Georgia" pitchFamily="34" charset="-122"/>
                <a:cs typeface="Georgia" pitchFamily="34" charset="-120"/>
              </a:rPr>
              <a:t>What I learned</a:t>
            </a:r>
            <a:endParaRPr lang="en-US" sz="1800" dirty="0"/>
          </a:p>
        </p:txBody>
      </p:sp>
      <p:sp>
        <p:nvSpPr>
          <p:cNvPr id="10" name="Text 8"/>
          <p:cNvSpPr/>
          <p:nvPr/>
        </p:nvSpPr>
        <p:spPr>
          <a:xfrm>
            <a:off x="3657600" y="3090672"/>
            <a:ext cx="7772400" cy="914400"/>
          </a:xfrm>
          <a:prstGeom prst="rect">
            <a:avLst/>
          </a:prstGeom>
          <a:noFill/>
          <a:ln/>
        </p:spPr>
        <p:txBody>
          <a:bodyPr wrap="square" lIns="0" tIns="0" rIns="0" bIns="0" rtlCol="0" anchor="ctr"/>
          <a:lstStyle/>
          <a:p>
            <a:pPr indent="0" marL="0">
              <a:buNone/>
            </a:pPr>
            <a:r>
              <a:rPr lang="en-US" sz="1500" dirty="0">
                <a:solidFill>
                  <a:srgbClr val="0E1A24"/>
                </a:solidFill>
                <a:latin typeface="Calibri" pitchFamily="34" charset="0"/>
                <a:ea typeface="Calibri" pitchFamily="34" charset="-122"/>
                <a:cs typeface="Calibri" pitchFamily="34" charset="-120"/>
              </a:rPr>
              <a:t>Agentic value is the loop — tools, a goal, a guardrail — not a longer prompt. The book stays the authority. The agents do the reading.</a:t>
            </a:r>
            <a:endParaRPr lang="en-US" sz="1500" dirty="0"/>
          </a:p>
        </p:txBody>
      </p:sp>
      <p:sp>
        <p:nvSpPr>
          <p:cNvPr id="11" name="Shape 9"/>
          <p:cNvSpPr/>
          <p:nvPr/>
        </p:nvSpPr>
        <p:spPr>
          <a:xfrm>
            <a:off x="411480" y="4389120"/>
            <a:ext cx="11338560" cy="1417320"/>
          </a:xfrm>
          <a:prstGeom prst="roundRect">
            <a:avLst>
              <a:gd name="adj" fmla="val 5161"/>
            </a:avLst>
          </a:prstGeom>
          <a:solidFill>
            <a:srgbClr val="FFFFFF"/>
          </a:solidFill>
          <a:ln w="12700">
            <a:solidFill>
              <a:srgbClr val="D8D2C6"/>
            </a:solidFill>
            <a:prstDash val="solid"/>
          </a:ln>
        </p:spPr>
      </p:sp>
      <p:sp>
        <p:nvSpPr>
          <p:cNvPr id="12" name="Text 10"/>
          <p:cNvSpPr/>
          <p:nvPr/>
        </p:nvSpPr>
        <p:spPr>
          <a:xfrm>
            <a:off x="640080" y="4617720"/>
            <a:ext cx="2926080" cy="914400"/>
          </a:xfrm>
          <a:prstGeom prst="rect">
            <a:avLst/>
          </a:prstGeom>
          <a:noFill/>
          <a:ln/>
        </p:spPr>
        <p:txBody>
          <a:bodyPr wrap="square" lIns="0" tIns="0" rIns="0" bIns="0" rtlCol="0" anchor="ctr"/>
          <a:lstStyle/>
          <a:p>
            <a:pPr indent="0" marL="0">
              <a:buNone/>
            </a:pPr>
            <a:r>
              <a:rPr lang="en-US" sz="1800" dirty="0">
                <a:solidFill>
                  <a:srgbClr val="1D5C68"/>
                </a:solidFill>
                <a:latin typeface="Georgia" pitchFamily="34" charset="0"/>
                <a:ea typeface="Georgia" pitchFamily="34" charset="-122"/>
                <a:cs typeface="Georgia" pitchFamily="34" charset="-120"/>
              </a:rPr>
              <a:t>What it is worth</a:t>
            </a:r>
            <a:endParaRPr lang="en-US" sz="1800" dirty="0"/>
          </a:p>
        </p:txBody>
      </p:sp>
      <p:sp>
        <p:nvSpPr>
          <p:cNvPr id="13" name="Text 11"/>
          <p:cNvSpPr/>
          <p:nvPr/>
        </p:nvSpPr>
        <p:spPr>
          <a:xfrm>
            <a:off x="3657600" y="4645152"/>
            <a:ext cx="7772400" cy="914400"/>
          </a:xfrm>
          <a:prstGeom prst="rect">
            <a:avLst/>
          </a:prstGeom>
          <a:noFill/>
          <a:ln/>
        </p:spPr>
        <p:txBody>
          <a:bodyPr wrap="square" lIns="0" tIns="0" rIns="0" bIns="0" rtlCol="0" anchor="ctr"/>
          <a:lstStyle/>
          <a:p>
            <a:pPr indent="0" marL="0">
              <a:buNone/>
            </a:pPr>
            <a:r>
              <a:rPr lang="en-US" sz="1500" dirty="0">
                <a:solidFill>
                  <a:srgbClr val="0E1A24"/>
                </a:solidFill>
                <a:latin typeface="Calibri" pitchFamily="34" charset="0"/>
                <a:ea typeface="Calibri" pitchFamily="34" charset="-122"/>
                <a:cs typeface="Calibri" pitchFamily="34" charset="-120"/>
              </a:rPr>
              <a:t>Clean quotes clear. Exceptions land with a person. Finance can replay the hop. The CPQ does not have to be replaced to get that.</a:t>
            </a:r>
            <a:endParaRPr lang="en-US" sz="1500" dirty="0"/>
          </a:p>
        </p:txBody>
      </p:sp>
      <p:sp>
        <p:nvSpPr>
          <p:cNvPr id="14" name="Shape 12"/>
          <p:cNvSpPr/>
          <p:nvPr/>
        </p:nvSpPr>
        <p:spPr>
          <a:xfrm>
            <a:off x="0" y="6601968"/>
            <a:ext cx="12188952" cy="256032"/>
          </a:xfrm>
          <a:prstGeom prst="rect">
            <a:avLst/>
          </a:prstGeom>
          <a:solidFill>
            <a:srgbClr val="0E1A24"/>
          </a:solidFill>
          <a:ln/>
        </p:spPr>
      </p:sp>
      <p:sp>
        <p:nvSpPr>
          <p:cNvPr id="15" name="Text 13"/>
          <p:cNvSpPr/>
          <p:nvPr/>
        </p:nvSpPr>
        <p:spPr>
          <a:xfrm>
            <a:off x="365760" y="6620256"/>
            <a:ext cx="7315200" cy="201168"/>
          </a:xfrm>
          <a:prstGeom prst="rect">
            <a:avLst/>
          </a:prstGeom>
          <a:noFill/>
          <a:ln/>
        </p:spPr>
        <p:txBody>
          <a:bodyPr wrap="square" lIns="0" tIns="0" rIns="0" bIns="0" rtlCol="0" anchor="ctr"/>
          <a:lstStyle/>
          <a:p>
            <a:pPr indent="0" marL="0">
              <a:buNone/>
            </a:pPr>
            <a:r>
              <a:rPr lang="en-US" sz="1000" dirty="0">
                <a:solidFill>
                  <a:srgbClr val="C9D4D8"/>
                </a:solidFill>
                <a:latin typeface="Calibri" pitchFamily="34" charset="0"/>
                <a:ea typeface="Calibri" pitchFamily="34" charset="-122"/>
                <a:cs typeface="Calibri" pitchFamily="34" charset="-120"/>
              </a:rPr>
              <a:t>DealFlow Approval Agents  ·  AIPM403F Capstone</a:t>
            </a:r>
            <a:endParaRPr lang="en-US" sz="1000" dirty="0"/>
          </a:p>
        </p:txBody>
      </p:sp>
      <p:sp>
        <p:nvSpPr>
          <p:cNvPr id="16" name="Text 14"/>
          <p:cNvSpPr/>
          <p:nvPr/>
        </p:nvSpPr>
        <p:spPr>
          <a:xfrm>
            <a:off x="10241280" y="6620256"/>
            <a:ext cx="1554480" cy="201168"/>
          </a:xfrm>
          <a:prstGeom prst="rect">
            <a:avLst/>
          </a:prstGeom>
          <a:noFill/>
          <a:ln/>
        </p:spPr>
        <p:txBody>
          <a:bodyPr wrap="square" lIns="0" tIns="0" rIns="0" bIns="0" rtlCol="0" anchor="ctr"/>
          <a:lstStyle/>
          <a:p>
            <a:pPr algn="r" indent="0" marL="0">
              <a:buNone/>
            </a:pPr>
            <a:r>
              <a:rPr lang="en-US" sz="1000" dirty="0">
                <a:solidFill>
                  <a:srgbClr val="C9D4D8"/>
                </a:solidFill>
                <a:latin typeface="Calibri" pitchFamily="34" charset="0"/>
                <a:ea typeface="Calibri" pitchFamily="34" charset="-122"/>
                <a:cs typeface="Calibri" pitchFamily="34" charset="-120"/>
              </a:rPr>
              <a:t>17 / 18</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E1A24"/>
          </a:solidFill>
          <a:ln/>
        </p:spPr>
      </p:sp>
      <p:sp>
        <p:nvSpPr>
          <p:cNvPr id="3" name="Shape 1"/>
          <p:cNvSpPr/>
          <p:nvPr/>
        </p:nvSpPr>
        <p:spPr>
          <a:xfrm>
            <a:off x="0" y="0"/>
            <a:ext cx="164592" cy="6858000"/>
          </a:xfrm>
          <a:prstGeom prst="rect">
            <a:avLst/>
          </a:prstGeom>
          <a:solidFill>
            <a:srgbClr val="1D5C68"/>
          </a:solidFill>
          <a:ln/>
        </p:spPr>
      </p:sp>
      <p:sp>
        <p:nvSpPr>
          <p:cNvPr id="4" name="Text 2"/>
          <p:cNvSpPr/>
          <p:nvPr/>
        </p:nvSpPr>
        <p:spPr>
          <a:xfrm>
            <a:off x="640080" y="1554480"/>
            <a:ext cx="10058400" cy="365760"/>
          </a:xfrm>
          <a:prstGeom prst="rect">
            <a:avLst/>
          </a:prstGeom>
          <a:noFill/>
          <a:ln/>
        </p:spPr>
        <p:txBody>
          <a:bodyPr wrap="square" lIns="0" tIns="0" rIns="0" bIns="0" rtlCol="0" anchor="ctr"/>
          <a:lstStyle/>
          <a:p>
            <a:pPr indent="0" marL="0">
              <a:buNone/>
            </a:pPr>
            <a:r>
              <a:rPr lang="en-US" sz="1400" b="1" spc="200" kern="0" dirty="0">
                <a:solidFill>
                  <a:srgbClr val="8FB8C0"/>
                </a:solidFill>
                <a:latin typeface="Calibri" pitchFamily="34" charset="0"/>
                <a:ea typeface="Calibri" pitchFamily="34" charset="-122"/>
                <a:cs typeface="Calibri" pitchFamily="34" charset="-120"/>
              </a:rPr>
              <a:t>THANK YOU</a:t>
            </a:r>
            <a:endParaRPr lang="en-US" sz="1400" dirty="0"/>
          </a:p>
        </p:txBody>
      </p:sp>
      <p:sp>
        <p:nvSpPr>
          <p:cNvPr id="5" name="Text 3"/>
          <p:cNvSpPr/>
          <p:nvPr/>
        </p:nvSpPr>
        <p:spPr>
          <a:xfrm>
            <a:off x="640080" y="2011680"/>
            <a:ext cx="10058400" cy="1463040"/>
          </a:xfrm>
          <a:prstGeom prst="rect">
            <a:avLst/>
          </a:prstGeom>
          <a:noFill/>
          <a:ln/>
        </p:spPr>
        <p:txBody>
          <a:bodyPr wrap="square" lIns="0" tIns="0" rIns="0" bIns="0" rtlCol="0" anchor="ctr"/>
          <a:lstStyle/>
          <a:p>
            <a:pPr indent="0" marL="0">
              <a:buNone/>
            </a:pPr>
            <a:r>
              <a:rPr lang="en-US" sz="4000" dirty="0">
                <a:solidFill>
                  <a:srgbClr val="F7F4EE"/>
                </a:solidFill>
                <a:latin typeface="Georgia" pitchFamily="34" charset="0"/>
                <a:ea typeface="Georgia" pitchFamily="34" charset="-122"/>
                <a:cs typeface="Georgia" pitchFamily="34" charset="-120"/>
              </a:rPr>
              <a:t>Open the demo.</a:t>
            </a:r>
            <a:endParaRPr lang="en-US" sz="4000" dirty="0"/>
          </a:p>
          <a:p>
            <a:pPr indent="0" marL="0">
              <a:buNone/>
            </a:pPr>
            <a:r>
              <a:rPr lang="en-US" sz="4000" dirty="0">
                <a:solidFill>
                  <a:srgbClr val="F7F4EE"/>
                </a:solidFill>
                <a:latin typeface="Georgia" pitchFamily="34" charset="0"/>
                <a:ea typeface="Georgia" pitchFamily="34" charset="-122"/>
                <a:cs typeface="Georgia" pitchFamily="34" charset="-120"/>
              </a:rPr>
              <a:t>Submit a quote.</a:t>
            </a:r>
            <a:endParaRPr lang="en-US" sz="4000" dirty="0"/>
          </a:p>
        </p:txBody>
      </p:sp>
      <p:sp>
        <p:nvSpPr>
          <p:cNvPr id="6" name="Text 4"/>
          <p:cNvSpPr/>
          <p:nvPr/>
        </p:nvSpPr>
        <p:spPr>
          <a:xfrm>
            <a:off x="640080" y="3840480"/>
            <a:ext cx="10058400" cy="274320"/>
          </a:xfrm>
          <a:prstGeom prst="rect">
            <a:avLst/>
          </a:prstGeom>
          <a:noFill/>
          <a:ln/>
        </p:spPr>
        <p:txBody>
          <a:bodyPr wrap="square" lIns="0" tIns="0" rIns="0" bIns="0" rtlCol="0" anchor="ctr"/>
          <a:lstStyle/>
          <a:p>
            <a:pPr indent="0" marL="0">
              <a:buNone/>
            </a:pPr>
            <a:r>
              <a:rPr lang="en-US" sz="1300" dirty="0">
                <a:solidFill>
                  <a:srgbClr val="8FB8C0"/>
                </a:solidFill>
                <a:latin typeface="Calibri" pitchFamily="34" charset="0"/>
                <a:ea typeface="Calibri" pitchFamily="34" charset="-122"/>
                <a:cs typeface="Calibri" pitchFamily="34" charset="-120"/>
              </a:rPr>
              <a:t>Live app</a:t>
            </a:r>
            <a:endParaRPr lang="en-US" sz="1300" dirty="0"/>
          </a:p>
        </p:txBody>
      </p:sp>
      <p:sp>
        <p:nvSpPr>
          <p:cNvPr id="7" name="Text 5"/>
          <p:cNvSpPr/>
          <p:nvPr/>
        </p:nvSpPr>
        <p:spPr>
          <a:xfrm>
            <a:off x="640080" y="4160520"/>
            <a:ext cx="10972800" cy="365760"/>
          </a:xfrm>
          <a:prstGeom prst="rect">
            <a:avLst/>
          </a:prstGeom>
          <a:noFill/>
          <a:ln/>
        </p:spPr>
        <p:txBody>
          <a:bodyPr wrap="square" lIns="0" tIns="0" rIns="0" bIns="0" rtlCol="0" anchor="ctr"/>
          <a:lstStyle/>
          <a:p>
            <a:pPr indent="0" marL="0">
              <a:buNone/>
            </a:pPr>
            <a:r>
              <a:rPr lang="en-US" sz="1400" dirty="0">
                <a:solidFill>
                  <a:srgbClr val="F7F4EE"/>
                </a:solidFill>
                <a:latin typeface="Calibri" pitchFamily="34" charset="0"/>
                <a:ea typeface="Calibri" pitchFamily="34" charset="-122"/>
                <a:cs typeface="Calibri" pitchFamily="34" charset="-120"/>
              </a:rPr>
              <a:t>hds-m806zexbr9sa-6014-eunk5.grok-code-wild.hades-www.grok-sandbox.com</a:t>
            </a:r>
            <a:endParaRPr lang="en-US" sz="1400" dirty="0"/>
          </a:p>
        </p:txBody>
      </p:sp>
      <p:sp>
        <p:nvSpPr>
          <p:cNvPr id="8" name="Text 6"/>
          <p:cNvSpPr/>
          <p:nvPr/>
        </p:nvSpPr>
        <p:spPr>
          <a:xfrm>
            <a:off x="640080" y="4846320"/>
            <a:ext cx="10058400" cy="320040"/>
          </a:xfrm>
          <a:prstGeom prst="rect">
            <a:avLst/>
          </a:prstGeom>
          <a:noFill/>
          <a:ln/>
        </p:spPr>
        <p:txBody>
          <a:bodyPr wrap="square" lIns="0" tIns="0" rIns="0" bIns="0" rtlCol="0" anchor="ctr"/>
          <a:lstStyle/>
          <a:p>
            <a:pPr indent="0" marL="0">
              <a:buNone/>
            </a:pPr>
            <a:r>
              <a:rPr lang="en-US" sz="1400" dirty="0">
                <a:solidFill>
                  <a:srgbClr val="C9D4D8"/>
                </a:solidFill>
                <a:latin typeface="Calibri" pitchFamily="34" charset="0"/>
                <a:ea typeface="Calibri" pitchFamily="34" charset="-122"/>
                <a:cs typeface="Calibri" pitchFamily="34" charset="-120"/>
              </a:rPr>
              <a:t>Quotes  ·  Approvals  ·  Policy  ·  Agents  ·  Golden set  ·  Langfuse</a:t>
            </a:r>
            <a:endParaRPr lang="en-US" sz="1400" dirty="0"/>
          </a:p>
        </p:txBody>
      </p:sp>
      <p:sp>
        <p:nvSpPr>
          <p:cNvPr id="9" name="Text 7"/>
          <p:cNvSpPr/>
          <p:nvPr/>
        </p:nvSpPr>
        <p:spPr>
          <a:xfrm>
            <a:off x="640080" y="5852160"/>
            <a:ext cx="10058400" cy="274320"/>
          </a:xfrm>
          <a:prstGeom prst="rect">
            <a:avLst/>
          </a:prstGeom>
          <a:noFill/>
          <a:ln/>
        </p:spPr>
        <p:txBody>
          <a:bodyPr wrap="square" lIns="0" tIns="0" rIns="0" bIns="0" rtlCol="0" anchor="ctr"/>
          <a:lstStyle/>
          <a:p>
            <a:pPr indent="0" marL="0">
              <a:buNone/>
            </a:pPr>
            <a:r>
              <a:rPr lang="en-US" sz="1300" dirty="0">
                <a:solidFill>
                  <a:srgbClr val="8FB8C0"/>
                </a:solidFill>
                <a:latin typeface="Calibri" pitchFamily="34" charset="0"/>
                <a:ea typeface="Calibri" pitchFamily="34" charset="-122"/>
                <a:cs typeface="Calibri" pitchFamily="34" charset="-120"/>
              </a:rPr>
              <a:t>Shashank Jasra   ·   AIPM403F</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DealFlow Approval Agents — Capstone Presentation</dc:title>
  <dc:subject>AIPM403F Agent-driven Automation in Products</dc:subject>
  <dc:creator>Shashank Jasra</dc:creator>
  <cp:lastModifiedBy>Shashank Jasra</cp:lastModifiedBy>
  <cp:revision>1</cp:revision>
  <dcterms:created xsi:type="dcterms:W3CDTF">2026-10-29T17:54:30Z</dcterms:created>
  <dcterms:modified xsi:type="dcterms:W3CDTF">2026-10-29T17:54:30Z</dcterms:modified>
</cp:coreProperties>
</file>