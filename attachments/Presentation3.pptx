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60" r:id="rId2"/>
    <p:sldId id="261" r:id="rId3"/>
    <p:sldId id="26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3D528-D3F2-42E5-856F-B0620ACAE45E}"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8E6526-993A-4E7B-8F36-8042D4BFFEED}" type="slidenum">
              <a:rPr lang="en-IN" smtClean="0"/>
              <a:t>‹#›</a:t>
            </a:fld>
            <a:endParaRPr lang="en-IN"/>
          </a:p>
        </p:txBody>
      </p:sp>
    </p:spTree>
    <p:extLst>
      <p:ext uri="{BB962C8B-B14F-4D97-AF65-F5344CB8AC3E}">
        <p14:creationId xmlns:p14="http://schemas.microsoft.com/office/powerpoint/2010/main" val="3610836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3A55A-B3DF-6C02-B8F1-9AA6024E0A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DA1EF1-837F-E8A3-FA26-ED9B10E331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E4DCCB-536C-52B8-A328-9037F21B90AC}"/>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0141EA8D-3AC1-75B7-EEFB-9EFEFFD031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40619B-7170-AAF5-66C3-FEB49E9507A2}"/>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1823886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47EB-47C9-2112-15D9-827DE61583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8043D1-4817-F644-42D2-72611978A3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8ACB2E-5D48-C31C-C085-3D921F53DD16}"/>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C39902EC-1640-882E-3A86-C42F0A910F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EE37E1-7295-94F2-7253-C173DE44088C}"/>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910615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0276-745C-C648-0036-53F8DCCD4D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D9FCCB-A6DB-E5E2-9EE8-ED5FF28CA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59E5A9-60F3-FF04-9D4B-B55B9C775418}"/>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05D581FF-3A1F-D9EA-9338-9B066DB74D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7349C6-EA5D-D023-962D-B95A1C680283}"/>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3218449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31FB6-3E6F-CA7D-9865-8546E6DB9F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CA7459-B637-F975-8940-6D7275A92E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2D547B-0CA8-7BA1-37EA-E87BD3435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AAA1D7-DFE8-1DBB-88EE-39AC46492BDE}"/>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6" name="Footer Placeholder 5">
            <a:extLst>
              <a:ext uri="{FF2B5EF4-FFF2-40B4-BE49-F238E27FC236}">
                <a16:creationId xmlns:a16="http://schemas.microsoft.com/office/drawing/2014/main" id="{92EFACC1-65C7-AE16-0F37-A6B98A9E04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9C2105-3332-C314-E3AD-1A2CCAA3D91C}"/>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1998291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D247-C504-2AFD-F3CC-84E03A3EE9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5F9CDF-1DF7-25A9-4D3D-FAA1532A72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D3DB34-4780-4798-06A9-BAB93AE66B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DD26B3-259D-2C57-AD37-8EA540D3F8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420B7A-C2A9-DC0B-594D-543605F3C2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9F5ADC-A274-3533-AC12-69DA6B14047F}"/>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8" name="Footer Placeholder 7">
            <a:extLst>
              <a:ext uri="{FF2B5EF4-FFF2-40B4-BE49-F238E27FC236}">
                <a16:creationId xmlns:a16="http://schemas.microsoft.com/office/drawing/2014/main" id="{569C421F-4699-E055-5F02-2B6E01B36B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BD8D26-76BB-F096-CDCA-9FD0001AB0C9}"/>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816236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F7FA-89BA-D222-21FB-4336BE23FE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307480-851B-E527-F990-D969259AB665}"/>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4" name="Footer Placeholder 3">
            <a:extLst>
              <a:ext uri="{FF2B5EF4-FFF2-40B4-BE49-F238E27FC236}">
                <a16:creationId xmlns:a16="http://schemas.microsoft.com/office/drawing/2014/main" id="{92A5C9F1-5B41-64BC-D044-B9E1FDEB9B0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F5EA0C-AD09-6692-95C7-A0439010EE2A}"/>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3999806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70F87-E2D3-CBE3-8553-6EA880C7D35E}"/>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3" name="Footer Placeholder 2">
            <a:extLst>
              <a:ext uri="{FF2B5EF4-FFF2-40B4-BE49-F238E27FC236}">
                <a16:creationId xmlns:a16="http://schemas.microsoft.com/office/drawing/2014/main" id="{1F46A7E4-5AED-9786-A372-35766587A3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1433AC7-C08E-5112-D6B0-3EEF6583CE1D}"/>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3307327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4FC6-DD48-25F7-6B6D-93B0A903F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84ABA5-A222-EB20-1D0D-57664E6C5F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D8146A-4224-83C5-E8DF-C596B462FA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A97C69-B555-0795-E469-A6E8EF0F7A9D}"/>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6" name="Footer Placeholder 5">
            <a:extLst>
              <a:ext uri="{FF2B5EF4-FFF2-40B4-BE49-F238E27FC236}">
                <a16:creationId xmlns:a16="http://schemas.microsoft.com/office/drawing/2014/main" id="{70223F9C-55C6-D871-23E0-A763969BDF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6366A2-0130-8FBF-C0F4-D599344476BB}"/>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951265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2F7BB-4AE7-A440-E2DB-7FC8CF4A14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365AE6-3A6D-6B73-010E-72FAD73AB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615F4E-EE3A-1972-B38E-A2845ABB13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6DC726-D81B-CAD9-AAD7-30DC739DBDC6}"/>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6" name="Footer Placeholder 5">
            <a:extLst>
              <a:ext uri="{FF2B5EF4-FFF2-40B4-BE49-F238E27FC236}">
                <a16:creationId xmlns:a16="http://schemas.microsoft.com/office/drawing/2014/main" id="{CDB643CC-4C88-E87C-B393-48FE7AFD41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3493AC-CC36-6552-36B1-113AB0557CF9}"/>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231185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EF0A6-00A9-9827-2199-B08EFDDF53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2FB914-EC7F-A28C-CF34-E4968DB977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B5769D-53D3-F5DC-92C7-6A8B6EAFD394}"/>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ED862BB9-2864-AB08-B055-4CA6EEAC93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FB0318-B535-9C59-CD8F-0B6D7C0E6264}"/>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1813004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770FAA-87A8-428E-421E-B534ADB7F7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759C50-75CD-C506-C2CA-29E594DBEE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32201-0B86-8979-9147-17959570F86F}"/>
              </a:ext>
            </a:extLst>
          </p:cNvPr>
          <p:cNvSpPr>
            <a:spLocks noGrp="1"/>
          </p:cNvSpPr>
          <p:nvPr>
            <p:ph type="dt" sz="half" idx="10"/>
          </p:nvPr>
        </p:nvSpPr>
        <p:spPr/>
        <p:txBody>
          <a:body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FEB8031B-19BF-F6EC-F00B-ED09749F9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C56B6B-FF57-C83B-80B5-B0BFEFA32DD9}"/>
              </a:ext>
            </a:extLst>
          </p:cNvPr>
          <p:cNvSpPr>
            <a:spLocks noGrp="1"/>
          </p:cNvSpPr>
          <p:nvPr>
            <p:ph type="sldNum" sz="quarter" idx="12"/>
          </p:nvPr>
        </p:nvSpPr>
        <p:spPr/>
        <p:txBody>
          <a:bodyPr/>
          <a:lstStyle/>
          <a:p>
            <a:fld id="{6FC06534-F76E-4AB0-8F7F-98944B5C802B}" type="slidenum">
              <a:rPr lang="en-IN" smtClean="0"/>
              <a:t>‹#›</a:t>
            </a:fld>
            <a:endParaRPr lang="en-IN"/>
          </a:p>
        </p:txBody>
      </p:sp>
    </p:spTree>
    <p:extLst>
      <p:ext uri="{BB962C8B-B14F-4D97-AF65-F5344CB8AC3E}">
        <p14:creationId xmlns:p14="http://schemas.microsoft.com/office/powerpoint/2010/main" val="379989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01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1EA54-D997-A844-AC41-50AFB0DD35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4943E5-950A-8955-CD5F-4730921757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E29785-7278-4825-66D1-C2B3BC3C4E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C82D0-A682-4254-822A-8C249B04FD4A}" type="datetimeFigureOut">
              <a:rPr lang="en-IN" smtClean="0"/>
              <a:t>30-10-2026</a:t>
            </a:fld>
            <a:endParaRPr lang="en-IN"/>
          </a:p>
        </p:txBody>
      </p:sp>
      <p:sp>
        <p:nvSpPr>
          <p:cNvPr id="5" name="Footer Placeholder 4">
            <a:extLst>
              <a:ext uri="{FF2B5EF4-FFF2-40B4-BE49-F238E27FC236}">
                <a16:creationId xmlns:a16="http://schemas.microsoft.com/office/drawing/2014/main" id="{7DE2264A-AFBE-3397-FEA5-6AFB9AAB40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55EB8F-A20F-007A-88A3-C4EFDB215C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C06534-F76E-4AB0-8F7F-98944B5C802B}" type="slidenum">
              <a:rPr lang="en-IN" smtClean="0"/>
              <a:t>‹#›</a:t>
            </a:fld>
            <a:endParaRPr lang="en-IN"/>
          </a:p>
        </p:txBody>
      </p:sp>
    </p:spTree>
    <p:extLst>
      <p:ext uri="{BB962C8B-B14F-4D97-AF65-F5344CB8AC3E}">
        <p14:creationId xmlns:p14="http://schemas.microsoft.com/office/powerpoint/2010/main" val="161302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1628" y="1188720"/>
            <a:ext cx="3749040" cy="2560320"/>
          </a:xfrm>
          <a:prstGeom prst="roundRect">
            <a:avLst>
              <a:gd name="adj" fmla="val 3571"/>
            </a:avLst>
          </a:prstGeom>
          <a:solidFill>
            <a:srgbClr val="141416"/>
          </a:solidFill>
          <a:ln/>
        </p:spPr>
      </p:sp>
      <p:sp>
        <p:nvSpPr>
          <p:cNvPr id="6" name="Shape 4"/>
          <p:cNvSpPr/>
          <p:nvPr/>
        </p:nvSpPr>
        <p:spPr>
          <a:xfrm>
            <a:off x="321628" y="1188720"/>
            <a:ext cx="109728" cy="2560320"/>
          </a:xfrm>
          <a:prstGeom prst="rect">
            <a:avLst/>
          </a:prstGeom>
          <a:solidFill>
            <a:srgbClr val="1D5C68"/>
          </a:solidFill>
          <a:ln/>
        </p:spPr>
      </p:sp>
      <p:sp>
        <p:nvSpPr>
          <p:cNvPr id="7" name="Text 5"/>
          <p:cNvSpPr/>
          <p:nvPr/>
        </p:nvSpPr>
        <p:spPr>
          <a:xfrm>
            <a:off x="595948" y="1325880"/>
            <a:ext cx="3291840" cy="320040"/>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5948" y="1691640"/>
            <a:ext cx="3291840" cy="228600"/>
          </a:xfrm>
          <a:prstGeom prst="rect">
            <a:avLst/>
          </a:prstGeom>
          <a:noFill/>
          <a:ln/>
        </p:spPr>
        <p:txBody>
          <a:bodyPr wrap="square" rtlCol="0" anchor="ctr"/>
          <a:lstStyle/>
          <a:p>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5948" y="2011680"/>
            <a:ext cx="3291840" cy="155448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2108" y="1188720"/>
            <a:ext cx="3749040" cy="2560320"/>
          </a:xfrm>
          <a:prstGeom prst="roundRect">
            <a:avLst>
              <a:gd name="adj" fmla="val 3571"/>
            </a:avLst>
          </a:prstGeom>
          <a:solidFill>
            <a:srgbClr val="141416"/>
          </a:solidFill>
          <a:ln/>
        </p:spPr>
      </p:sp>
      <p:sp>
        <p:nvSpPr>
          <p:cNvPr id="11" name="Shape 9"/>
          <p:cNvSpPr/>
          <p:nvPr/>
        </p:nvSpPr>
        <p:spPr>
          <a:xfrm>
            <a:off x="4162108" y="1188720"/>
            <a:ext cx="109728" cy="2560320"/>
          </a:xfrm>
          <a:prstGeom prst="rect">
            <a:avLst/>
          </a:prstGeom>
          <a:solidFill>
            <a:srgbClr val="2F6A4F"/>
          </a:solidFill>
          <a:ln/>
        </p:spPr>
      </p:sp>
      <p:sp>
        <p:nvSpPr>
          <p:cNvPr id="12" name="Text 10"/>
          <p:cNvSpPr/>
          <p:nvPr/>
        </p:nvSpPr>
        <p:spPr>
          <a:xfrm>
            <a:off x="4436428" y="1325880"/>
            <a:ext cx="3291840" cy="320040"/>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6428" y="1691640"/>
            <a:ext cx="3291840" cy="228600"/>
          </a:xfrm>
          <a:prstGeom prst="rect">
            <a:avLst/>
          </a:prstGeom>
          <a:noFill/>
          <a:ln/>
        </p:spPr>
        <p:txBody>
          <a:bodyPr wrap="square" rtlCol="0" anchor="ctr"/>
          <a:lstStyle/>
          <a:p>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6428" y="2011680"/>
            <a:ext cx="3291840" cy="155448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2588" y="1188720"/>
            <a:ext cx="3749040" cy="2560320"/>
          </a:xfrm>
          <a:prstGeom prst="roundRect">
            <a:avLst>
              <a:gd name="adj" fmla="val 3571"/>
            </a:avLst>
          </a:prstGeom>
          <a:solidFill>
            <a:srgbClr val="141416"/>
          </a:solidFill>
          <a:ln/>
        </p:spPr>
      </p:sp>
      <p:sp>
        <p:nvSpPr>
          <p:cNvPr id="16" name="Shape 14"/>
          <p:cNvSpPr/>
          <p:nvPr/>
        </p:nvSpPr>
        <p:spPr>
          <a:xfrm>
            <a:off x="8002588" y="1188720"/>
            <a:ext cx="109728" cy="2560320"/>
          </a:xfrm>
          <a:prstGeom prst="rect">
            <a:avLst/>
          </a:prstGeom>
          <a:solidFill>
            <a:srgbClr val="00D4AA"/>
          </a:solidFill>
          <a:ln/>
        </p:spPr>
      </p:sp>
      <p:sp>
        <p:nvSpPr>
          <p:cNvPr id="17" name="Text 15"/>
          <p:cNvSpPr/>
          <p:nvPr/>
        </p:nvSpPr>
        <p:spPr>
          <a:xfrm>
            <a:off x="8276908" y="1325880"/>
            <a:ext cx="3291840" cy="320040"/>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6908" y="1691640"/>
            <a:ext cx="3291840" cy="228600"/>
          </a:xfrm>
          <a:prstGeom prst="rect">
            <a:avLst/>
          </a:prstGeom>
          <a:noFill/>
          <a:ln/>
        </p:spPr>
        <p:txBody>
          <a:bodyPr wrap="square" rtlCol="0" anchor="ctr"/>
          <a:lstStyle/>
          <a:p>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6908" y="2011680"/>
            <a:ext cx="3291840" cy="1554480"/>
          </a:xfrm>
          <a:prstGeom prst="rect">
            <a:avLst/>
          </a:prstGeom>
          <a:noFill/>
          <a:ln/>
        </p:spPr>
        <p:txBody>
          <a:bodyPr wrap="square" rtlCol="0" anchor="ctr"/>
          <a:lstStyle/>
          <a:p>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1628" y="3931920"/>
            <a:ext cx="11548872" cy="2606040"/>
          </a:xfrm>
          <a:prstGeom prst="roundRect">
            <a:avLst>
              <a:gd name="adj" fmla="val 3509"/>
            </a:avLst>
          </a:prstGeom>
          <a:solidFill>
            <a:srgbClr val="1A2530"/>
          </a:solidFill>
          <a:ln/>
        </p:spPr>
      </p:sp>
      <p:sp>
        <p:nvSpPr>
          <p:cNvPr id="21" name="Text 19"/>
          <p:cNvSpPr/>
          <p:nvPr/>
        </p:nvSpPr>
        <p:spPr>
          <a:xfrm>
            <a:off x="504508" y="4069080"/>
            <a:ext cx="10972800" cy="274320"/>
          </a:xfrm>
          <a:prstGeom prst="rect">
            <a:avLst/>
          </a:prstGeom>
          <a:noFill/>
          <a:ln/>
        </p:spPr>
        <p:txBody>
          <a:bodyPr wrap="square" rtlCol="0" anchor="ctr"/>
          <a:lstStyle/>
          <a:p>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4508" y="4434840"/>
            <a:ext cx="11155680" cy="1920240"/>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Python 3.10 · LangGraph StateGraph · Pydantic. Plan → discount and payment in parallel → combine → guardrail. Each specialist holds knowledge the others do not; none can be a tool call. Loop limits: max steps 3, max tool calls 4. Done when the label and the assignment are written. A note cannot talk to either specialist as an instruction.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5908" y="1188720"/>
            <a:ext cx="2834640" cy="1828800"/>
          </a:xfrm>
          <a:prstGeom prst="roundRect">
            <a:avLst>
              <a:gd name="adj" fmla="val 4000"/>
            </a:avLst>
          </a:prstGeom>
          <a:solidFill>
            <a:srgbClr val="141416"/>
          </a:solidFill>
          <a:ln/>
        </p:spPr>
      </p:sp>
      <p:sp>
        <p:nvSpPr>
          <p:cNvPr id="6" name="Text 4"/>
          <p:cNvSpPr/>
          <p:nvPr/>
        </p:nvSpPr>
        <p:spPr>
          <a:xfrm>
            <a:off x="413068" y="132588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915988" y="137160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3068" y="182880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7708" y="1188720"/>
            <a:ext cx="2834640" cy="1828800"/>
          </a:xfrm>
          <a:prstGeom prst="roundRect">
            <a:avLst>
              <a:gd name="adj" fmla="val 4000"/>
            </a:avLst>
          </a:prstGeom>
          <a:solidFill>
            <a:srgbClr val="141416"/>
          </a:solidFill>
          <a:ln/>
        </p:spPr>
      </p:sp>
      <p:sp>
        <p:nvSpPr>
          <p:cNvPr id="10" name="Text 8"/>
          <p:cNvSpPr/>
          <p:nvPr/>
        </p:nvSpPr>
        <p:spPr>
          <a:xfrm>
            <a:off x="3384868" y="132588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2</a:t>
            </a:r>
            <a:endParaRPr lang="en-US" dirty="0"/>
          </a:p>
        </p:txBody>
      </p:sp>
      <p:sp>
        <p:nvSpPr>
          <p:cNvPr id="11" name="Text 9"/>
          <p:cNvSpPr/>
          <p:nvPr/>
        </p:nvSpPr>
        <p:spPr>
          <a:xfrm>
            <a:off x="3887788" y="137160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4868" y="182880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9508" y="1188720"/>
            <a:ext cx="2834640" cy="1828800"/>
          </a:xfrm>
          <a:prstGeom prst="roundRect">
            <a:avLst>
              <a:gd name="adj" fmla="val 4000"/>
            </a:avLst>
          </a:prstGeom>
          <a:solidFill>
            <a:srgbClr val="141416"/>
          </a:solidFill>
          <a:ln/>
        </p:spPr>
      </p:sp>
      <p:sp>
        <p:nvSpPr>
          <p:cNvPr id="14" name="Text 12"/>
          <p:cNvSpPr/>
          <p:nvPr/>
        </p:nvSpPr>
        <p:spPr>
          <a:xfrm>
            <a:off x="6356668" y="132588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3</a:t>
            </a:r>
            <a:endParaRPr lang="en-US" dirty="0"/>
          </a:p>
        </p:txBody>
      </p:sp>
      <p:sp>
        <p:nvSpPr>
          <p:cNvPr id="15" name="Text 13"/>
          <p:cNvSpPr/>
          <p:nvPr/>
        </p:nvSpPr>
        <p:spPr>
          <a:xfrm>
            <a:off x="6859588" y="137160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6668" y="182880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91308" y="1188720"/>
            <a:ext cx="2834640" cy="1828800"/>
          </a:xfrm>
          <a:prstGeom prst="roundRect">
            <a:avLst>
              <a:gd name="adj" fmla="val 4000"/>
            </a:avLst>
          </a:prstGeom>
          <a:solidFill>
            <a:srgbClr val="141416"/>
          </a:solidFill>
          <a:ln/>
        </p:spPr>
      </p:sp>
      <p:sp>
        <p:nvSpPr>
          <p:cNvPr id="18" name="Text 16"/>
          <p:cNvSpPr/>
          <p:nvPr/>
        </p:nvSpPr>
        <p:spPr>
          <a:xfrm>
            <a:off x="9328468" y="132588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4</a:t>
            </a:r>
            <a:endParaRPr lang="en-US" dirty="0"/>
          </a:p>
        </p:txBody>
      </p:sp>
      <p:sp>
        <p:nvSpPr>
          <p:cNvPr id="19" name="Text 17"/>
          <p:cNvSpPr/>
          <p:nvPr/>
        </p:nvSpPr>
        <p:spPr>
          <a:xfrm>
            <a:off x="9831388" y="137160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8468" y="182880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5908" y="3200400"/>
            <a:ext cx="2834640" cy="1828800"/>
          </a:xfrm>
          <a:prstGeom prst="roundRect">
            <a:avLst>
              <a:gd name="adj" fmla="val 4000"/>
            </a:avLst>
          </a:prstGeom>
          <a:solidFill>
            <a:srgbClr val="141416"/>
          </a:solidFill>
          <a:ln/>
        </p:spPr>
      </p:sp>
      <p:sp>
        <p:nvSpPr>
          <p:cNvPr id="22" name="Text 20"/>
          <p:cNvSpPr/>
          <p:nvPr/>
        </p:nvSpPr>
        <p:spPr>
          <a:xfrm>
            <a:off x="413068" y="333756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5</a:t>
            </a:r>
            <a:endParaRPr lang="en-US" dirty="0"/>
          </a:p>
        </p:txBody>
      </p:sp>
      <p:sp>
        <p:nvSpPr>
          <p:cNvPr id="23" name="Text 21"/>
          <p:cNvSpPr/>
          <p:nvPr/>
        </p:nvSpPr>
        <p:spPr>
          <a:xfrm>
            <a:off x="915988" y="338328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3068" y="384048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7708" y="3200400"/>
            <a:ext cx="2834640" cy="1828800"/>
          </a:xfrm>
          <a:prstGeom prst="roundRect">
            <a:avLst>
              <a:gd name="adj" fmla="val 4000"/>
            </a:avLst>
          </a:prstGeom>
          <a:solidFill>
            <a:srgbClr val="141416"/>
          </a:solidFill>
          <a:ln/>
        </p:spPr>
      </p:sp>
      <p:sp>
        <p:nvSpPr>
          <p:cNvPr id="26" name="Text 24"/>
          <p:cNvSpPr/>
          <p:nvPr/>
        </p:nvSpPr>
        <p:spPr>
          <a:xfrm>
            <a:off x="3384868" y="333756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6</a:t>
            </a:r>
            <a:endParaRPr lang="en-US" dirty="0"/>
          </a:p>
        </p:txBody>
      </p:sp>
      <p:sp>
        <p:nvSpPr>
          <p:cNvPr id="27" name="Text 25"/>
          <p:cNvSpPr/>
          <p:nvPr/>
        </p:nvSpPr>
        <p:spPr>
          <a:xfrm>
            <a:off x="3887788" y="338328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4868" y="384048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9508" y="3200400"/>
            <a:ext cx="2834640" cy="1828800"/>
          </a:xfrm>
          <a:prstGeom prst="roundRect">
            <a:avLst>
              <a:gd name="adj" fmla="val 4000"/>
            </a:avLst>
          </a:prstGeom>
          <a:solidFill>
            <a:srgbClr val="141416"/>
          </a:solidFill>
          <a:ln/>
        </p:spPr>
      </p:sp>
      <p:sp>
        <p:nvSpPr>
          <p:cNvPr id="30" name="Text 28"/>
          <p:cNvSpPr/>
          <p:nvPr/>
        </p:nvSpPr>
        <p:spPr>
          <a:xfrm>
            <a:off x="6356668" y="3337560"/>
            <a:ext cx="457200" cy="365760"/>
          </a:xfrm>
          <a:prstGeom prst="rect">
            <a:avLst/>
          </a:prstGeom>
          <a:noFill/>
          <a:ln/>
        </p:spPr>
        <p:txBody>
          <a:bodyPr wrap="square" rtlCol="0" anchor="ctr"/>
          <a:lstStyle/>
          <a:p>
            <a:r>
              <a:rPr lang="en-US" b="1" dirty="0">
                <a:solidFill>
                  <a:srgbClr val="00D4AA"/>
                </a:solidFill>
                <a:latin typeface="Calibri" pitchFamily="34" charset="0"/>
                <a:ea typeface="Calibri" pitchFamily="34" charset="-122"/>
                <a:cs typeface="Calibri" pitchFamily="34" charset="-120"/>
              </a:rPr>
              <a:t>7</a:t>
            </a:r>
            <a:endParaRPr lang="en-US" dirty="0"/>
          </a:p>
        </p:txBody>
      </p:sp>
      <p:sp>
        <p:nvSpPr>
          <p:cNvPr id="31" name="Text 29"/>
          <p:cNvSpPr/>
          <p:nvPr/>
        </p:nvSpPr>
        <p:spPr>
          <a:xfrm>
            <a:off x="6859588" y="3383280"/>
            <a:ext cx="2011680" cy="320040"/>
          </a:xfrm>
          <a:prstGeom prst="rect">
            <a:avLst/>
          </a:prstGeom>
          <a:noFill/>
          <a:ln/>
        </p:spPr>
        <p:txBody>
          <a:bodyPr wrap="square" rtlCol="0" anchor="ctr"/>
          <a:lstStyle/>
          <a:p>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6668" y="3840480"/>
            <a:ext cx="2560320" cy="1005840"/>
          </a:xfrm>
          <a:prstGeom prst="rect">
            <a:avLst/>
          </a:prstGeom>
          <a:noFill/>
          <a:ln/>
        </p:spPr>
        <p:txBody>
          <a:bodyPr wrap="square" rtlCol="0" anchor="ctr"/>
          <a:lstStyle/>
          <a:p>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5908" y="5303520"/>
            <a:ext cx="11640312" cy="1280160"/>
          </a:xfrm>
          <a:prstGeom prst="roundRect">
            <a:avLst>
              <a:gd name="adj" fmla="val 5714"/>
            </a:avLst>
          </a:prstGeom>
          <a:solidFill>
            <a:srgbClr val="1A2530"/>
          </a:solidFill>
          <a:ln/>
        </p:spPr>
      </p:sp>
      <p:sp>
        <p:nvSpPr>
          <p:cNvPr id="34" name="Text 32"/>
          <p:cNvSpPr/>
          <p:nvPr/>
        </p:nvSpPr>
        <p:spPr>
          <a:xfrm>
            <a:off x="458788" y="5440680"/>
            <a:ext cx="10972800" cy="228600"/>
          </a:xfrm>
          <a:prstGeom prst="rect">
            <a:avLst/>
          </a:prstGeom>
          <a:noFill/>
          <a:ln/>
        </p:spPr>
        <p:txBody>
          <a:bodyPr wrap="square" rtlCol="0" anchor="ctr"/>
          <a:lstStyle/>
          <a:p>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8788" y="5715000"/>
            <a:ext cx="11247120" cy="73152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16%, assigned VP Sales + VP Finance, 24h. The note is evidence, not an instruction. Harbor (discount approves at 88%, payment escalates at 32%) → stricter label wins, assigned Finance, 24h.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5908" y="1188720"/>
            <a:ext cx="3749040" cy="2651760"/>
          </a:xfrm>
          <a:prstGeom prst="roundRect">
            <a:avLst>
              <a:gd name="adj" fmla="val 3448"/>
            </a:avLst>
          </a:prstGeom>
          <a:solidFill>
            <a:srgbClr val="141416"/>
          </a:solidFill>
          <a:ln/>
        </p:spPr>
      </p:sp>
      <p:sp>
        <p:nvSpPr>
          <p:cNvPr id="6" name="Shape 4"/>
          <p:cNvSpPr/>
          <p:nvPr/>
        </p:nvSpPr>
        <p:spPr>
          <a:xfrm>
            <a:off x="275908" y="1188720"/>
            <a:ext cx="109728" cy="2651760"/>
          </a:xfrm>
          <a:prstGeom prst="rect">
            <a:avLst/>
          </a:prstGeom>
          <a:solidFill>
            <a:srgbClr val="1D5C68"/>
          </a:solidFill>
          <a:ln/>
        </p:spPr>
      </p:sp>
      <p:sp>
        <p:nvSpPr>
          <p:cNvPr id="7" name="Text 5"/>
          <p:cNvSpPr/>
          <p:nvPr/>
        </p:nvSpPr>
        <p:spPr>
          <a:xfrm>
            <a:off x="550228" y="1325880"/>
            <a:ext cx="3291840" cy="411480"/>
          </a:xfrm>
          <a:prstGeom prst="rect">
            <a:avLst/>
          </a:prstGeom>
          <a:noFill/>
          <a:ln/>
        </p:spPr>
        <p:txBody>
          <a:bodyPr wrap="square" rtlCol="0" anchor="ctr"/>
          <a:lstStyle/>
          <a:p>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50228" y="1828800"/>
            <a:ext cx="3291840" cy="17830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2108" y="1188720"/>
            <a:ext cx="3749040" cy="2651760"/>
          </a:xfrm>
          <a:prstGeom prst="roundRect">
            <a:avLst>
              <a:gd name="adj" fmla="val 3448"/>
            </a:avLst>
          </a:prstGeom>
          <a:solidFill>
            <a:srgbClr val="141416"/>
          </a:solidFill>
          <a:ln/>
        </p:spPr>
      </p:sp>
      <p:sp>
        <p:nvSpPr>
          <p:cNvPr id="10" name="Shape 8"/>
          <p:cNvSpPr/>
          <p:nvPr/>
        </p:nvSpPr>
        <p:spPr>
          <a:xfrm>
            <a:off x="4162108" y="1188720"/>
            <a:ext cx="109728" cy="2651760"/>
          </a:xfrm>
          <a:prstGeom prst="rect">
            <a:avLst/>
          </a:prstGeom>
          <a:solidFill>
            <a:srgbClr val="2F6A4F"/>
          </a:solidFill>
          <a:ln/>
        </p:spPr>
      </p:sp>
      <p:sp>
        <p:nvSpPr>
          <p:cNvPr id="11" name="Text 9"/>
          <p:cNvSpPr/>
          <p:nvPr/>
        </p:nvSpPr>
        <p:spPr>
          <a:xfrm>
            <a:off x="4436428" y="1325880"/>
            <a:ext cx="3291840" cy="411480"/>
          </a:xfrm>
          <a:prstGeom prst="rect">
            <a:avLst/>
          </a:prstGeom>
          <a:noFill/>
          <a:ln/>
        </p:spPr>
        <p:txBody>
          <a:bodyPr wrap="square" rtlCol="0" anchor="ctr"/>
          <a:lstStyle/>
          <a:p>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6428" y="1828800"/>
            <a:ext cx="3291840" cy="17830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8308" y="1188720"/>
            <a:ext cx="3749040" cy="2651760"/>
          </a:xfrm>
          <a:prstGeom prst="roundRect">
            <a:avLst>
              <a:gd name="adj" fmla="val 3448"/>
            </a:avLst>
          </a:prstGeom>
          <a:solidFill>
            <a:srgbClr val="141416"/>
          </a:solidFill>
          <a:ln/>
        </p:spPr>
      </p:sp>
      <p:sp>
        <p:nvSpPr>
          <p:cNvPr id="14" name="Shape 12"/>
          <p:cNvSpPr/>
          <p:nvPr/>
        </p:nvSpPr>
        <p:spPr>
          <a:xfrm>
            <a:off x="8048308" y="1188720"/>
            <a:ext cx="109728" cy="2651760"/>
          </a:xfrm>
          <a:prstGeom prst="rect">
            <a:avLst/>
          </a:prstGeom>
          <a:solidFill>
            <a:srgbClr val="00D4AA"/>
          </a:solidFill>
          <a:ln/>
        </p:spPr>
      </p:sp>
      <p:sp>
        <p:nvSpPr>
          <p:cNvPr id="15" name="Text 13"/>
          <p:cNvSpPr/>
          <p:nvPr/>
        </p:nvSpPr>
        <p:spPr>
          <a:xfrm>
            <a:off x="8322628" y="1325880"/>
            <a:ext cx="3291840" cy="411480"/>
          </a:xfrm>
          <a:prstGeom prst="rect">
            <a:avLst/>
          </a:prstGeom>
          <a:noFill/>
          <a:ln/>
        </p:spPr>
        <p:txBody>
          <a:bodyPr wrap="square" rtlCol="0" anchor="ctr"/>
          <a:lstStyle/>
          <a:p>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2628" y="1828800"/>
            <a:ext cx="3291840" cy="17830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5908" y="4023360"/>
            <a:ext cx="11640312" cy="2514600"/>
          </a:xfrm>
          <a:prstGeom prst="roundRect">
            <a:avLst>
              <a:gd name="adj" fmla="val 3636"/>
            </a:avLst>
          </a:prstGeom>
          <a:solidFill>
            <a:srgbClr val="1A2530"/>
          </a:solidFill>
          <a:ln/>
        </p:spPr>
      </p:sp>
      <p:sp>
        <p:nvSpPr>
          <p:cNvPr id="18" name="Text 16"/>
          <p:cNvSpPr/>
          <p:nvPr/>
        </p:nvSpPr>
        <p:spPr>
          <a:xfrm>
            <a:off x="458788" y="4160520"/>
            <a:ext cx="10972800" cy="274320"/>
          </a:xfrm>
          <a:prstGeom prst="rect">
            <a:avLst/>
          </a:prstGeom>
          <a:noFill/>
          <a:ln/>
        </p:spPr>
        <p:txBody>
          <a:bodyPr wrap="square" rtlCol="0" anchor="ctr"/>
          <a:lstStyle/>
          <a:p>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8788" y="4526280"/>
            <a:ext cx="11247120" cy="1783080"/>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Words>
  <Application>Microsoft Office PowerPoint</Application>
  <PresentationFormat>Widescreen</PresentationFormat>
  <Paragraphs>51</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Jasra</dc:creator>
  <cp:lastModifiedBy>Sarthak Jasra</cp:lastModifiedBy>
  <cp:revision>1</cp:revision>
  <dcterms:created xsi:type="dcterms:W3CDTF">2026-10-30T17:09:25Z</dcterms:created>
  <dcterms:modified xsi:type="dcterms:W3CDTF">2026-10-30T17:09:36Z</dcterms:modified>
</cp:coreProperties>
</file>