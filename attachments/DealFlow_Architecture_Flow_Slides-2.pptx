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E1A24"/>
          </a:solidFill>
          <a:ln/>
        </p:spPr>
      </p:sp>
      <p:sp>
        <p:nvSpPr>
          <p:cNvPr id="3" name="Text 1"/>
          <p:cNvSpPr/>
          <p:nvPr/>
        </p:nvSpPr>
        <p:spPr>
          <a:xfrm>
            <a:off x="384048" y="164592"/>
            <a:ext cx="11338560" cy="310896"/>
          </a:xfrm>
          <a:prstGeom prst="rect">
            <a:avLst/>
          </a:prstGeom>
          <a:noFill/>
          <a:ln/>
        </p:spPr>
        <p:txBody>
          <a:bodyPr wrap="square" lIns="0" tIns="0" rIns="0" bIns="0" rtlCol="0" anchor="ctr"/>
          <a:lstStyle/>
          <a:p>
            <a:pPr indent="0" marL="0">
              <a:buNone/>
            </a:pPr>
            <a:r>
              <a:rPr lang="en-US" sz="2400" b="1" dirty="0">
                <a:solidFill>
                  <a:srgbClr val="F4F0E8"/>
                </a:solidFill>
                <a:latin typeface="Calibri" pitchFamily="34" charset="0"/>
                <a:ea typeface="Calibri" pitchFamily="34" charset="-122"/>
                <a:cs typeface="Calibri" pitchFamily="34" charset="-120"/>
              </a:rPr>
              <a:t>AGENTIC AI DESIGN AND WORKFLOW</a:t>
            </a:r>
            <a:endParaRPr lang="en-US" sz="2400" dirty="0"/>
          </a:p>
        </p:txBody>
      </p:sp>
      <p:sp>
        <p:nvSpPr>
          <p:cNvPr id="4" name="Text 2"/>
          <p:cNvSpPr/>
          <p:nvPr/>
        </p:nvSpPr>
        <p:spPr>
          <a:xfrm>
            <a:off x="384048" y="475488"/>
            <a:ext cx="11338560" cy="201168"/>
          </a:xfrm>
          <a:prstGeom prst="rect">
            <a:avLst/>
          </a:prstGeom>
          <a:noFill/>
          <a:ln/>
        </p:spPr>
        <p:txBody>
          <a:bodyPr wrap="square" lIns="0" tIns="0" rIns="0" bIns="0" rtlCol="0" anchor="ctr"/>
          <a:lstStyle/>
          <a:p>
            <a:pPr indent="0" marL="0">
              <a:buNone/>
            </a:pPr>
            <a:r>
              <a:rPr lang="en-US" sz="1300" dirty="0">
                <a:solidFill>
                  <a:srgbClr val="D7DBE3"/>
                </a:solidFill>
                <a:latin typeface="Calibri" pitchFamily="34" charset="0"/>
                <a:ea typeface="Calibri" pitchFamily="34" charset="-122"/>
                <a:cs typeface="Calibri" pitchFamily="34" charset="-120"/>
              </a:rPr>
              <a:t>Three agents, one graph, one write-back  ·  DealFlow Approval Agents</a:t>
            </a:r>
            <a:endParaRPr lang="en-US" sz="1300" dirty="0"/>
          </a:p>
        </p:txBody>
      </p:sp>
      <p:sp>
        <p:nvSpPr>
          <p:cNvPr id="5" name="Shape 3"/>
          <p:cNvSpPr/>
          <p:nvPr/>
        </p:nvSpPr>
        <p:spPr>
          <a:xfrm>
            <a:off x="384048" y="804672"/>
            <a:ext cx="3703320" cy="2331720"/>
          </a:xfrm>
          <a:prstGeom prst="roundRect">
            <a:avLst>
              <a:gd name="adj" fmla="val 3137"/>
            </a:avLst>
          </a:prstGeom>
          <a:solidFill>
            <a:srgbClr val="142027"/>
          </a:solidFill>
          <a:ln w="12700">
            <a:solidFill>
              <a:srgbClr val="1F3A48"/>
            </a:solidFill>
            <a:prstDash val="solid"/>
          </a:ln>
        </p:spPr>
      </p:sp>
      <p:sp>
        <p:nvSpPr>
          <p:cNvPr id="6" name="Text 4"/>
          <p:cNvSpPr/>
          <p:nvPr/>
        </p:nvSpPr>
        <p:spPr>
          <a:xfrm>
            <a:off x="512064" y="896112"/>
            <a:ext cx="3429000" cy="237744"/>
          </a:xfrm>
          <a:prstGeom prst="rect">
            <a:avLst/>
          </a:prstGeom>
          <a:noFill/>
          <a:ln/>
        </p:spPr>
        <p:txBody>
          <a:bodyPr wrap="square" lIns="0" tIns="0" rIns="0" bIns="0" rtlCol="0" anchor="ctr"/>
          <a:lstStyle/>
          <a:p>
            <a:pPr indent="0" marL="0">
              <a:buNone/>
            </a:pPr>
            <a:r>
              <a:rPr lang="en-US" sz="1200" b="1" dirty="0">
                <a:solidFill>
                  <a:srgbClr val="1D5C68"/>
                </a:solidFill>
                <a:latin typeface="Calibri" pitchFamily="34" charset="0"/>
                <a:ea typeface="Calibri" pitchFamily="34" charset="-122"/>
                <a:cs typeface="Calibri" pitchFamily="34" charset="-120"/>
              </a:rPr>
              <a:t>ORCHESTRATOR</a:t>
            </a:r>
            <a:endParaRPr lang="en-US" sz="1200" dirty="0"/>
          </a:p>
        </p:txBody>
      </p:sp>
      <p:sp>
        <p:nvSpPr>
          <p:cNvPr id="7" name="Text 5"/>
          <p:cNvSpPr/>
          <p:nvPr/>
        </p:nvSpPr>
        <p:spPr>
          <a:xfrm>
            <a:off x="512064" y="1133856"/>
            <a:ext cx="3429000" cy="182880"/>
          </a:xfrm>
          <a:prstGeom prst="rect">
            <a:avLst/>
          </a:prstGeom>
          <a:noFill/>
          <a:ln/>
        </p:spPr>
        <p:txBody>
          <a:bodyPr wrap="square" lIns="0" tIns="0" rIns="0" bIns="0" rtlCol="0" anchor="ctr"/>
          <a:lstStyle/>
          <a:p>
            <a:pPr indent="0" marL="0">
              <a:buNone/>
            </a:pPr>
            <a:r>
              <a:rPr lang="en-US" sz="1100" b="1" dirty="0">
                <a:solidFill>
                  <a:srgbClr val="D7DBE3"/>
                </a:solidFill>
                <a:latin typeface="Calibri" pitchFamily="34" charset="0"/>
                <a:ea typeface="Calibri" pitchFamily="34" charset="-122"/>
                <a:cs typeface="Calibri" pitchFamily="34" charset="-120"/>
              </a:rPr>
              <a:t>GOAL-BASED</a:t>
            </a:r>
            <a:endParaRPr lang="en-US" sz="1100" dirty="0"/>
          </a:p>
        </p:txBody>
      </p:sp>
      <p:sp>
        <p:nvSpPr>
          <p:cNvPr id="8" name="Text 6"/>
          <p:cNvSpPr/>
          <p:nvPr/>
        </p:nvSpPr>
        <p:spPr>
          <a:xfrm>
            <a:off x="512064" y="1353312"/>
            <a:ext cx="3429000" cy="1645920"/>
          </a:xfrm>
          <a:prstGeom prst="rect">
            <a:avLst/>
          </a:prstGeom>
          <a:noFill/>
          <a:ln/>
        </p:spPr>
        <p:txBody>
          <a:bodyPr wrap="square" lIns="0" tIns="0" rIns="0" bIns="0" rtlCol="0" anchor="ctr"/>
          <a:lstStyle/>
          <a:p>
            <a:pPr indent="0" marL="0">
              <a:buNone/>
            </a:pPr>
            <a:r>
              <a:rPr lang="en-US" sz="1200" dirty="0">
                <a:solidFill>
                  <a:srgbClr val="E8E4DC"/>
                </a:solidFill>
                <a:latin typeface="Calibri" pitchFamily="34" charset="0"/>
                <a:ea typeface="Calibri" pitchFamily="34" charset="-122"/>
                <a:cs typeface="Calibri" pitchFamily="34" charset="-120"/>
              </a:rPr>
              <a:t>Starts the hop on Submit. Waits for both specialists. Keeps the stricter label. Writes the stage or the named assignment. Does not see notes as instructions. Holds the threshold and the assignment matrix. Neither specialist knows how to combine the other.</a:t>
            </a:r>
            <a:endParaRPr lang="en-US" sz="1200" dirty="0"/>
          </a:p>
        </p:txBody>
      </p:sp>
      <p:sp>
        <p:nvSpPr>
          <p:cNvPr id="9" name="Shape 7"/>
          <p:cNvSpPr/>
          <p:nvPr/>
        </p:nvSpPr>
        <p:spPr>
          <a:xfrm>
            <a:off x="4270248" y="804672"/>
            <a:ext cx="3703320" cy="2331720"/>
          </a:xfrm>
          <a:prstGeom prst="roundRect">
            <a:avLst>
              <a:gd name="adj" fmla="val 3137"/>
            </a:avLst>
          </a:prstGeom>
          <a:solidFill>
            <a:srgbClr val="142027"/>
          </a:solidFill>
          <a:ln w="12700">
            <a:solidFill>
              <a:srgbClr val="1F3A48"/>
            </a:solidFill>
            <a:prstDash val="solid"/>
          </a:ln>
        </p:spPr>
      </p:sp>
      <p:sp>
        <p:nvSpPr>
          <p:cNvPr id="10" name="Text 8"/>
          <p:cNvSpPr/>
          <p:nvPr/>
        </p:nvSpPr>
        <p:spPr>
          <a:xfrm>
            <a:off x="4398264" y="896112"/>
            <a:ext cx="3429000" cy="237744"/>
          </a:xfrm>
          <a:prstGeom prst="rect">
            <a:avLst/>
          </a:prstGeom>
          <a:noFill/>
          <a:ln/>
        </p:spPr>
        <p:txBody>
          <a:bodyPr wrap="square" lIns="0" tIns="0" rIns="0" bIns="0" rtlCol="0" anchor="ctr"/>
          <a:lstStyle/>
          <a:p>
            <a:pPr indent="0" marL="0">
              <a:buNone/>
            </a:pPr>
            <a:r>
              <a:rPr lang="en-US" sz="1200" b="1" dirty="0">
                <a:solidFill>
                  <a:srgbClr val="2F6A4F"/>
                </a:solidFill>
                <a:latin typeface="Calibri" pitchFamily="34" charset="0"/>
                <a:ea typeface="Calibri" pitchFamily="34" charset="-122"/>
                <a:cs typeface="Calibri" pitchFamily="34" charset="-120"/>
              </a:rPr>
              <a:t>DISCOUNT AGENT</a:t>
            </a:r>
            <a:endParaRPr lang="en-US" sz="1200" dirty="0"/>
          </a:p>
        </p:txBody>
      </p:sp>
      <p:sp>
        <p:nvSpPr>
          <p:cNvPr id="11" name="Text 9"/>
          <p:cNvSpPr/>
          <p:nvPr/>
        </p:nvSpPr>
        <p:spPr>
          <a:xfrm>
            <a:off x="4398264" y="1133856"/>
            <a:ext cx="3429000" cy="182880"/>
          </a:xfrm>
          <a:prstGeom prst="rect">
            <a:avLst/>
          </a:prstGeom>
          <a:noFill/>
          <a:ln/>
        </p:spPr>
        <p:txBody>
          <a:bodyPr wrap="square" lIns="0" tIns="0" rIns="0" bIns="0" rtlCol="0" anchor="ctr"/>
          <a:lstStyle/>
          <a:p>
            <a:pPr indent="0" marL="0">
              <a:buNone/>
            </a:pPr>
            <a:r>
              <a:rPr lang="en-US" sz="1100" b="1" dirty="0">
                <a:solidFill>
                  <a:srgbClr val="D7DBE3"/>
                </a:solidFill>
                <a:latin typeface="Calibri" pitchFamily="34" charset="0"/>
                <a:ea typeface="Calibri" pitchFamily="34" charset="-122"/>
                <a:cs typeface="Calibri" pitchFamily="34" charset="-120"/>
              </a:rPr>
              <a:t>TOOL-USING</a:t>
            </a:r>
            <a:endParaRPr lang="en-US" sz="1100" dirty="0"/>
          </a:p>
        </p:txBody>
      </p:sp>
      <p:sp>
        <p:nvSpPr>
          <p:cNvPr id="12" name="Text 10"/>
          <p:cNvSpPr/>
          <p:nvPr/>
        </p:nvSpPr>
        <p:spPr>
          <a:xfrm>
            <a:off x="4398264" y="1353312"/>
            <a:ext cx="3429000" cy="1645920"/>
          </a:xfrm>
          <a:prstGeom prst="rect">
            <a:avLst/>
          </a:prstGeom>
          <a:noFill/>
          <a:ln/>
        </p:spPr>
        <p:txBody>
          <a:bodyPr wrap="square" lIns="0" tIns="0" rIns="0" bIns="0" rtlCol="0" anchor="ctr"/>
          <a:lstStyle/>
          <a:p>
            <a:pPr indent="0" marL="0">
              <a:buNone/>
            </a:pPr>
            <a:r>
              <a:rPr lang="en-US" sz="1200" dirty="0">
                <a:solidFill>
                  <a:srgbClr val="E8E4DC"/>
                </a:solidFill>
                <a:latin typeface="Calibri" pitchFamily="34" charset="0"/>
                <a:ea typeface="Calibri" pitchFamily="34" charset="-122"/>
                <a:cs typeface="Calibri" pitchFamily="34" charset="-120"/>
              </a:rPr>
              <a:t>Reads DISC-POL-2026-01 for segment and quote type, then the account file: closed years, peers for new logos, multi-year terms, historical jump. Knowledge no other agent holds. Cannot be a tool call. Cites the rule it used.</a:t>
            </a:r>
            <a:endParaRPr lang="en-US" sz="1200" dirty="0"/>
          </a:p>
        </p:txBody>
      </p:sp>
      <p:sp>
        <p:nvSpPr>
          <p:cNvPr id="13" name="Shape 11"/>
          <p:cNvSpPr/>
          <p:nvPr/>
        </p:nvSpPr>
        <p:spPr>
          <a:xfrm>
            <a:off x="8156448" y="804672"/>
            <a:ext cx="3703320" cy="2331720"/>
          </a:xfrm>
          <a:prstGeom prst="roundRect">
            <a:avLst>
              <a:gd name="adj" fmla="val 3137"/>
            </a:avLst>
          </a:prstGeom>
          <a:solidFill>
            <a:srgbClr val="142027"/>
          </a:solidFill>
          <a:ln w="12700">
            <a:solidFill>
              <a:srgbClr val="1F3A48"/>
            </a:solidFill>
            <a:prstDash val="solid"/>
          </a:ln>
        </p:spPr>
      </p:sp>
      <p:sp>
        <p:nvSpPr>
          <p:cNvPr id="14" name="Text 12"/>
          <p:cNvSpPr/>
          <p:nvPr/>
        </p:nvSpPr>
        <p:spPr>
          <a:xfrm>
            <a:off x="8284464" y="896112"/>
            <a:ext cx="3429000" cy="237744"/>
          </a:xfrm>
          <a:prstGeom prst="rect">
            <a:avLst/>
          </a:prstGeom>
          <a:noFill/>
          <a:ln/>
        </p:spPr>
        <p:txBody>
          <a:bodyPr wrap="square" lIns="0" tIns="0" rIns="0" bIns="0" rtlCol="0" anchor="ctr"/>
          <a:lstStyle/>
          <a:p>
            <a:pPr indent="0" marL="0">
              <a:buNone/>
            </a:pPr>
            <a:r>
              <a:rPr lang="en-US" sz="1200" b="1" dirty="0">
                <a:solidFill>
                  <a:srgbClr val="00D4AA"/>
                </a:solidFill>
                <a:latin typeface="Calibri" pitchFamily="34" charset="0"/>
                <a:ea typeface="Calibri" pitchFamily="34" charset="-122"/>
                <a:cs typeface="Calibri" pitchFamily="34" charset="-120"/>
              </a:rPr>
              <a:t>PAYMENT AGENT</a:t>
            </a:r>
            <a:endParaRPr lang="en-US" sz="1200" dirty="0"/>
          </a:p>
        </p:txBody>
      </p:sp>
      <p:sp>
        <p:nvSpPr>
          <p:cNvPr id="15" name="Text 13"/>
          <p:cNvSpPr/>
          <p:nvPr/>
        </p:nvSpPr>
        <p:spPr>
          <a:xfrm>
            <a:off x="8284464" y="1133856"/>
            <a:ext cx="3429000" cy="182880"/>
          </a:xfrm>
          <a:prstGeom prst="rect">
            <a:avLst/>
          </a:prstGeom>
          <a:noFill/>
          <a:ln/>
        </p:spPr>
        <p:txBody>
          <a:bodyPr wrap="square" lIns="0" tIns="0" rIns="0" bIns="0" rtlCol="0" anchor="ctr"/>
          <a:lstStyle/>
          <a:p>
            <a:pPr indent="0" marL="0">
              <a:buNone/>
            </a:pPr>
            <a:r>
              <a:rPr lang="en-US" sz="1100" b="1" dirty="0">
                <a:solidFill>
                  <a:srgbClr val="D7DBE3"/>
                </a:solidFill>
                <a:latin typeface="Calibri" pitchFamily="34" charset="0"/>
                <a:ea typeface="Calibri" pitchFamily="34" charset="-122"/>
                <a:cs typeface="Calibri" pitchFamily="34" charset="-120"/>
              </a:rPr>
              <a:t>TOOL-USING</a:t>
            </a:r>
            <a:endParaRPr lang="en-US" sz="1100" dirty="0"/>
          </a:p>
        </p:txBody>
      </p:sp>
      <p:sp>
        <p:nvSpPr>
          <p:cNvPr id="16" name="Text 14"/>
          <p:cNvSpPr/>
          <p:nvPr/>
        </p:nvSpPr>
        <p:spPr>
          <a:xfrm>
            <a:off x="8284464" y="1353312"/>
            <a:ext cx="3429000" cy="1645920"/>
          </a:xfrm>
          <a:prstGeom prst="rect">
            <a:avLst/>
          </a:prstGeom>
          <a:noFill/>
          <a:ln/>
        </p:spPr>
        <p:txBody>
          <a:bodyPr wrap="square" lIns="0" tIns="0" rIns="0" bIns="0" rtlCol="0" anchor="ctr"/>
          <a:lstStyle/>
          <a:p>
            <a:pPr indent="0" marL="0">
              <a:buNone/>
            </a:pPr>
            <a:r>
              <a:rPr lang="en-US" sz="1200" dirty="0">
                <a:solidFill>
                  <a:srgbClr val="E8E4DC"/>
                </a:solidFill>
                <a:latin typeface="Calibri" pitchFamily="34" charset="0"/>
                <a:ea typeface="Calibri" pitchFamily="34" charset="-122"/>
                <a:cs typeface="Calibri" pitchFamily="34" charset="-120"/>
              </a:rPr>
              <a:t>Reads PAY-POL-2026-01 and the receivables file. Preferred, elevated, and high-risk terms. A worse term than last year, or open dues, is a hold. Domain owned by Finance. Cannot be a tool call. Cites the rule it used.</a:t>
            </a:r>
            <a:endParaRPr lang="en-US" sz="1200" dirty="0"/>
          </a:p>
        </p:txBody>
      </p:sp>
      <p:sp>
        <p:nvSpPr>
          <p:cNvPr id="17" name="Shape 15"/>
          <p:cNvSpPr/>
          <p:nvPr/>
        </p:nvSpPr>
        <p:spPr>
          <a:xfrm>
            <a:off x="384048" y="3273552"/>
            <a:ext cx="11430000" cy="1417320"/>
          </a:xfrm>
          <a:prstGeom prst="roundRect">
            <a:avLst>
              <a:gd name="adj" fmla="val 5161"/>
            </a:avLst>
          </a:prstGeom>
          <a:solidFill>
            <a:srgbClr val="142027"/>
          </a:solidFill>
          <a:ln w="12700">
            <a:solidFill>
              <a:srgbClr val="1F3A48"/>
            </a:solidFill>
            <a:prstDash val="solid"/>
          </a:ln>
        </p:spPr>
      </p:sp>
      <p:sp>
        <p:nvSpPr>
          <p:cNvPr id="18" name="Text 16"/>
          <p:cNvSpPr/>
          <p:nvPr/>
        </p:nvSpPr>
        <p:spPr>
          <a:xfrm>
            <a:off x="530352" y="3364992"/>
            <a:ext cx="3657600" cy="237744"/>
          </a:xfrm>
          <a:prstGeom prst="rect">
            <a:avLst/>
          </a:prstGeom>
          <a:noFill/>
          <a:ln/>
        </p:spPr>
        <p:txBody>
          <a:bodyPr wrap="square" lIns="0" tIns="0" rIns="0" bIns="0" rtlCol="0" anchor="ctr"/>
          <a:lstStyle/>
          <a:p>
            <a:pPr indent="0" marL="0">
              <a:buNone/>
            </a:pPr>
            <a:r>
              <a:rPr lang="en-US" sz="1200" b="1" dirty="0">
                <a:solidFill>
                  <a:srgbClr val="00D4AA"/>
                </a:solidFill>
                <a:latin typeface="Calibri" pitchFamily="34" charset="0"/>
                <a:ea typeface="Calibri" pitchFamily="34" charset="-122"/>
                <a:cs typeface="Calibri" pitchFamily="34" charset="-120"/>
              </a:rPr>
              <a:t>TECH STACK</a:t>
            </a:r>
            <a:endParaRPr lang="en-US" sz="1200" dirty="0"/>
          </a:p>
        </p:txBody>
      </p:sp>
      <p:sp>
        <p:nvSpPr>
          <p:cNvPr id="19" name="Text 17"/>
          <p:cNvSpPr/>
          <p:nvPr/>
        </p:nvSpPr>
        <p:spPr>
          <a:xfrm>
            <a:off x="530352" y="3639312"/>
            <a:ext cx="11109960" cy="914400"/>
          </a:xfrm>
          <a:prstGeom prst="rect">
            <a:avLst/>
          </a:prstGeom>
          <a:noFill/>
          <a:ln/>
        </p:spPr>
        <p:txBody>
          <a:bodyPr wrap="square" lIns="0" tIns="0" rIns="0" bIns="0" rtlCol="0" anchor="ctr"/>
          <a:lstStyle/>
          <a:p>
            <a:pPr indent="0" marL="0">
              <a:buNone/>
            </a:pPr>
            <a:r>
              <a:rPr lang="en-US" sz="1300" dirty="0">
                <a:solidFill>
                  <a:srgbClr val="E8E4DC"/>
                </a:solidFill>
                <a:latin typeface="Calibri" pitchFamily="34" charset="0"/>
                <a:ea typeface="Calibri" pitchFamily="34" charset="-122"/>
                <a:cs typeface="Calibri" pitchFamily="34" charset="-120"/>
              </a:rPr>
              <a:t>Python 3.10 · LangGraph StateGraph · Pydantic · structured JSON in and out. CrewAI was the other option. This build uses LangGraph because the hop is a fixed graph with parallel specialists, not a free chat. Each node returns a typed object: decision, confidence, thought, cited rules. Loop limits: max steps 3, max tool calls 4. Done when the label and the assignment are written.</a:t>
            </a:r>
            <a:endParaRPr lang="en-US" sz="1300" dirty="0"/>
          </a:p>
        </p:txBody>
      </p:sp>
      <p:sp>
        <p:nvSpPr>
          <p:cNvPr id="20" name="Shape 18"/>
          <p:cNvSpPr/>
          <p:nvPr/>
        </p:nvSpPr>
        <p:spPr>
          <a:xfrm>
            <a:off x="384048" y="4828032"/>
            <a:ext cx="11430000" cy="1691640"/>
          </a:xfrm>
          <a:prstGeom prst="roundRect">
            <a:avLst>
              <a:gd name="adj" fmla="val 4324"/>
            </a:avLst>
          </a:prstGeom>
          <a:solidFill>
            <a:srgbClr val="142027"/>
          </a:solidFill>
          <a:ln w="12700">
            <a:solidFill>
              <a:srgbClr val="1F3A48"/>
            </a:solidFill>
            <a:prstDash val="solid"/>
          </a:ln>
        </p:spPr>
      </p:sp>
      <p:sp>
        <p:nvSpPr>
          <p:cNvPr id="21" name="Text 19"/>
          <p:cNvSpPr/>
          <p:nvPr/>
        </p:nvSpPr>
        <p:spPr>
          <a:xfrm>
            <a:off x="530352" y="4919472"/>
            <a:ext cx="4572000" cy="237744"/>
          </a:xfrm>
          <a:prstGeom prst="rect">
            <a:avLst/>
          </a:prstGeom>
          <a:noFill/>
          <a:ln/>
        </p:spPr>
        <p:txBody>
          <a:bodyPr wrap="square" lIns="0" tIns="0" rIns="0" bIns="0" rtlCol="0" anchor="ctr"/>
          <a:lstStyle/>
          <a:p>
            <a:pPr indent="0" marL="0">
              <a:buNone/>
            </a:pPr>
            <a:r>
              <a:rPr lang="en-US" sz="1200" b="1" dirty="0">
                <a:solidFill>
                  <a:srgbClr val="00D4AA"/>
                </a:solidFill>
                <a:latin typeface="Calibri" pitchFamily="34" charset="0"/>
                <a:ea typeface="Calibri" pitchFamily="34" charset="-122"/>
                <a:cs typeface="Calibri" pitchFamily="34" charset="-120"/>
              </a:rPr>
              <a:t>RUNTIME AND GRAPH</a:t>
            </a:r>
            <a:endParaRPr lang="en-US" sz="1200" dirty="0"/>
          </a:p>
        </p:txBody>
      </p:sp>
      <p:sp>
        <p:nvSpPr>
          <p:cNvPr id="22" name="Text 20"/>
          <p:cNvSpPr/>
          <p:nvPr/>
        </p:nvSpPr>
        <p:spPr>
          <a:xfrm>
            <a:off x="530352" y="5193792"/>
            <a:ext cx="11109960" cy="1188720"/>
          </a:xfrm>
          <a:prstGeom prst="rect">
            <a:avLst/>
          </a:prstGeom>
          <a:noFill/>
          <a:ln/>
        </p:spPr>
        <p:txBody>
          <a:bodyPr wrap="square" lIns="0" tIns="0" rIns="0" bIns="0" rtlCol="0" anchor="ctr"/>
          <a:lstStyle/>
          <a:p>
            <a:pPr indent="0" marL="0">
              <a:buNone/>
            </a:pPr>
            <a:r>
              <a:rPr lang="en-US" sz="1300" dirty="0">
                <a:solidFill>
                  <a:srgbClr val="E8E4DC"/>
                </a:solidFill>
                <a:latin typeface="Calibri" pitchFamily="34" charset="0"/>
                <a:ea typeface="Calibri" pitchFamily="34" charset="-122"/>
                <a:cs typeface="Calibri" pitchFamily="34" charset="-120"/>
              </a:rPr>
              <a:t>Plan → Discount and Payment in parallel → combine → guardrail. Reject beats Escalate. Escalate beats Approve. Average confidence is used only when both Approve and clear the threshold (default 75%). A note cannot talk to either specialist as an instruction. The output guardrail blocks a looser label than the books. Every live submit is a Langfuse generation named approval-agents and a trace named dealflow.approval.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E1A24"/>
          </a:solidFill>
          <a:ln/>
        </p:spPr>
      </p:sp>
      <p:sp>
        <p:nvSpPr>
          <p:cNvPr id="3" name="Text 1"/>
          <p:cNvSpPr/>
          <p:nvPr/>
        </p:nvSpPr>
        <p:spPr>
          <a:xfrm>
            <a:off x="384048" y="164592"/>
            <a:ext cx="11338560" cy="310896"/>
          </a:xfrm>
          <a:prstGeom prst="rect">
            <a:avLst/>
          </a:prstGeom>
          <a:noFill/>
          <a:ln/>
        </p:spPr>
        <p:txBody>
          <a:bodyPr wrap="square" lIns="0" tIns="0" rIns="0" bIns="0" rtlCol="0" anchor="ctr"/>
          <a:lstStyle/>
          <a:p>
            <a:pPr indent="0" marL="0">
              <a:buNone/>
            </a:pPr>
            <a:r>
              <a:rPr lang="en-US" sz="2400" b="1" dirty="0">
                <a:solidFill>
                  <a:srgbClr val="F4F0E8"/>
                </a:solidFill>
                <a:latin typeface="Calibri" pitchFamily="34" charset="0"/>
                <a:ea typeface="Calibri" pitchFamily="34" charset="-122"/>
                <a:cs typeface="Calibri" pitchFamily="34" charset="-120"/>
              </a:rPr>
              <a:t>HOW THE HOP ACTUALLY RUNS</a:t>
            </a:r>
            <a:endParaRPr lang="en-US" sz="2400" dirty="0"/>
          </a:p>
        </p:txBody>
      </p:sp>
      <p:sp>
        <p:nvSpPr>
          <p:cNvPr id="4" name="Text 2"/>
          <p:cNvSpPr/>
          <p:nvPr/>
        </p:nvSpPr>
        <p:spPr>
          <a:xfrm>
            <a:off x="384048" y="475488"/>
            <a:ext cx="11338560" cy="201168"/>
          </a:xfrm>
          <a:prstGeom prst="rect">
            <a:avLst/>
          </a:prstGeom>
          <a:noFill/>
          <a:ln/>
        </p:spPr>
        <p:txBody>
          <a:bodyPr wrap="square" lIns="0" tIns="0" rIns="0" bIns="0" rtlCol="0" anchor="ctr"/>
          <a:lstStyle/>
          <a:p>
            <a:pPr indent="0" marL="0">
              <a:buNone/>
            </a:pPr>
            <a:r>
              <a:rPr lang="en-US" sz="1300" dirty="0">
                <a:solidFill>
                  <a:srgbClr val="D7DBE3"/>
                </a:solidFill>
                <a:latin typeface="Calibri" pitchFamily="34" charset="0"/>
                <a:ea typeface="Calibri" pitchFamily="34" charset="-122"/>
                <a:cs typeface="Calibri" pitchFamily="34" charset="-120"/>
              </a:rPr>
              <a:t>Play the hop sequence from the live Agents tab  ·  DealFlow</a:t>
            </a:r>
            <a:endParaRPr lang="en-US" sz="1300" dirty="0"/>
          </a:p>
        </p:txBody>
      </p:sp>
      <p:sp>
        <p:nvSpPr>
          <p:cNvPr id="5" name="Shape 3"/>
          <p:cNvSpPr/>
          <p:nvPr/>
        </p:nvSpPr>
        <p:spPr>
          <a:xfrm>
            <a:off x="384048" y="841248"/>
            <a:ext cx="2788920" cy="1280160"/>
          </a:xfrm>
          <a:prstGeom prst="roundRect">
            <a:avLst>
              <a:gd name="adj" fmla="val 5714"/>
            </a:avLst>
          </a:prstGeom>
          <a:solidFill>
            <a:srgbClr val="142027"/>
          </a:solidFill>
          <a:ln w="12700">
            <a:solidFill>
              <a:srgbClr val="1F3A48"/>
            </a:solidFill>
            <a:prstDash val="solid"/>
          </a:ln>
        </p:spPr>
      </p:sp>
      <p:sp>
        <p:nvSpPr>
          <p:cNvPr id="6" name="Text 4"/>
          <p:cNvSpPr/>
          <p:nvPr/>
        </p:nvSpPr>
        <p:spPr>
          <a:xfrm>
            <a:off x="493776" y="932688"/>
            <a:ext cx="365760" cy="256032"/>
          </a:xfrm>
          <a:prstGeom prst="rect">
            <a:avLst/>
          </a:prstGeom>
          <a:noFill/>
          <a:ln/>
        </p:spPr>
        <p:txBody>
          <a:bodyPr wrap="square" lIns="0" tIns="0" rIns="0" bIns="0" rtlCol="0" anchor="ctr"/>
          <a:lstStyle/>
          <a:p>
            <a:pPr indent="0" marL="0">
              <a:buNone/>
            </a:pPr>
            <a:r>
              <a:rPr lang="en-US" sz="1600" b="1" dirty="0">
                <a:solidFill>
                  <a:srgbClr val="00D4AA"/>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841248" y="950976"/>
            <a:ext cx="2194560" cy="237744"/>
          </a:xfrm>
          <a:prstGeom prst="rect">
            <a:avLst/>
          </a:prstGeom>
          <a:noFill/>
          <a:ln/>
        </p:spPr>
        <p:txBody>
          <a:bodyPr wrap="square" lIns="0" tIns="0" rIns="0" bIns="0" rtlCol="0" anchor="ctr"/>
          <a:lstStyle/>
          <a:p>
            <a:pPr indent="0" marL="0">
              <a:buNone/>
            </a:pPr>
            <a:r>
              <a:rPr lang="en-US" sz="1300" b="1" dirty="0">
                <a:solidFill>
                  <a:srgbClr val="F4F0E8"/>
                </a:solidFill>
                <a:latin typeface="Calibri" pitchFamily="34" charset="0"/>
                <a:ea typeface="Calibri" pitchFamily="34" charset="-122"/>
                <a:cs typeface="Calibri" pitchFamily="34" charset="-120"/>
              </a:rPr>
              <a:t>Seller</a:t>
            </a:r>
            <a:endParaRPr lang="en-US" sz="1300" dirty="0"/>
          </a:p>
        </p:txBody>
      </p:sp>
      <p:sp>
        <p:nvSpPr>
          <p:cNvPr id="8" name="Text 6"/>
          <p:cNvSpPr/>
          <p:nvPr/>
        </p:nvSpPr>
        <p:spPr>
          <a:xfrm>
            <a:off x="493776" y="1280160"/>
            <a:ext cx="2560320" cy="731520"/>
          </a:xfrm>
          <a:prstGeom prst="rect">
            <a:avLst/>
          </a:prstGeom>
          <a:noFill/>
          <a:ln/>
        </p:spPr>
        <p:txBody>
          <a:bodyPr wrap="square" lIns="0" tIns="0" rIns="0" bIns="0" rtlCol="0" anchor="ctr"/>
          <a:lstStyle/>
          <a:p>
            <a:pPr indent="0" marL="0">
              <a:buNone/>
            </a:pPr>
            <a:r>
              <a:rPr lang="en-US" sz="1200" dirty="0">
                <a:solidFill>
                  <a:srgbClr val="E8E4DC"/>
                </a:solidFill>
                <a:latin typeface="Calibri" pitchFamily="34" charset="0"/>
                <a:ea typeface="Calibri" pitchFamily="34" charset="-122"/>
                <a:cs typeface="Calibri" pitchFamily="34" charset="-120"/>
              </a:rPr>
              <a:t>Quote is still a draft. No agent has started. Jordan Lee owns Q-2026-1001.</a:t>
            </a:r>
            <a:endParaRPr lang="en-US" sz="1200" dirty="0"/>
          </a:p>
        </p:txBody>
      </p:sp>
      <p:sp>
        <p:nvSpPr>
          <p:cNvPr id="9" name="Shape 7"/>
          <p:cNvSpPr/>
          <p:nvPr/>
        </p:nvSpPr>
        <p:spPr>
          <a:xfrm>
            <a:off x="3310128" y="841248"/>
            <a:ext cx="2788920" cy="1280160"/>
          </a:xfrm>
          <a:prstGeom prst="roundRect">
            <a:avLst>
              <a:gd name="adj" fmla="val 5714"/>
            </a:avLst>
          </a:prstGeom>
          <a:solidFill>
            <a:srgbClr val="142027"/>
          </a:solidFill>
          <a:ln w="12700">
            <a:solidFill>
              <a:srgbClr val="1F3A48"/>
            </a:solidFill>
            <a:prstDash val="solid"/>
          </a:ln>
        </p:spPr>
      </p:sp>
      <p:sp>
        <p:nvSpPr>
          <p:cNvPr id="10" name="Text 8"/>
          <p:cNvSpPr/>
          <p:nvPr/>
        </p:nvSpPr>
        <p:spPr>
          <a:xfrm>
            <a:off x="3419856" y="932688"/>
            <a:ext cx="365760" cy="256032"/>
          </a:xfrm>
          <a:prstGeom prst="rect">
            <a:avLst/>
          </a:prstGeom>
          <a:noFill/>
          <a:ln/>
        </p:spPr>
        <p:txBody>
          <a:bodyPr wrap="square" lIns="0" tIns="0" rIns="0" bIns="0" rtlCol="0" anchor="ctr"/>
          <a:lstStyle/>
          <a:p>
            <a:pPr indent="0" marL="0">
              <a:buNone/>
            </a:pPr>
            <a:r>
              <a:rPr lang="en-US" sz="1600" b="1" dirty="0">
                <a:solidFill>
                  <a:srgbClr val="00D4AA"/>
                </a:solidFill>
                <a:latin typeface="Calibri" pitchFamily="34" charset="0"/>
                <a:ea typeface="Calibri" pitchFamily="34" charset="-122"/>
                <a:cs typeface="Calibri" pitchFamily="34" charset="-120"/>
              </a:rPr>
              <a:t>2</a:t>
            </a:r>
            <a:endParaRPr lang="en-US" sz="1600" dirty="0"/>
          </a:p>
        </p:txBody>
      </p:sp>
      <p:sp>
        <p:nvSpPr>
          <p:cNvPr id="11" name="Text 9"/>
          <p:cNvSpPr/>
          <p:nvPr/>
        </p:nvSpPr>
        <p:spPr>
          <a:xfrm>
            <a:off x="3767328" y="950976"/>
            <a:ext cx="2194560" cy="237744"/>
          </a:xfrm>
          <a:prstGeom prst="rect">
            <a:avLst/>
          </a:prstGeom>
          <a:noFill/>
          <a:ln/>
        </p:spPr>
        <p:txBody>
          <a:bodyPr wrap="square" lIns="0" tIns="0" rIns="0" bIns="0" rtlCol="0" anchor="ctr"/>
          <a:lstStyle/>
          <a:p>
            <a:pPr indent="0" marL="0">
              <a:buNone/>
            </a:pPr>
            <a:r>
              <a:rPr lang="en-US" sz="1300" b="1" dirty="0">
                <a:solidFill>
                  <a:srgbClr val="F4F0E8"/>
                </a:solidFill>
                <a:latin typeface="Calibri" pitchFamily="34" charset="0"/>
                <a:ea typeface="Calibri" pitchFamily="34" charset="-122"/>
                <a:cs typeface="Calibri" pitchFamily="34" charset="-120"/>
              </a:rPr>
              <a:t>Orchestrator</a:t>
            </a:r>
            <a:endParaRPr lang="en-US" sz="1300" dirty="0"/>
          </a:p>
        </p:txBody>
      </p:sp>
      <p:sp>
        <p:nvSpPr>
          <p:cNvPr id="12" name="Text 10"/>
          <p:cNvSpPr/>
          <p:nvPr/>
        </p:nvSpPr>
        <p:spPr>
          <a:xfrm>
            <a:off x="3419856" y="1280160"/>
            <a:ext cx="2560320" cy="731520"/>
          </a:xfrm>
          <a:prstGeom prst="rect">
            <a:avLst/>
          </a:prstGeom>
          <a:noFill/>
          <a:ln/>
        </p:spPr>
        <p:txBody>
          <a:bodyPr wrap="square" lIns="0" tIns="0" rIns="0" bIns="0" rtlCol="0" anchor="ctr"/>
          <a:lstStyle/>
          <a:p>
            <a:pPr indent="0" marL="0">
              <a:buNone/>
            </a:pPr>
            <a:r>
              <a:rPr lang="en-US" sz="1200" dirty="0">
                <a:solidFill>
                  <a:srgbClr val="E8E4DC"/>
                </a:solidFill>
                <a:latin typeface="Calibri" pitchFamily="34" charset="0"/>
                <a:ea typeface="Calibri" pitchFamily="34" charset="-122"/>
                <a:cs typeface="Calibri" pitchFamily="34" charset="-120"/>
              </a:rPr>
              <a:t>Submit opens the hop. Notes are scanned and not obeyed.</a:t>
            </a:r>
            <a:endParaRPr lang="en-US" sz="1200" dirty="0"/>
          </a:p>
        </p:txBody>
      </p:sp>
      <p:sp>
        <p:nvSpPr>
          <p:cNvPr id="13" name="Shape 11"/>
          <p:cNvSpPr/>
          <p:nvPr/>
        </p:nvSpPr>
        <p:spPr>
          <a:xfrm>
            <a:off x="6236208" y="841248"/>
            <a:ext cx="2788920" cy="1280160"/>
          </a:xfrm>
          <a:prstGeom prst="roundRect">
            <a:avLst>
              <a:gd name="adj" fmla="val 5714"/>
            </a:avLst>
          </a:prstGeom>
          <a:solidFill>
            <a:srgbClr val="142027"/>
          </a:solidFill>
          <a:ln w="12700">
            <a:solidFill>
              <a:srgbClr val="1F3A48"/>
            </a:solidFill>
            <a:prstDash val="solid"/>
          </a:ln>
        </p:spPr>
      </p:sp>
      <p:sp>
        <p:nvSpPr>
          <p:cNvPr id="14" name="Text 12"/>
          <p:cNvSpPr/>
          <p:nvPr/>
        </p:nvSpPr>
        <p:spPr>
          <a:xfrm>
            <a:off x="6345936" y="932688"/>
            <a:ext cx="365760" cy="256032"/>
          </a:xfrm>
          <a:prstGeom prst="rect">
            <a:avLst/>
          </a:prstGeom>
          <a:noFill/>
          <a:ln/>
        </p:spPr>
        <p:txBody>
          <a:bodyPr wrap="square" lIns="0" tIns="0" rIns="0" bIns="0" rtlCol="0" anchor="ctr"/>
          <a:lstStyle/>
          <a:p>
            <a:pPr indent="0" marL="0">
              <a:buNone/>
            </a:pPr>
            <a:r>
              <a:rPr lang="en-US" sz="1600" b="1" dirty="0">
                <a:solidFill>
                  <a:srgbClr val="00D4AA"/>
                </a:solidFill>
                <a:latin typeface="Calibri" pitchFamily="34" charset="0"/>
                <a:ea typeface="Calibri" pitchFamily="34" charset="-122"/>
                <a:cs typeface="Calibri" pitchFamily="34" charset="-120"/>
              </a:rPr>
              <a:t>3</a:t>
            </a:r>
            <a:endParaRPr lang="en-US" sz="1600" dirty="0"/>
          </a:p>
        </p:txBody>
      </p:sp>
      <p:sp>
        <p:nvSpPr>
          <p:cNvPr id="15" name="Text 13"/>
          <p:cNvSpPr/>
          <p:nvPr/>
        </p:nvSpPr>
        <p:spPr>
          <a:xfrm>
            <a:off x="6693408" y="950976"/>
            <a:ext cx="2194560" cy="237744"/>
          </a:xfrm>
          <a:prstGeom prst="rect">
            <a:avLst/>
          </a:prstGeom>
          <a:noFill/>
          <a:ln/>
        </p:spPr>
        <p:txBody>
          <a:bodyPr wrap="square" lIns="0" tIns="0" rIns="0" bIns="0" rtlCol="0" anchor="ctr"/>
          <a:lstStyle/>
          <a:p>
            <a:pPr indent="0" marL="0">
              <a:buNone/>
            </a:pPr>
            <a:r>
              <a:rPr lang="en-US" sz="1300" b="1" dirty="0">
                <a:solidFill>
                  <a:srgbClr val="F4F0E8"/>
                </a:solidFill>
                <a:latin typeface="Calibri" pitchFamily="34" charset="0"/>
                <a:ea typeface="Calibri" pitchFamily="34" charset="-122"/>
                <a:cs typeface="Calibri" pitchFamily="34" charset="-120"/>
              </a:rPr>
              <a:t>Discount</a:t>
            </a:r>
            <a:endParaRPr lang="en-US" sz="1300" dirty="0"/>
          </a:p>
        </p:txBody>
      </p:sp>
      <p:sp>
        <p:nvSpPr>
          <p:cNvPr id="16" name="Text 14"/>
          <p:cNvSpPr/>
          <p:nvPr/>
        </p:nvSpPr>
        <p:spPr>
          <a:xfrm>
            <a:off x="6345936" y="1280160"/>
            <a:ext cx="2560320" cy="731520"/>
          </a:xfrm>
          <a:prstGeom prst="rect">
            <a:avLst/>
          </a:prstGeom>
          <a:noFill/>
          <a:ln/>
        </p:spPr>
        <p:txBody>
          <a:bodyPr wrap="square" lIns="0" tIns="0" rIns="0" bIns="0" rtlCol="0" anchor="ctr"/>
          <a:lstStyle/>
          <a:p>
            <a:pPr indent="0" marL="0">
              <a:buNone/>
            </a:pPr>
            <a:r>
              <a:rPr lang="en-US" sz="1200" dirty="0">
                <a:solidFill>
                  <a:srgbClr val="E8E4DC"/>
                </a:solidFill>
                <a:latin typeface="Calibri" pitchFamily="34" charset="0"/>
                <a:ea typeface="Calibri" pitchFamily="34" charset="-122"/>
                <a:cs typeface="Calibri" pitchFamily="34" charset="-120"/>
              </a:rPr>
              <a:t>Reads the book and the account file. Writes one label.</a:t>
            </a:r>
            <a:endParaRPr lang="en-US" sz="1200" dirty="0"/>
          </a:p>
        </p:txBody>
      </p:sp>
      <p:sp>
        <p:nvSpPr>
          <p:cNvPr id="17" name="Shape 15"/>
          <p:cNvSpPr/>
          <p:nvPr/>
        </p:nvSpPr>
        <p:spPr>
          <a:xfrm>
            <a:off x="9162288" y="841248"/>
            <a:ext cx="2788920" cy="1280160"/>
          </a:xfrm>
          <a:prstGeom prst="roundRect">
            <a:avLst>
              <a:gd name="adj" fmla="val 5714"/>
            </a:avLst>
          </a:prstGeom>
          <a:solidFill>
            <a:srgbClr val="142027"/>
          </a:solidFill>
          <a:ln w="12700">
            <a:solidFill>
              <a:srgbClr val="1F3A48"/>
            </a:solidFill>
            <a:prstDash val="solid"/>
          </a:ln>
        </p:spPr>
      </p:sp>
      <p:sp>
        <p:nvSpPr>
          <p:cNvPr id="18" name="Text 16"/>
          <p:cNvSpPr/>
          <p:nvPr/>
        </p:nvSpPr>
        <p:spPr>
          <a:xfrm>
            <a:off x="9272016" y="932688"/>
            <a:ext cx="365760" cy="256032"/>
          </a:xfrm>
          <a:prstGeom prst="rect">
            <a:avLst/>
          </a:prstGeom>
          <a:noFill/>
          <a:ln/>
        </p:spPr>
        <p:txBody>
          <a:bodyPr wrap="square" lIns="0" tIns="0" rIns="0" bIns="0" rtlCol="0" anchor="ctr"/>
          <a:lstStyle/>
          <a:p>
            <a:pPr indent="0" marL="0">
              <a:buNone/>
            </a:pPr>
            <a:r>
              <a:rPr lang="en-US" sz="1600" b="1" dirty="0">
                <a:solidFill>
                  <a:srgbClr val="00D4AA"/>
                </a:solidFill>
                <a:latin typeface="Calibri" pitchFamily="34" charset="0"/>
                <a:ea typeface="Calibri" pitchFamily="34" charset="-122"/>
                <a:cs typeface="Calibri" pitchFamily="34" charset="-120"/>
              </a:rPr>
              <a:t>4</a:t>
            </a:r>
            <a:endParaRPr lang="en-US" sz="1600" dirty="0"/>
          </a:p>
        </p:txBody>
      </p:sp>
      <p:sp>
        <p:nvSpPr>
          <p:cNvPr id="19" name="Text 17"/>
          <p:cNvSpPr/>
          <p:nvPr/>
        </p:nvSpPr>
        <p:spPr>
          <a:xfrm>
            <a:off x="9619488" y="950976"/>
            <a:ext cx="2194560" cy="237744"/>
          </a:xfrm>
          <a:prstGeom prst="rect">
            <a:avLst/>
          </a:prstGeom>
          <a:noFill/>
          <a:ln/>
        </p:spPr>
        <p:txBody>
          <a:bodyPr wrap="square" lIns="0" tIns="0" rIns="0" bIns="0" rtlCol="0" anchor="ctr"/>
          <a:lstStyle/>
          <a:p>
            <a:pPr indent="0" marL="0">
              <a:buNone/>
            </a:pPr>
            <a:r>
              <a:rPr lang="en-US" sz="1300" b="1" dirty="0">
                <a:solidFill>
                  <a:srgbClr val="F4F0E8"/>
                </a:solidFill>
                <a:latin typeface="Calibri" pitchFamily="34" charset="0"/>
                <a:ea typeface="Calibri" pitchFamily="34" charset="-122"/>
                <a:cs typeface="Calibri" pitchFamily="34" charset="-120"/>
              </a:rPr>
              <a:t>Payment</a:t>
            </a:r>
            <a:endParaRPr lang="en-US" sz="1300" dirty="0"/>
          </a:p>
        </p:txBody>
      </p:sp>
      <p:sp>
        <p:nvSpPr>
          <p:cNvPr id="20" name="Text 18"/>
          <p:cNvSpPr/>
          <p:nvPr/>
        </p:nvSpPr>
        <p:spPr>
          <a:xfrm>
            <a:off x="9272016" y="1280160"/>
            <a:ext cx="2560320" cy="731520"/>
          </a:xfrm>
          <a:prstGeom prst="rect">
            <a:avLst/>
          </a:prstGeom>
          <a:noFill/>
          <a:ln/>
        </p:spPr>
        <p:txBody>
          <a:bodyPr wrap="square" lIns="0" tIns="0" rIns="0" bIns="0" rtlCol="0" anchor="ctr"/>
          <a:lstStyle/>
          <a:p>
            <a:pPr indent="0" marL="0">
              <a:buNone/>
            </a:pPr>
            <a:r>
              <a:rPr lang="en-US" sz="1200" dirty="0">
                <a:solidFill>
                  <a:srgbClr val="E8E4DC"/>
                </a:solidFill>
                <a:latin typeface="Calibri" pitchFamily="34" charset="0"/>
                <a:ea typeface="Calibri" pitchFamily="34" charset="-122"/>
                <a:cs typeface="Calibri" pitchFamily="34" charset="-120"/>
              </a:rPr>
              <a:t>Reads the cash book and dues. Writes one label.</a:t>
            </a:r>
            <a:endParaRPr lang="en-US" sz="1200" dirty="0"/>
          </a:p>
        </p:txBody>
      </p:sp>
      <p:sp>
        <p:nvSpPr>
          <p:cNvPr id="21" name="Shape 19"/>
          <p:cNvSpPr/>
          <p:nvPr/>
        </p:nvSpPr>
        <p:spPr>
          <a:xfrm>
            <a:off x="384048" y="2258568"/>
            <a:ext cx="2788920" cy="1280160"/>
          </a:xfrm>
          <a:prstGeom prst="roundRect">
            <a:avLst>
              <a:gd name="adj" fmla="val 5714"/>
            </a:avLst>
          </a:prstGeom>
          <a:solidFill>
            <a:srgbClr val="142027"/>
          </a:solidFill>
          <a:ln w="12700">
            <a:solidFill>
              <a:srgbClr val="1F3A48"/>
            </a:solidFill>
            <a:prstDash val="solid"/>
          </a:ln>
        </p:spPr>
      </p:sp>
      <p:sp>
        <p:nvSpPr>
          <p:cNvPr id="22" name="Text 20"/>
          <p:cNvSpPr/>
          <p:nvPr/>
        </p:nvSpPr>
        <p:spPr>
          <a:xfrm>
            <a:off x="493776" y="2350008"/>
            <a:ext cx="365760" cy="256032"/>
          </a:xfrm>
          <a:prstGeom prst="rect">
            <a:avLst/>
          </a:prstGeom>
          <a:noFill/>
          <a:ln/>
        </p:spPr>
        <p:txBody>
          <a:bodyPr wrap="square" lIns="0" tIns="0" rIns="0" bIns="0" rtlCol="0" anchor="ctr"/>
          <a:lstStyle/>
          <a:p>
            <a:pPr indent="0" marL="0">
              <a:buNone/>
            </a:pPr>
            <a:r>
              <a:rPr lang="en-US" sz="1600" b="1" dirty="0">
                <a:solidFill>
                  <a:srgbClr val="00D4AA"/>
                </a:solidFill>
                <a:latin typeface="Calibri" pitchFamily="34" charset="0"/>
                <a:ea typeface="Calibri" pitchFamily="34" charset="-122"/>
                <a:cs typeface="Calibri" pitchFamily="34" charset="-120"/>
              </a:rPr>
              <a:t>5</a:t>
            </a:r>
            <a:endParaRPr lang="en-US" sz="1600" dirty="0"/>
          </a:p>
        </p:txBody>
      </p:sp>
      <p:sp>
        <p:nvSpPr>
          <p:cNvPr id="23" name="Text 21"/>
          <p:cNvSpPr/>
          <p:nvPr/>
        </p:nvSpPr>
        <p:spPr>
          <a:xfrm>
            <a:off x="841248" y="2368296"/>
            <a:ext cx="2194560" cy="237744"/>
          </a:xfrm>
          <a:prstGeom prst="rect">
            <a:avLst/>
          </a:prstGeom>
          <a:noFill/>
          <a:ln/>
        </p:spPr>
        <p:txBody>
          <a:bodyPr wrap="square" lIns="0" tIns="0" rIns="0" bIns="0" rtlCol="0" anchor="ctr"/>
          <a:lstStyle/>
          <a:p>
            <a:pPr indent="0" marL="0">
              <a:buNone/>
            </a:pPr>
            <a:r>
              <a:rPr lang="en-US" sz="1300" b="1" dirty="0">
                <a:solidFill>
                  <a:srgbClr val="F4F0E8"/>
                </a:solidFill>
                <a:latin typeface="Calibri" pitchFamily="34" charset="0"/>
                <a:ea typeface="Calibri" pitchFamily="34" charset="-122"/>
                <a:cs typeface="Calibri" pitchFamily="34" charset="-120"/>
              </a:rPr>
              <a:t>Orchestrator</a:t>
            </a:r>
            <a:endParaRPr lang="en-US" sz="1300" dirty="0"/>
          </a:p>
        </p:txBody>
      </p:sp>
      <p:sp>
        <p:nvSpPr>
          <p:cNvPr id="24" name="Text 22"/>
          <p:cNvSpPr/>
          <p:nvPr/>
        </p:nvSpPr>
        <p:spPr>
          <a:xfrm>
            <a:off x="493776" y="2697480"/>
            <a:ext cx="2560320" cy="731520"/>
          </a:xfrm>
          <a:prstGeom prst="rect">
            <a:avLst/>
          </a:prstGeom>
          <a:noFill/>
          <a:ln/>
        </p:spPr>
        <p:txBody>
          <a:bodyPr wrap="square" lIns="0" tIns="0" rIns="0" bIns="0" rtlCol="0" anchor="ctr"/>
          <a:lstStyle/>
          <a:p>
            <a:pPr indent="0" marL="0">
              <a:buNone/>
            </a:pPr>
            <a:r>
              <a:rPr lang="en-US" sz="1200" dirty="0">
                <a:solidFill>
                  <a:srgbClr val="E8E4DC"/>
                </a:solidFill>
                <a:latin typeface="Calibri" pitchFamily="34" charset="0"/>
                <a:ea typeface="Calibri" pitchFamily="34" charset="-122"/>
                <a:cs typeface="Calibri" pitchFamily="34" charset="-120"/>
              </a:rPr>
              <a:t>Reject beats Escalate. Escalate beats Approve.</a:t>
            </a:r>
            <a:endParaRPr lang="en-US" sz="1200" dirty="0"/>
          </a:p>
        </p:txBody>
      </p:sp>
      <p:sp>
        <p:nvSpPr>
          <p:cNvPr id="25" name="Shape 23"/>
          <p:cNvSpPr/>
          <p:nvPr/>
        </p:nvSpPr>
        <p:spPr>
          <a:xfrm>
            <a:off x="3310128" y="2258568"/>
            <a:ext cx="2788920" cy="1280160"/>
          </a:xfrm>
          <a:prstGeom prst="roundRect">
            <a:avLst>
              <a:gd name="adj" fmla="val 5714"/>
            </a:avLst>
          </a:prstGeom>
          <a:solidFill>
            <a:srgbClr val="142027"/>
          </a:solidFill>
          <a:ln w="12700">
            <a:solidFill>
              <a:srgbClr val="1F3A48"/>
            </a:solidFill>
            <a:prstDash val="solid"/>
          </a:ln>
        </p:spPr>
      </p:sp>
      <p:sp>
        <p:nvSpPr>
          <p:cNvPr id="26" name="Text 24"/>
          <p:cNvSpPr/>
          <p:nvPr/>
        </p:nvSpPr>
        <p:spPr>
          <a:xfrm>
            <a:off x="3419856" y="2350008"/>
            <a:ext cx="365760" cy="256032"/>
          </a:xfrm>
          <a:prstGeom prst="rect">
            <a:avLst/>
          </a:prstGeom>
          <a:noFill/>
          <a:ln/>
        </p:spPr>
        <p:txBody>
          <a:bodyPr wrap="square" lIns="0" tIns="0" rIns="0" bIns="0" rtlCol="0" anchor="ctr"/>
          <a:lstStyle/>
          <a:p>
            <a:pPr indent="0" marL="0">
              <a:buNone/>
            </a:pPr>
            <a:r>
              <a:rPr lang="en-US" sz="1600" b="1" dirty="0">
                <a:solidFill>
                  <a:srgbClr val="00D4AA"/>
                </a:solidFill>
                <a:latin typeface="Calibri" pitchFamily="34" charset="0"/>
                <a:ea typeface="Calibri" pitchFamily="34" charset="-122"/>
                <a:cs typeface="Calibri" pitchFamily="34" charset="-120"/>
              </a:rPr>
              <a:t>6</a:t>
            </a:r>
            <a:endParaRPr lang="en-US" sz="1600" dirty="0"/>
          </a:p>
        </p:txBody>
      </p:sp>
      <p:sp>
        <p:nvSpPr>
          <p:cNvPr id="27" name="Text 25"/>
          <p:cNvSpPr/>
          <p:nvPr/>
        </p:nvSpPr>
        <p:spPr>
          <a:xfrm>
            <a:off x="3767328" y="2368296"/>
            <a:ext cx="2194560" cy="237744"/>
          </a:xfrm>
          <a:prstGeom prst="rect">
            <a:avLst/>
          </a:prstGeom>
          <a:noFill/>
          <a:ln/>
        </p:spPr>
        <p:txBody>
          <a:bodyPr wrap="square" lIns="0" tIns="0" rIns="0" bIns="0" rtlCol="0" anchor="ctr"/>
          <a:lstStyle/>
          <a:p>
            <a:pPr indent="0" marL="0">
              <a:buNone/>
            </a:pPr>
            <a:r>
              <a:rPr lang="en-US" sz="1300" b="1" dirty="0">
                <a:solidFill>
                  <a:srgbClr val="F4F0E8"/>
                </a:solidFill>
                <a:latin typeface="Calibri" pitchFamily="34" charset="0"/>
                <a:ea typeface="Calibri" pitchFamily="34" charset="-122"/>
                <a:cs typeface="Calibri" pitchFamily="34" charset="-120"/>
              </a:rPr>
              <a:t>Guardrail</a:t>
            </a:r>
            <a:endParaRPr lang="en-US" sz="1300" dirty="0"/>
          </a:p>
        </p:txBody>
      </p:sp>
      <p:sp>
        <p:nvSpPr>
          <p:cNvPr id="28" name="Text 26"/>
          <p:cNvSpPr/>
          <p:nvPr/>
        </p:nvSpPr>
        <p:spPr>
          <a:xfrm>
            <a:off x="3419856" y="2697480"/>
            <a:ext cx="2560320" cy="731520"/>
          </a:xfrm>
          <a:prstGeom prst="rect">
            <a:avLst/>
          </a:prstGeom>
          <a:noFill/>
          <a:ln/>
        </p:spPr>
        <p:txBody>
          <a:bodyPr wrap="square" lIns="0" tIns="0" rIns="0" bIns="0" rtlCol="0" anchor="ctr"/>
          <a:lstStyle/>
          <a:p>
            <a:pPr indent="0" marL="0">
              <a:buNone/>
            </a:pPr>
            <a:r>
              <a:rPr lang="en-US" sz="1200" dirty="0">
                <a:solidFill>
                  <a:srgbClr val="E8E4DC"/>
                </a:solidFill>
                <a:latin typeface="Calibri" pitchFamily="34" charset="0"/>
                <a:ea typeface="Calibri" pitchFamily="34" charset="-122"/>
                <a:cs typeface="Calibri" pitchFamily="34" charset="-120"/>
              </a:rPr>
              <a:t>A note cannot force Approve. No citation forces a hold.</a:t>
            </a:r>
            <a:endParaRPr lang="en-US" sz="1200" dirty="0"/>
          </a:p>
        </p:txBody>
      </p:sp>
      <p:sp>
        <p:nvSpPr>
          <p:cNvPr id="29" name="Shape 27"/>
          <p:cNvSpPr/>
          <p:nvPr/>
        </p:nvSpPr>
        <p:spPr>
          <a:xfrm>
            <a:off x="6236208" y="2258568"/>
            <a:ext cx="2788920" cy="1280160"/>
          </a:xfrm>
          <a:prstGeom prst="roundRect">
            <a:avLst>
              <a:gd name="adj" fmla="val 5714"/>
            </a:avLst>
          </a:prstGeom>
          <a:solidFill>
            <a:srgbClr val="142027"/>
          </a:solidFill>
          <a:ln w="12700">
            <a:solidFill>
              <a:srgbClr val="1F3A48"/>
            </a:solidFill>
            <a:prstDash val="solid"/>
          </a:ln>
        </p:spPr>
      </p:sp>
      <p:sp>
        <p:nvSpPr>
          <p:cNvPr id="30" name="Text 28"/>
          <p:cNvSpPr/>
          <p:nvPr/>
        </p:nvSpPr>
        <p:spPr>
          <a:xfrm>
            <a:off x="6345936" y="2350008"/>
            <a:ext cx="365760" cy="256032"/>
          </a:xfrm>
          <a:prstGeom prst="rect">
            <a:avLst/>
          </a:prstGeom>
          <a:noFill/>
          <a:ln/>
        </p:spPr>
        <p:txBody>
          <a:bodyPr wrap="square" lIns="0" tIns="0" rIns="0" bIns="0" rtlCol="0" anchor="ctr"/>
          <a:lstStyle/>
          <a:p>
            <a:pPr indent="0" marL="0">
              <a:buNone/>
            </a:pPr>
            <a:r>
              <a:rPr lang="en-US" sz="1600" b="1" dirty="0">
                <a:solidFill>
                  <a:srgbClr val="00D4AA"/>
                </a:solidFill>
                <a:latin typeface="Calibri" pitchFamily="34" charset="0"/>
                <a:ea typeface="Calibri" pitchFamily="34" charset="-122"/>
                <a:cs typeface="Calibri" pitchFamily="34" charset="-120"/>
              </a:rPr>
              <a:t>7</a:t>
            </a:r>
            <a:endParaRPr lang="en-US" sz="1600" dirty="0"/>
          </a:p>
        </p:txBody>
      </p:sp>
      <p:sp>
        <p:nvSpPr>
          <p:cNvPr id="31" name="Text 29"/>
          <p:cNvSpPr/>
          <p:nvPr/>
        </p:nvSpPr>
        <p:spPr>
          <a:xfrm>
            <a:off x="6693408" y="2368296"/>
            <a:ext cx="2194560" cy="237744"/>
          </a:xfrm>
          <a:prstGeom prst="rect">
            <a:avLst/>
          </a:prstGeom>
          <a:noFill/>
          <a:ln/>
        </p:spPr>
        <p:txBody>
          <a:bodyPr wrap="square" lIns="0" tIns="0" rIns="0" bIns="0" rtlCol="0" anchor="ctr"/>
          <a:lstStyle/>
          <a:p>
            <a:pPr indent="0" marL="0">
              <a:buNone/>
            </a:pPr>
            <a:r>
              <a:rPr lang="en-US" sz="1300" b="1" dirty="0">
                <a:solidFill>
                  <a:srgbClr val="F4F0E8"/>
                </a:solidFill>
                <a:latin typeface="Calibri" pitchFamily="34" charset="0"/>
                <a:ea typeface="Calibri" pitchFamily="34" charset="-122"/>
                <a:cs typeface="Calibri" pitchFamily="34" charset="-120"/>
              </a:rPr>
              <a:t>Write-back</a:t>
            </a:r>
            <a:endParaRPr lang="en-US" sz="1300" dirty="0"/>
          </a:p>
        </p:txBody>
      </p:sp>
      <p:sp>
        <p:nvSpPr>
          <p:cNvPr id="32" name="Text 30"/>
          <p:cNvSpPr/>
          <p:nvPr/>
        </p:nvSpPr>
        <p:spPr>
          <a:xfrm>
            <a:off x="6345936" y="2697480"/>
            <a:ext cx="2560320" cy="731520"/>
          </a:xfrm>
          <a:prstGeom prst="rect">
            <a:avLst/>
          </a:prstGeom>
          <a:noFill/>
          <a:ln/>
        </p:spPr>
        <p:txBody>
          <a:bodyPr wrap="square" lIns="0" tIns="0" rIns="0" bIns="0" rtlCol="0" anchor="ctr"/>
          <a:lstStyle/>
          <a:p>
            <a:pPr indent="0" marL="0">
              <a:buNone/>
            </a:pPr>
            <a:r>
              <a:rPr lang="en-US" sz="1200" dirty="0">
                <a:solidFill>
                  <a:srgbClr val="E8E4DC"/>
                </a:solidFill>
                <a:latin typeface="Calibri" pitchFamily="34" charset="0"/>
                <a:ea typeface="Calibri" pitchFamily="34" charset="-122"/>
                <a:cs typeface="Calibri" pitchFamily="34" charset="-120"/>
              </a:rPr>
              <a:t>Approved, or a named person with an SLA.</a:t>
            </a:r>
            <a:endParaRPr lang="en-US" sz="1200" dirty="0"/>
          </a:p>
        </p:txBody>
      </p:sp>
      <p:sp>
        <p:nvSpPr>
          <p:cNvPr id="33" name="Shape 31"/>
          <p:cNvSpPr/>
          <p:nvPr/>
        </p:nvSpPr>
        <p:spPr>
          <a:xfrm>
            <a:off x="384048" y="3794760"/>
            <a:ext cx="11430000" cy="1325880"/>
          </a:xfrm>
          <a:prstGeom prst="roundRect">
            <a:avLst>
              <a:gd name="adj" fmla="val 5517"/>
            </a:avLst>
          </a:prstGeom>
          <a:solidFill>
            <a:srgbClr val="142027"/>
          </a:solidFill>
          <a:ln w="12700">
            <a:solidFill>
              <a:srgbClr val="1F3A48"/>
            </a:solidFill>
            <a:prstDash val="solid"/>
          </a:ln>
        </p:spPr>
      </p:sp>
      <p:sp>
        <p:nvSpPr>
          <p:cNvPr id="34" name="Text 32"/>
          <p:cNvSpPr/>
          <p:nvPr/>
        </p:nvSpPr>
        <p:spPr>
          <a:xfrm>
            <a:off x="530352" y="3886200"/>
            <a:ext cx="7315200" cy="237744"/>
          </a:xfrm>
          <a:prstGeom prst="rect">
            <a:avLst/>
          </a:prstGeom>
          <a:noFill/>
          <a:ln/>
        </p:spPr>
        <p:txBody>
          <a:bodyPr wrap="square" lIns="0" tIns="0" rIns="0" bIns="0" rtlCol="0" anchor="ctr"/>
          <a:lstStyle/>
          <a:p>
            <a:pPr indent="0" marL="0">
              <a:buNone/>
            </a:pPr>
            <a:r>
              <a:rPr lang="en-US" sz="1200" b="1" dirty="0">
                <a:solidFill>
                  <a:srgbClr val="00D4AA"/>
                </a:solidFill>
                <a:latin typeface="Calibri" pitchFamily="34" charset="0"/>
                <a:ea typeface="Calibri" pitchFamily="34" charset="-122"/>
                <a:cs typeface="Calibri" pitchFamily="34" charset="-120"/>
              </a:rPr>
              <a:t>EXAMPLES FROM THE LIVE FLOW TAB</a:t>
            </a:r>
            <a:endParaRPr lang="en-US" sz="1200" dirty="0"/>
          </a:p>
        </p:txBody>
      </p:sp>
      <p:sp>
        <p:nvSpPr>
          <p:cNvPr id="35" name="Text 33"/>
          <p:cNvSpPr/>
          <p:nvPr/>
        </p:nvSpPr>
        <p:spPr>
          <a:xfrm>
            <a:off x="530352" y="4160520"/>
            <a:ext cx="11109960" cy="822960"/>
          </a:xfrm>
          <a:prstGeom prst="rect">
            <a:avLst/>
          </a:prstGeom>
          <a:noFill/>
          <a:ln/>
        </p:spPr>
        <p:txBody>
          <a:bodyPr wrap="square" lIns="0" tIns="0" rIns="0" bIns="0" rtlCol="0" anchor="ctr"/>
          <a:lstStyle/>
          <a:p>
            <a:pPr indent="0" marL="0">
              <a:buNone/>
            </a:pPr>
            <a:r>
              <a:rPr lang="en-US" sz="1300" dirty="0">
                <a:solidFill>
                  <a:srgbClr val="E8E4DC"/>
                </a:solidFill>
                <a:latin typeface="Calibri" pitchFamily="34" charset="0"/>
                <a:ea typeface="Calibri" pitchFamily="34" charset="-122"/>
                <a:cs typeface="Calibri" pitchFamily="34" charset="-120"/>
              </a:rPr>
              <a:t>Northwind (clean) → Approved 89%, seller sends. Harbor (discount approves at 88%, payment escalates at 32%) → stricter label wins, assigned Finance, 24h. Kite &amp; Harbor (notes demand Approve) → Reject 16%, assigned VP Sales + VP Finance, 24h. The note is evidence, not an instruction.</a:t>
            </a:r>
            <a:endParaRPr lang="en-US" sz="1300" dirty="0"/>
          </a:p>
        </p:txBody>
      </p:sp>
      <p:sp>
        <p:nvSpPr>
          <p:cNvPr id="36" name="Shape 34"/>
          <p:cNvSpPr/>
          <p:nvPr/>
        </p:nvSpPr>
        <p:spPr>
          <a:xfrm>
            <a:off x="384048" y="5257800"/>
            <a:ext cx="11430000" cy="1280160"/>
          </a:xfrm>
          <a:prstGeom prst="roundRect">
            <a:avLst>
              <a:gd name="adj" fmla="val 5714"/>
            </a:avLst>
          </a:prstGeom>
          <a:solidFill>
            <a:srgbClr val="142027"/>
          </a:solidFill>
          <a:ln w="12700">
            <a:solidFill>
              <a:srgbClr val="1F3A48"/>
            </a:solidFill>
            <a:prstDash val="solid"/>
          </a:ln>
        </p:spPr>
      </p:sp>
      <p:sp>
        <p:nvSpPr>
          <p:cNvPr id="37" name="Text 35"/>
          <p:cNvSpPr/>
          <p:nvPr/>
        </p:nvSpPr>
        <p:spPr>
          <a:xfrm>
            <a:off x="530352" y="5349240"/>
            <a:ext cx="7315200" cy="237744"/>
          </a:xfrm>
          <a:prstGeom prst="rect">
            <a:avLst/>
          </a:prstGeom>
          <a:noFill/>
          <a:ln/>
        </p:spPr>
        <p:txBody>
          <a:bodyPr wrap="square" lIns="0" tIns="0" rIns="0" bIns="0" rtlCol="0" anchor="ctr"/>
          <a:lstStyle/>
          <a:p>
            <a:pPr indent="0" marL="0">
              <a:buNone/>
            </a:pPr>
            <a:r>
              <a:rPr lang="en-US" sz="1200" b="1" dirty="0">
                <a:solidFill>
                  <a:srgbClr val="00D4AA"/>
                </a:solidFill>
                <a:latin typeface="Calibri" pitchFamily="34" charset="0"/>
                <a:ea typeface="Calibri" pitchFamily="34" charset="-122"/>
                <a:cs typeface="Calibri" pitchFamily="34" charset="-120"/>
              </a:rPr>
              <a:t>WHAT THE HOP READS AND WRITES</a:t>
            </a:r>
            <a:endParaRPr lang="en-US" sz="1200" dirty="0"/>
          </a:p>
        </p:txBody>
      </p:sp>
      <p:sp>
        <p:nvSpPr>
          <p:cNvPr id="38" name="Text 36"/>
          <p:cNvSpPr/>
          <p:nvPr/>
        </p:nvSpPr>
        <p:spPr>
          <a:xfrm>
            <a:off x="530352" y="5623560"/>
            <a:ext cx="11109960" cy="777240"/>
          </a:xfrm>
          <a:prstGeom prst="rect">
            <a:avLst/>
          </a:prstGeom>
          <a:noFill/>
          <a:ln/>
        </p:spPr>
        <p:txBody>
          <a:bodyPr wrap="square" lIns="0" tIns="0" rIns="0" bIns="0" rtlCol="0" anchor="ctr"/>
          <a:lstStyle/>
          <a:p>
            <a:pPr indent="0" marL="0">
              <a:buNone/>
            </a:pPr>
            <a:r>
              <a:rPr lang="en-US" sz="1300" dirty="0">
                <a:solidFill>
                  <a:srgbClr val="E8E4DC"/>
                </a:solidFill>
                <a:latin typeface="Calibri" pitchFamily="34" charset="0"/>
                <a:ea typeface="Calibri" pitchFamily="34" charset="-122"/>
                <a:cs typeface="Calibri" pitchFamily="34" charset="-120"/>
              </a:rPr>
              <a:t>Reads the live discount book, the cash book, and the commercial file: closed years, peers, receivables. Writes one cited label or one named assignment. Does not write Sent, Signed, or Converted. Structured JSON in. Structured JSON out. English for the MVP. Latency target is p95 under 15 seconds.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E1A24"/>
          </a:solidFill>
          <a:ln/>
        </p:spPr>
      </p:sp>
      <p:sp>
        <p:nvSpPr>
          <p:cNvPr id="3" name="Text 1"/>
          <p:cNvSpPr/>
          <p:nvPr/>
        </p:nvSpPr>
        <p:spPr>
          <a:xfrm>
            <a:off x="384048" y="164592"/>
            <a:ext cx="11338560" cy="310896"/>
          </a:xfrm>
          <a:prstGeom prst="rect">
            <a:avLst/>
          </a:prstGeom>
          <a:noFill/>
          <a:ln/>
        </p:spPr>
        <p:txBody>
          <a:bodyPr wrap="square" lIns="0" tIns="0" rIns="0" bIns="0" rtlCol="0" anchor="ctr"/>
          <a:lstStyle/>
          <a:p>
            <a:pPr indent="0" marL="0">
              <a:buNone/>
            </a:pPr>
            <a:r>
              <a:rPr lang="en-US" sz="2400" b="1" dirty="0">
                <a:solidFill>
                  <a:srgbClr val="F4F0E8"/>
                </a:solidFill>
                <a:latin typeface="Calibri" pitchFamily="34" charset="0"/>
                <a:ea typeface="Calibri" pitchFamily="34" charset="-122"/>
                <a:cs typeface="Calibri" pitchFamily="34" charset="-120"/>
              </a:rPr>
              <a:t>AGENT WORKFLOW AND COLLABORATION</a:t>
            </a:r>
            <a:endParaRPr lang="en-US" sz="2400" dirty="0"/>
          </a:p>
        </p:txBody>
      </p:sp>
      <p:sp>
        <p:nvSpPr>
          <p:cNvPr id="4" name="Text 2"/>
          <p:cNvSpPr/>
          <p:nvPr/>
        </p:nvSpPr>
        <p:spPr>
          <a:xfrm>
            <a:off x="384048" y="475488"/>
            <a:ext cx="11338560" cy="201168"/>
          </a:xfrm>
          <a:prstGeom prst="rect">
            <a:avLst/>
          </a:prstGeom>
          <a:noFill/>
          <a:ln/>
        </p:spPr>
        <p:txBody>
          <a:bodyPr wrap="square" lIns="0" tIns="0" rIns="0" bIns="0" rtlCol="0" anchor="ctr"/>
          <a:lstStyle/>
          <a:p>
            <a:pPr indent="0" marL="0">
              <a:buNone/>
            </a:pPr>
            <a:r>
              <a:rPr lang="en-US" sz="1300" dirty="0">
                <a:solidFill>
                  <a:srgbClr val="D7DBE3"/>
                </a:solidFill>
                <a:latin typeface="Calibri" pitchFamily="34" charset="0"/>
                <a:ea typeface="Calibri" pitchFamily="34" charset="-122"/>
                <a:cs typeface="Calibri" pitchFamily="34" charset="-120"/>
              </a:rPr>
              <a:t>How the three agents share one goal and write one label  ·  DealFlow</a:t>
            </a:r>
            <a:endParaRPr lang="en-US" sz="1300" dirty="0"/>
          </a:p>
        </p:txBody>
      </p:sp>
      <p:sp>
        <p:nvSpPr>
          <p:cNvPr id="5" name="Shape 3"/>
          <p:cNvSpPr/>
          <p:nvPr/>
        </p:nvSpPr>
        <p:spPr>
          <a:xfrm>
            <a:off x="384048" y="822960"/>
            <a:ext cx="5669280" cy="1737360"/>
          </a:xfrm>
          <a:prstGeom prst="roundRect">
            <a:avLst>
              <a:gd name="adj" fmla="val 4211"/>
            </a:avLst>
          </a:prstGeom>
          <a:solidFill>
            <a:srgbClr val="142027"/>
          </a:solidFill>
          <a:ln w="12700">
            <a:solidFill>
              <a:srgbClr val="1F3A48"/>
            </a:solidFill>
            <a:prstDash val="solid"/>
          </a:ln>
        </p:spPr>
      </p:sp>
      <p:sp>
        <p:nvSpPr>
          <p:cNvPr id="6" name="Text 4"/>
          <p:cNvSpPr/>
          <p:nvPr/>
        </p:nvSpPr>
        <p:spPr>
          <a:xfrm>
            <a:off x="530352" y="932688"/>
            <a:ext cx="5349240" cy="237744"/>
          </a:xfrm>
          <a:prstGeom prst="rect">
            <a:avLst/>
          </a:prstGeom>
          <a:noFill/>
          <a:ln/>
        </p:spPr>
        <p:txBody>
          <a:bodyPr wrap="square" lIns="0" tIns="0" rIns="0" bIns="0" rtlCol="0" anchor="ctr"/>
          <a:lstStyle/>
          <a:p>
            <a:pPr indent="0" marL="0">
              <a:buNone/>
            </a:pPr>
            <a:r>
              <a:rPr lang="en-US" sz="1200" b="1" dirty="0">
                <a:solidFill>
                  <a:srgbClr val="00D4AA"/>
                </a:solidFill>
                <a:latin typeface="Calibri" pitchFamily="34" charset="0"/>
                <a:ea typeface="Calibri" pitchFamily="34" charset="-122"/>
                <a:cs typeface="Calibri" pitchFamily="34" charset="-120"/>
              </a:rPr>
              <a:t>PARALLEL SPECIALISTS</a:t>
            </a:r>
            <a:endParaRPr lang="en-US" sz="1200" dirty="0"/>
          </a:p>
        </p:txBody>
      </p:sp>
      <p:sp>
        <p:nvSpPr>
          <p:cNvPr id="7" name="Text 5"/>
          <p:cNvSpPr/>
          <p:nvPr/>
        </p:nvSpPr>
        <p:spPr>
          <a:xfrm>
            <a:off x="530352" y="1225296"/>
            <a:ext cx="5349240" cy="1188720"/>
          </a:xfrm>
          <a:prstGeom prst="rect">
            <a:avLst/>
          </a:prstGeom>
          <a:noFill/>
          <a:ln/>
        </p:spPr>
        <p:txBody>
          <a:bodyPr wrap="square" lIns="0" tIns="0" rIns="0" bIns="0" rtlCol="0" anchor="ctr"/>
          <a:lstStyle/>
          <a:p>
            <a:pPr indent="0" marL="0">
              <a:buNone/>
            </a:pPr>
            <a:r>
              <a:rPr lang="en-US" sz="1300" dirty="0">
                <a:solidFill>
                  <a:srgbClr val="E8E4DC"/>
                </a:solidFill>
                <a:latin typeface="Calibri" pitchFamily="34" charset="0"/>
                <a:ea typeface="Calibri" pitchFamily="34" charset="-122"/>
                <a:cs typeface="Calibri" pitchFamily="34" charset="-120"/>
              </a:rPr>
              <a:t>Discount and Payment run at the same time. Each opens its own book and the commercial file. Neither sees the other’s label until the combine step. Notes are never an input to either specialist.</a:t>
            </a:r>
            <a:endParaRPr lang="en-US" sz="1300" dirty="0"/>
          </a:p>
        </p:txBody>
      </p:sp>
      <p:sp>
        <p:nvSpPr>
          <p:cNvPr id="8" name="Shape 6"/>
          <p:cNvSpPr/>
          <p:nvPr/>
        </p:nvSpPr>
        <p:spPr>
          <a:xfrm>
            <a:off x="6236208" y="822960"/>
            <a:ext cx="5669280" cy="1737360"/>
          </a:xfrm>
          <a:prstGeom prst="roundRect">
            <a:avLst>
              <a:gd name="adj" fmla="val 4211"/>
            </a:avLst>
          </a:prstGeom>
          <a:solidFill>
            <a:srgbClr val="142027"/>
          </a:solidFill>
          <a:ln w="12700">
            <a:solidFill>
              <a:srgbClr val="1F3A48"/>
            </a:solidFill>
            <a:prstDash val="solid"/>
          </a:ln>
        </p:spPr>
      </p:sp>
      <p:sp>
        <p:nvSpPr>
          <p:cNvPr id="9" name="Text 7"/>
          <p:cNvSpPr/>
          <p:nvPr/>
        </p:nvSpPr>
        <p:spPr>
          <a:xfrm>
            <a:off x="6382512" y="932688"/>
            <a:ext cx="5349240" cy="237744"/>
          </a:xfrm>
          <a:prstGeom prst="rect">
            <a:avLst/>
          </a:prstGeom>
          <a:noFill/>
          <a:ln/>
        </p:spPr>
        <p:txBody>
          <a:bodyPr wrap="square" lIns="0" tIns="0" rIns="0" bIns="0" rtlCol="0" anchor="ctr"/>
          <a:lstStyle/>
          <a:p>
            <a:pPr indent="0" marL="0">
              <a:buNone/>
            </a:pPr>
            <a:r>
              <a:rPr lang="en-US" sz="1200" b="1" dirty="0">
                <a:solidFill>
                  <a:srgbClr val="2F6A4F"/>
                </a:solidFill>
                <a:latin typeface="Calibri" pitchFamily="34" charset="0"/>
                <a:ea typeface="Calibri" pitchFamily="34" charset="-122"/>
                <a:cs typeface="Calibri" pitchFamily="34" charset="-120"/>
              </a:rPr>
              <a:t>STRICTER LABEL WINS</a:t>
            </a:r>
            <a:endParaRPr lang="en-US" sz="1200" dirty="0"/>
          </a:p>
        </p:txBody>
      </p:sp>
      <p:sp>
        <p:nvSpPr>
          <p:cNvPr id="10" name="Text 8"/>
          <p:cNvSpPr/>
          <p:nvPr/>
        </p:nvSpPr>
        <p:spPr>
          <a:xfrm>
            <a:off x="6382512" y="1225296"/>
            <a:ext cx="5349240" cy="1188720"/>
          </a:xfrm>
          <a:prstGeom prst="rect">
            <a:avLst/>
          </a:prstGeom>
          <a:noFill/>
          <a:ln/>
        </p:spPr>
        <p:txBody>
          <a:bodyPr wrap="square" lIns="0" tIns="0" rIns="0" bIns="0" rtlCol="0" anchor="ctr"/>
          <a:lstStyle/>
          <a:p>
            <a:pPr indent="0" marL="0">
              <a:buNone/>
            </a:pPr>
            <a:r>
              <a:rPr lang="en-US" sz="1300" dirty="0">
                <a:solidFill>
                  <a:srgbClr val="E8E4DC"/>
                </a:solidFill>
                <a:latin typeface="Calibri" pitchFamily="34" charset="0"/>
                <a:ea typeface="Calibri" pitchFamily="34" charset="-122"/>
                <a:cs typeface="Calibri" pitchFamily="34" charset="-120"/>
              </a:rPr>
              <a:t>Orchestrator waits for both. Reject beats Escalate. Escalate beats Approve. Average confidence is used only when both Approve and clear the threshold. One Approve plus one Escalate is Escalate.</a:t>
            </a:r>
            <a:endParaRPr lang="en-US" sz="1300" dirty="0"/>
          </a:p>
        </p:txBody>
      </p:sp>
      <p:sp>
        <p:nvSpPr>
          <p:cNvPr id="11" name="Shape 9"/>
          <p:cNvSpPr/>
          <p:nvPr/>
        </p:nvSpPr>
        <p:spPr>
          <a:xfrm>
            <a:off x="384048" y="2697480"/>
            <a:ext cx="5669280" cy="1737360"/>
          </a:xfrm>
          <a:prstGeom prst="roundRect">
            <a:avLst>
              <a:gd name="adj" fmla="val 4211"/>
            </a:avLst>
          </a:prstGeom>
          <a:solidFill>
            <a:srgbClr val="142027"/>
          </a:solidFill>
          <a:ln w="12700">
            <a:solidFill>
              <a:srgbClr val="1F3A48"/>
            </a:solidFill>
            <a:prstDash val="solid"/>
          </a:ln>
        </p:spPr>
      </p:sp>
      <p:sp>
        <p:nvSpPr>
          <p:cNvPr id="12" name="Text 10"/>
          <p:cNvSpPr/>
          <p:nvPr/>
        </p:nvSpPr>
        <p:spPr>
          <a:xfrm>
            <a:off x="530352" y="2807208"/>
            <a:ext cx="5349240" cy="237744"/>
          </a:xfrm>
          <a:prstGeom prst="rect">
            <a:avLst/>
          </a:prstGeom>
          <a:noFill/>
          <a:ln/>
        </p:spPr>
        <p:txBody>
          <a:bodyPr wrap="square" lIns="0" tIns="0" rIns="0" bIns="0" rtlCol="0" anchor="ctr"/>
          <a:lstStyle/>
          <a:p>
            <a:pPr indent="0" marL="0">
              <a:buNone/>
            </a:pPr>
            <a:r>
              <a:rPr lang="en-US" sz="1200" b="1" dirty="0">
                <a:solidFill>
                  <a:srgbClr val="1D5C68"/>
                </a:solidFill>
                <a:latin typeface="Calibri" pitchFamily="34" charset="0"/>
                <a:ea typeface="Calibri" pitchFamily="34" charset="-122"/>
                <a:cs typeface="Calibri" pitchFamily="34" charset="-120"/>
              </a:rPr>
              <a:t>ONE WRITE-BACK</a:t>
            </a:r>
            <a:endParaRPr lang="en-US" sz="1200" dirty="0"/>
          </a:p>
        </p:txBody>
      </p:sp>
      <p:sp>
        <p:nvSpPr>
          <p:cNvPr id="13" name="Text 11"/>
          <p:cNvSpPr/>
          <p:nvPr/>
        </p:nvSpPr>
        <p:spPr>
          <a:xfrm>
            <a:off x="530352" y="3099816"/>
            <a:ext cx="5349240" cy="1188720"/>
          </a:xfrm>
          <a:prstGeom prst="rect">
            <a:avLst/>
          </a:prstGeom>
          <a:noFill/>
          <a:ln/>
        </p:spPr>
        <p:txBody>
          <a:bodyPr wrap="square" lIns="0" tIns="0" rIns="0" bIns="0" rtlCol="0" anchor="ctr"/>
          <a:lstStyle/>
          <a:p>
            <a:pPr indent="0" marL="0">
              <a:buNone/>
            </a:pPr>
            <a:r>
              <a:rPr lang="en-US" sz="1300" dirty="0">
                <a:solidFill>
                  <a:srgbClr val="E8E4DC"/>
                </a:solidFill>
                <a:latin typeface="Calibri" pitchFamily="34" charset="0"/>
                <a:ea typeface="Calibri" pitchFamily="34" charset="-122"/>
                <a:cs typeface="Calibri" pitchFamily="34" charset="-120"/>
              </a:rPr>
              <a:t>Orchestrator writes one stage or one named assignment. Approved clears the quote. Escalate names a person, an SLA, and a reason that resolves to a Salesforce or DealHub queue. The seller keeps Sent, Signed, and Converted.</a:t>
            </a:r>
            <a:endParaRPr lang="en-US" sz="1300" dirty="0"/>
          </a:p>
        </p:txBody>
      </p:sp>
      <p:sp>
        <p:nvSpPr>
          <p:cNvPr id="14" name="Shape 12"/>
          <p:cNvSpPr/>
          <p:nvPr/>
        </p:nvSpPr>
        <p:spPr>
          <a:xfrm>
            <a:off x="6236208" y="2697480"/>
            <a:ext cx="5669280" cy="1737360"/>
          </a:xfrm>
          <a:prstGeom prst="roundRect">
            <a:avLst>
              <a:gd name="adj" fmla="val 4211"/>
            </a:avLst>
          </a:prstGeom>
          <a:solidFill>
            <a:srgbClr val="142027"/>
          </a:solidFill>
          <a:ln w="12700">
            <a:solidFill>
              <a:srgbClr val="1F3A48"/>
            </a:solidFill>
            <a:prstDash val="solid"/>
          </a:ln>
        </p:spPr>
      </p:sp>
      <p:sp>
        <p:nvSpPr>
          <p:cNvPr id="15" name="Text 13"/>
          <p:cNvSpPr/>
          <p:nvPr/>
        </p:nvSpPr>
        <p:spPr>
          <a:xfrm>
            <a:off x="6382512" y="2807208"/>
            <a:ext cx="5349240" cy="237744"/>
          </a:xfrm>
          <a:prstGeom prst="rect">
            <a:avLst/>
          </a:prstGeom>
          <a:noFill/>
          <a:ln/>
        </p:spPr>
        <p:txBody>
          <a:bodyPr wrap="square" lIns="0" tIns="0" rIns="0" bIns="0" rtlCol="0" anchor="ctr"/>
          <a:lstStyle/>
          <a:p>
            <a:pPr indent="0" marL="0">
              <a:buNone/>
            </a:pPr>
            <a:r>
              <a:rPr lang="en-US" sz="1200" b="1" dirty="0">
                <a:solidFill>
                  <a:srgbClr val="00D4AA"/>
                </a:solidFill>
                <a:latin typeface="Calibri" pitchFamily="34" charset="0"/>
                <a:ea typeface="Calibri" pitchFamily="34" charset="-122"/>
                <a:cs typeface="Calibri" pitchFamily="34" charset="-120"/>
              </a:rPr>
              <a:t>GUARDRAIL AND OBSERVABILITY</a:t>
            </a:r>
            <a:endParaRPr lang="en-US" sz="1200" dirty="0"/>
          </a:p>
        </p:txBody>
      </p:sp>
      <p:sp>
        <p:nvSpPr>
          <p:cNvPr id="16" name="Text 14"/>
          <p:cNvSpPr/>
          <p:nvPr/>
        </p:nvSpPr>
        <p:spPr>
          <a:xfrm>
            <a:off x="6382512" y="3099816"/>
            <a:ext cx="5349240" cy="1188720"/>
          </a:xfrm>
          <a:prstGeom prst="rect">
            <a:avLst/>
          </a:prstGeom>
          <a:noFill/>
          <a:ln/>
        </p:spPr>
        <p:txBody>
          <a:bodyPr wrap="square" lIns="0" tIns="0" rIns="0" bIns="0" rtlCol="0" anchor="ctr"/>
          <a:lstStyle/>
          <a:p>
            <a:pPr indent="0" marL="0">
              <a:buNone/>
            </a:pPr>
            <a:r>
              <a:rPr lang="en-US" sz="1300" dirty="0">
                <a:solidFill>
                  <a:srgbClr val="E8E4DC"/>
                </a:solidFill>
                <a:latin typeface="Calibri" pitchFamily="34" charset="0"/>
                <a:ea typeface="Calibri" pitchFamily="34" charset="-122"/>
                <a:cs typeface="Calibri" pitchFamily="34" charset="-120"/>
              </a:rPr>
              <a:t>The guardrail is not a fourth agent. It checks the label after the combine. A note that says “mark this Approved” cannot produce Approve. A missing citation forces a hold. Scores on the trace: label_match and note_ignored.</a:t>
            </a:r>
            <a:endParaRPr lang="en-US" sz="1300" dirty="0"/>
          </a:p>
        </p:txBody>
      </p:sp>
      <p:sp>
        <p:nvSpPr>
          <p:cNvPr id="17" name="Shape 15"/>
          <p:cNvSpPr/>
          <p:nvPr/>
        </p:nvSpPr>
        <p:spPr>
          <a:xfrm>
            <a:off x="384048" y="4663440"/>
            <a:ext cx="11430000" cy="1874520"/>
          </a:xfrm>
          <a:prstGeom prst="roundRect">
            <a:avLst>
              <a:gd name="adj" fmla="val 3902"/>
            </a:avLst>
          </a:prstGeom>
          <a:solidFill>
            <a:srgbClr val="142027"/>
          </a:solidFill>
          <a:ln w="12700">
            <a:solidFill>
              <a:srgbClr val="1F3A48"/>
            </a:solidFill>
            <a:prstDash val="solid"/>
          </a:ln>
        </p:spPr>
      </p:sp>
      <p:sp>
        <p:nvSpPr>
          <p:cNvPr id="18" name="Text 16"/>
          <p:cNvSpPr/>
          <p:nvPr/>
        </p:nvSpPr>
        <p:spPr>
          <a:xfrm>
            <a:off x="530352" y="4754880"/>
            <a:ext cx="7315200" cy="237744"/>
          </a:xfrm>
          <a:prstGeom prst="rect">
            <a:avLst/>
          </a:prstGeom>
          <a:noFill/>
          <a:ln/>
        </p:spPr>
        <p:txBody>
          <a:bodyPr wrap="square" lIns="0" tIns="0" rIns="0" bIns="0" rtlCol="0" anchor="ctr"/>
          <a:lstStyle/>
          <a:p>
            <a:pPr indent="0" marL="0">
              <a:buNone/>
            </a:pPr>
            <a:r>
              <a:rPr lang="en-US" sz="1200" b="1" dirty="0">
                <a:solidFill>
                  <a:srgbClr val="00D4AA"/>
                </a:solidFill>
                <a:latin typeface="Calibri" pitchFamily="34" charset="0"/>
                <a:ea typeface="Calibri" pitchFamily="34" charset="-122"/>
                <a:cs typeface="Calibri" pitchFamily="34" charset="-120"/>
              </a:rPr>
              <a:t>WHAT COLLABORATION IS NOT</a:t>
            </a:r>
            <a:endParaRPr lang="en-US" sz="1200" dirty="0"/>
          </a:p>
        </p:txBody>
      </p:sp>
      <p:sp>
        <p:nvSpPr>
          <p:cNvPr id="19" name="Text 17"/>
          <p:cNvSpPr/>
          <p:nvPr/>
        </p:nvSpPr>
        <p:spPr>
          <a:xfrm>
            <a:off x="530352" y="5029200"/>
            <a:ext cx="11109960" cy="1325880"/>
          </a:xfrm>
          <a:prstGeom prst="rect">
            <a:avLst/>
          </a:prstGeom>
          <a:noFill/>
          <a:ln/>
        </p:spPr>
        <p:txBody>
          <a:bodyPr wrap="square" lIns="0" tIns="0" rIns="0" bIns="0" rtlCol="0" anchor="ctr"/>
          <a:lstStyle/>
          <a:p>
            <a:pPr indent="0" marL="0">
              <a:buNone/>
            </a:pPr>
            <a:r>
              <a:rPr lang="en-US" sz="1300" dirty="0">
                <a:solidFill>
                  <a:srgbClr val="E8E4DC"/>
                </a:solidFill>
                <a:latin typeface="Calibri" pitchFamily="34" charset="0"/>
                <a:ea typeface="Calibri" pitchFamily="34" charset="-122"/>
                <a:cs typeface="Calibri" pitchFamily="34" charset="-120"/>
              </a:rPr>
              <a:t>Not a shared chat. Not a longer prompt. The specialists do not see each other’s reasoning until the orchestrator combines them. The guardrail is the last check, not another opinion. One label is written. The CPQ stays the system of record. Patterns: pipeline, routing, parallelisation, tool use, multi-agent. Persistent context across sessions is not needed. A single run is enough.</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E1A24"/>
          </a:solidFill>
          <a:ln/>
        </p:spPr>
      </p:sp>
      <p:sp>
        <p:nvSpPr>
          <p:cNvPr id="3" name="Text 1"/>
          <p:cNvSpPr/>
          <p:nvPr/>
        </p:nvSpPr>
        <p:spPr>
          <a:xfrm>
            <a:off x="384048" y="164592"/>
            <a:ext cx="11338560" cy="310896"/>
          </a:xfrm>
          <a:prstGeom prst="rect">
            <a:avLst/>
          </a:prstGeom>
          <a:noFill/>
          <a:ln/>
        </p:spPr>
        <p:txBody>
          <a:bodyPr wrap="square" lIns="0" tIns="0" rIns="0" bIns="0" rtlCol="0" anchor="ctr"/>
          <a:lstStyle/>
          <a:p>
            <a:pPr indent="0" marL="0">
              <a:buNone/>
            </a:pPr>
            <a:r>
              <a:rPr lang="en-US" sz="2400" b="1" dirty="0">
                <a:solidFill>
                  <a:srgbClr val="F4F0E8"/>
                </a:solidFill>
                <a:latin typeface="Calibri" pitchFamily="34" charset="0"/>
                <a:ea typeface="Calibri" pitchFamily="34" charset="-122"/>
                <a:cs typeface="Calibri" pitchFamily="34" charset="-120"/>
              </a:rPr>
              <a:t>TECH ARCHITECTURE FLOW</a:t>
            </a:r>
            <a:endParaRPr lang="en-US" sz="2400" dirty="0"/>
          </a:p>
        </p:txBody>
      </p:sp>
      <p:sp>
        <p:nvSpPr>
          <p:cNvPr id="4" name="Text 2"/>
          <p:cNvSpPr/>
          <p:nvPr/>
        </p:nvSpPr>
        <p:spPr>
          <a:xfrm>
            <a:off x="384048" y="475488"/>
            <a:ext cx="11338560" cy="201168"/>
          </a:xfrm>
          <a:prstGeom prst="rect">
            <a:avLst/>
          </a:prstGeom>
          <a:noFill/>
          <a:ln/>
        </p:spPr>
        <p:txBody>
          <a:bodyPr wrap="square" lIns="0" tIns="0" rIns="0" bIns="0" rtlCol="0" anchor="ctr"/>
          <a:lstStyle/>
          <a:p>
            <a:pPr indent="0" marL="0">
              <a:buNone/>
            </a:pPr>
            <a:r>
              <a:rPr lang="en-US" sz="1300" dirty="0">
                <a:solidFill>
                  <a:srgbClr val="D7DBE3"/>
                </a:solidFill>
                <a:latin typeface="Calibri" pitchFamily="34" charset="0"/>
                <a:ea typeface="Calibri" pitchFamily="34" charset="-122"/>
                <a:cs typeface="Calibri" pitchFamily="34" charset="-120"/>
              </a:rPr>
              <a:t>A sidecar the CPQ can call  ·  DealFlow Approval Agents</a:t>
            </a:r>
            <a:endParaRPr lang="en-US" sz="1300" dirty="0"/>
          </a:p>
        </p:txBody>
      </p:sp>
      <p:sp>
        <p:nvSpPr>
          <p:cNvPr id="5" name="Shape 3"/>
          <p:cNvSpPr/>
          <p:nvPr/>
        </p:nvSpPr>
        <p:spPr>
          <a:xfrm>
            <a:off x="384048" y="822960"/>
            <a:ext cx="3703320" cy="1828800"/>
          </a:xfrm>
          <a:prstGeom prst="roundRect">
            <a:avLst>
              <a:gd name="adj" fmla="val 4000"/>
            </a:avLst>
          </a:prstGeom>
          <a:solidFill>
            <a:srgbClr val="142027"/>
          </a:solidFill>
          <a:ln w="12700">
            <a:solidFill>
              <a:srgbClr val="1F3A48"/>
            </a:solidFill>
            <a:prstDash val="solid"/>
          </a:ln>
        </p:spPr>
      </p:sp>
      <p:sp>
        <p:nvSpPr>
          <p:cNvPr id="6" name="Text 4"/>
          <p:cNvSpPr/>
          <p:nvPr/>
        </p:nvSpPr>
        <p:spPr>
          <a:xfrm>
            <a:off x="512064" y="932688"/>
            <a:ext cx="3429000" cy="237744"/>
          </a:xfrm>
          <a:prstGeom prst="rect">
            <a:avLst/>
          </a:prstGeom>
          <a:noFill/>
          <a:ln/>
        </p:spPr>
        <p:txBody>
          <a:bodyPr wrap="square" lIns="0" tIns="0" rIns="0" bIns="0" rtlCol="0" anchor="ctr"/>
          <a:lstStyle/>
          <a:p>
            <a:pPr indent="0" marL="0">
              <a:buNone/>
            </a:pPr>
            <a:r>
              <a:rPr lang="en-US" sz="1200" b="1" dirty="0">
                <a:solidFill>
                  <a:srgbClr val="00D4AA"/>
                </a:solidFill>
                <a:latin typeface="Calibri" pitchFamily="34" charset="0"/>
                <a:ea typeface="Calibri" pitchFamily="34" charset="-122"/>
                <a:cs typeface="Calibri" pitchFamily="34" charset="-120"/>
              </a:rPr>
              <a:t>1  ·  SELLER UI</a:t>
            </a:r>
            <a:endParaRPr lang="en-US" sz="1200" dirty="0"/>
          </a:p>
        </p:txBody>
      </p:sp>
      <p:sp>
        <p:nvSpPr>
          <p:cNvPr id="7" name="Text 5"/>
          <p:cNvSpPr/>
          <p:nvPr/>
        </p:nvSpPr>
        <p:spPr>
          <a:xfrm>
            <a:off x="512064" y="1225296"/>
            <a:ext cx="3429000" cy="1280160"/>
          </a:xfrm>
          <a:prstGeom prst="rect">
            <a:avLst/>
          </a:prstGeom>
          <a:noFill/>
          <a:ln/>
        </p:spPr>
        <p:txBody>
          <a:bodyPr wrap="square" lIns="0" tIns="0" rIns="0" bIns="0" rtlCol="0" anchor="ctr"/>
          <a:lstStyle/>
          <a:p>
            <a:pPr indent="0" marL="0">
              <a:buNone/>
            </a:pPr>
            <a:r>
              <a:rPr lang="en-US" sz="1200" dirty="0">
                <a:solidFill>
                  <a:srgbClr val="E8E4DC"/>
                </a:solidFill>
                <a:latin typeface="Calibri" pitchFamily="34" charset="0"/>
                <a:ea typeface="Calibri" pitchFamily="34" charset="-122"/>
                <a:cs typeface="Calibri" pitchFamily="34" charset="-120"/>
              </a:rPr>
              <a:t>React console. Quotes tab. Jordan Lee hits Submit for approval. The stage is still Draft. No agent has started.</a:t>
            </a:r>
            <a:endParaRPr lang="en-US" sz="1200" dirty="0"/>
          </a:p>
        </p:txBody>
      </p:sp>
      <p:sp>
        <p:nvSpPr>
          <p:cNvPr id="8" name="Shape 6"/>
          <p:cNvSpPr/>
          <p:nvPr/>
        </p:nvSpPr>
        <p:spPr>
          <a:xfrm>
            <a:off x="4270248" y="822960"/>
            <a:ext cx="3703320" cy="1828800"/>
          </a:xfrm>
          <a:prstGeom prst="roundRect">
            <a:avLst>
              <a:gd name="adj" fmla="val 4000"/>
            </a:avLst>
          </a:prstGeom>
          <a:solidFill>
            <a:srgbClr val="142027"/>
          </a:solidFill>
          <a:ln w="12700">
            <a:solidFill>
              <a:srgbClr val="1F3A48"/>
            </a:solidFill>
            <a:prstDash val="solid"/>
          </a:ln>
        </p:spPr>
      </p:sp>
      <p:sp>
        <p:nvSpPr>
          <p:cNvPr id="9" name="Text 7"/>
          <p:cNvSpPr/>
          <p:nvPr/>
        </p:nvSpPr>
        <p:spPr>
          <a:xfrm>
            <a:off x="4398264" y="932688"/>
            <a:ext cx="3429000" cy="237744"/>
          </a:xfrm>
          <a:prstGeom prst="rect">
            <a:avLst/>
          </a:prstGeom>
          <a:noFill/>
          <a:ln/>
        </p:spPr>
        <p:txBody>
          <a:bodyPr wrap="square" lIns="0" tIns="0" rIns="0" bIns="0" rtlCol="0" anchor="ctr"/>
          <a:lstStyle/>
          <a:p>
            <a:pPr indent="0" marL="0">
              <a:buNone/>
            </a:pPr>
            <a:r>
              <a:rPr lang="en-US" sz="1200" b="1" dirty="0">
                <a:solidFill>
                  <a:srgbClr val="00D4AA"/>
                </a:solidFill>
                <a:latin typeface="Calibri" pitchFamily="34" charset="0"/>
                <a:ea typeface="Calibri" pitchFamily="34" charset="-122"/>
                <a:cs typeface="Calibri" pitchFamily="34" charset="-120"/>
              </a:rPr>
              <a:t>2  ·  HOP API</a:t>
            </a:r>
            <a:endParaRPr lang="en-US" sz="1200" dirty="0"/>
          </a:p>
        </p:txBody>
      </p:sp>
      <p:sp>
        <p:nvSpPr>
          <p:cNvPr id="10" name="Text 8"/>
          <p:cNvSpPr/>
          <p:nvPr/>
        </p:nvSpPr>
        <p:spPr>
          <a:xfrm>
            <a:off x="4398264" y="1225296"/>
            <a:ext cx="3429000" cy="1280160"/>
          </a:xfrm>
          <a:prstGeom prst="rect">
            <a:avLst/>
          </a:prstGeom>
          <a:noFill/>
          <a:ln/>
        </p:spPr>
        <p:txBody>
          <a:bodyPr wrap="square" lIns="0" tIns="0" rIns="0" bIns="0" rtlCol="0" anchor="ctr"/>
          <a:lstStyle/>
          <a:p>
            <a:pPr indent="0" marL="0">
              <a:buNone/>
            </a:pPr>
            <a:r>
              <a:rPr lang="en-US" sz="1200" dirty="0">
                <a:solidFill>
                  <a:srgbClr val="E8E4DC"/>
                </a:solidFill>
                <a:latin typeface="Calibri" pitchFamily="34" charset="0"/>
                <a:ea typeface="Calibri" pitchFamily="34" charset="-122"/>
                <a:cs typeface="Calibri" pitchFamily="34" charset="-120"/>
              </a:rPr>
              <a:t>POST /hop on port 8091. GET /health for the probe. Structured JSON in. The quote is a closed extract in the shape a Salesforce CPQ webhook would send.</a:t>
            </a:r>
            <a:endParaRPr lang="en-US" sz="1200" dirty="0"/>
          </a:p>
        </p:txBody>
      </p:sp>
      <p:sp>
        <p:nvSpPr>
          <p:cNvPr id="11" name="Shape 9"/>
          <p:cNvSpPr/>
          <p:nvPr/>
        </p:nvSpPr>
        <p:spPr>
          <a:xfrm>
            <a:off x="8156448" y="822960"/>
            <a:ext cx="3703320" cy="1828800"/>
          </a:xfrm>
          <a:prstGeom prst="roundRect">
            <a:avLst>
              <a:gd name="adj" fmla="val 4000"/>
            </a:avLst>
          </a:prstGeom>
          <a:solidFill>
            <a:srgbClr val="142027"/>
          </a:solidFill>
          <a:ln w="12700">
            <a:solidFill>
              <a:srgbClr val="1F3A48"/>
            </a:solidFill>
            <a:prstDash val="solid"/>
          </a:ln>
        </p:spPr>
      </p:sp>
      <p:sp>
        <p:nvSpPr>
          <p:cNvPr id="12" name="Text 10"/>
          <p:cNvSpPr/>
          <p:nvPr/>
        </p:nvSpPr>
        <p:spPr>
          <a:xfrm>
            <a:off x="8284464" y="932688"/>
            <a:ext cx="3429000" cy="237744"/>
          </a:xfrm>
          <a:prstGeom prst="rect">
            <a:avLst/>
          </a:prstGeom>
          <a:noFill/>
          <a:ln/>
        </p:spPr>
        <p:txBody>
          <a:bodyPr wrap="square" lIns="0" tIns="0" rIns="0" bIns="0" rtlCol="0" anchor="ctr"/>
          <a:lstStyle/>
          <a:p>
            <a:pPr indent="0" marL="0">
              <a:buNone/>
            </a:pPr>
            <a:r>
              <a:rPr lang="en-US" sz="1200" b="1" dirty="0">
                <a:solidFill>
                  <a:srgbClr val="00D4AA"/>
                </a:solidFill>
                <a:latin typeface="Calibri" pitchFamily="34" charset="0"/>
                <a:ea typeface="Calibri" pitchFamily="34" charset="-122"/>
                <a:cs typeface="Calibri" pitchFamily="34" charset="-120"/>
              </a:rPr>
              <a:t>3  ·  LANGGRAPH</a:t>
            </a:r>
            <a:endParaRPr lang="en-US" sz="1200" dirty="0"/>
          </a:p>
        </p:txBody>
      </p:sp>
      <p:sp>
        <p:nvSpPr>
          <p:cNvPr id="13" name="Text 11"/>
          <p:cNvSpPr/>
          <p:nvPr/>
        </p:nvSpPr>
        <p:spPr>
          <a:xfrm>
            <a:off x="8284464" y="1225296"/>
            <a:ext cx="3429000" cy="1280160"/>
          </a:xfrm>
          <a:prstGeom prst="rect">
            <a:avLst/>
          </a:prstGeom>
          <a:noFill/>
          <a:ln/>
        </p:spPr>
        <p:txBody>
          <a:bodyPr wrap="square" lIns="0" tIns="0" rIns="0" bIns="0" rtlCol="0" anchor="ctr"/>
          <a:lstStyle/>
          <a:p>
            <a:pPr indent="0" marL="0">
              <a:buNone/>
            </a:pPr>
            <a:r>
              <a:rPr lang="en-US" sz="1200" dirty="0">
                <a:solidFill>
                  <a:srgbClr val="E8E4DC"/>
                </a:solidFill>
                <a:latin typeface="Calibri" pitchFamily="34" charset="0"/>
                <a:ea typeface="Calibri" pitchFamily="34" charset="-122"/>
                <a:cs typeface="Calibri" pitchFamily="34" charset="-120"/>
              </a:rPr>
              <a:t>StateGraph compiles the crew. Orchestrator plans. Discount and Payment run in parallel. Pydantic checks each node. Combine keeps the stricter label.</a:t>
            </a:r>
            <a:endParaRPr lang="en-US" sz="1200" dirty="0"/>
          </a:p>
        </p:txBody>
      </p:sp>
      <p:sp>
        <p:nvSpPr>
          <p:cNvPr id="14" name="Shape 12"/>
          <p:cNvSpPr/>
          <p:nvPr/>
        </p:nvSpPr>
        <p:spPr>
          <a:xfrm>
            <a:off x="384048" y="2788920"/>
            <a:ext cx="3703320" cy="1828800"/>
          </a:xfrm>
          <a:prstGeom prst="roundRect">
            <a:avLst>
              <a:gd name="adj" fmla="val 4000"/>
            </a:avLst>
          </a:prstGeom>
          <a:solidFill>
            <a:srgbClr val="142027"/>
          </a:solidFill>
          <a:ln w="12700">
            <a:solidFill>
              <a:srgbClr val="1F3A48"/>
            </a:solidFill>
            <a:prstDash val="solid"/>
          </a:ln>
        </p:spPr>
      </p:sp>
      <p:sp>
        <p:nvSpPr>
          <p:cNvPr id="15" name="Text 13"/>
          <p:cNvSpPr/>
          <p:nvPr/>
        </p:nvSpPr>
        <p:spPr>
          <a:xfrm>
            <a:off x="512064" y="2898648"/>
            <a:ext cx="3429000" cy="237744"/>
          </a:xfrm>
          <a:prstGeom prst="rect">
            <a:avLst/>
          </a:prstGeom>
          <a:noFill/>
          <a:ln/>
        </p:spPr>
        <p:txBody>
          <a:bodyPr wrap="square" lIns="0" tIns="0" rIns="0" bIns="0" rtlCol="0" anchor="ctr"/>
          <a:lstStyle/>
          <a:p>
            <a:pPr indent="0" marL="0">
              <a:buNone/>
            </a:pPr>
            <a:r>
              <a:rPr lang="en-US" sz="1200" b="1" dirty="0">
                <a:solidFill>
                  <a:srgbClr val="00D4AA"/>
                </a:solidFill>
                <a:latin typeface="Calibri" pitchFamily="34" charset="0"/>
                <a:ea typeface="Calibri" pitchFamily="34" charset="-122"/>
                <a:cs typeface="Calibri" pitchFamily="34" charset="-120"/>
              </a:rPr>
              <a:t>4  ·  GUARDRAIL</a:t>
            </a:r>
            <a:endParaRPr lang="en-US" sz="1200" dirty="0"/>
          </a:p>
        </p:txBody>
      </p:sp>
      <p:sp>
        <p:nvSpPr>
          <p:cNvPr id="16" name="Text 14"/>
          <p:cNvSpPr/>
          <p:nvPr/>
        </p:nvSpPr>
        <p:spPr>
          <a:xfrm>
            <a:off x="512064" y="3191256"/>
            <a:ext cx="3429000" cy="1280160"/>
          </a:xfrm>
          <a:prstGeom prst="rect">
            <a:avLst/>
          </a:prstGeom>
          <a:noFill/>
          <a:ln/>
        </p:spPr>
        <p:txBody>
          <a:bodyPr wrap="square" lIns="0" tIns="0" rIns="0" bIns="0" rtlCol="0" anchor="ctr"/>
          <a:lstStyle/>
          <a:p>
            <a:pPr indent="0" marL="0">
              <a:buNone/>
            </a:pPr>
            <a:r>
              <a:rPr lang="en-US" sz="1200" dirty="0">
                <a:solidFill>
                  <a:srgbClr val="E8E4DC"/>
                </a:solidFill>
                <a:latin typeface="Calibri" pitchFamily="34" charset="0"/>
                <a:ea typeface="Calibri" pitchFamily="34" charset="-122"/>
                <a:cs typeface="Calibri" pitchFamily="34" charset="-120"/>
              </a:rPr>
              <a:t>Output check after the combine. A note cannot force Approve. No citation forces a hold. Agents cannot write Sent, Signed, or Converted.</a:t>
            </a:r>
            <a:endParaRPr lang="en-US" sz="1200" dirty="0"/>
          </a:p>
        </p:txBody>
      </p:sp>
      <p:sp>
        <p:nvSpPr>
          <p:cNvPr id="17" name="Shape 15"/>
          <p:cNvSpPr/>
          <p:nvPr/>
        </p:nvSpPr>
        <p:spPr>
          <a:xfrm>
            <a:off x="4270248" y="2788920"/>
            <a:ext cx="3703320" cy="1828800"/>
          </a:xfrm>
          <a:prstGeom prst="roundRect">
            <a:avLst>
              <a:gd name="adj" fmla="val 4000"/>
            </a:avLst>
          </a:prstGeom>
          <a:solidFill>
            <a:srgbClr val="142027"/>
          </a:solidFill>
          <a:ln w="12700">
            <a:solidFill>
              <a:srgbClr val="1F3A48"/>
            </a:solidFill>
            <a:prstDash val="solid"/>
          </a:ln>
        </p:spPr>
      </p:sp>
      <p:sp>
        <p:nvSpPr>
          <p:cNvPr id="18" name="Text 16"/>
          <p:cNvSpPr/>
          <p:nvPr/>
        </p:nvSpPr>
        <p:spPr>
          <a:xfrm>
            <a:off x="4398264" y="2898648"/>
            <a:ext cx="3429000" cy="237744"/>
          </a:xfrm>
          <a:prstGeom prst="rect">
            <a:avLst/>
          </a:prstGeom>
          <a:noFill/>
          <a:ln/>
        </p:spPr>
        <p:txBody>
          <a:bodyPr wrap="square" lIns="0" tIns="0" rIns="0" bIns="0" rtlCol="0" anchor="ctr"/>
          <a:lstStyle/>
          <a:p>
            <a:pPr indent="0" marL="0">
              <a:buNone/>
            </a:pPr>
            <a:r>
              <a:rPr lang="en-US" sz="1200" b="1" dirty="0">
                <a:solidFill>
                  <a:srgbClr val="00D4AA"/>
                </a:solidFill>
                <a:latin typeface="Calibri" pitchFamily="34" charset="0"/>
                <a:ea typeface="Calibri" pitchFamily="34" charset="-122"/>
                <a:cs typeface="Calibri" pitchFamily="34" charset="-120"/>
              </a:rPr>
              <a:t>5  ·  WRITE-BACK</a:t>
            </a:r>
            <a:endParaRPr lang="en-US" sz="1200" dirty="0"/>
          </a:p>
        </p:txBody>
      </p:sp>
      <p:sp>
        <p:nvSpPr>
          <p:cNvPr id="19" name="Text 17"/>
          <p:cNvSpPr/>
          <p:nvPr/>
        </p:nvSpPr>
        <p:spPr>
          <a:xfrm>
            <a:off x="4398264" y="3191256"/>
            <a:ext cx="3429000" cy="1280160"/>
          </a:xfrm>
          <a:prstGeom prst="rect">
            <a:avLst/>
          </a:prstGeom>
          <a:noFill/>
          <a:ln/>
        </p:spPr>
        <p:txBody>
          <a:bodyPr wrap="square" lIns="0" tIns="0" rIns="0" bIns="0" rtlCol="0" anchor="ctr"/>
          <a:lstStyle/>
          <a:p>
            <a:pPr indent="0" marL="0">
              <a:buNone/>
            </a:pPr>
            <a:r>
              <a:rPr lang="en-US" sz="1200" dirty="0">
                <a:solidFill>
                  <a:srgbClr val="E8E4DC"/>
                </a:solidFill>
                <a:latin typeface="Calibri" pitchFamily="34" charset="0"/>
                <a:ea typeface="Calibri" pitchFamily="34" charset="-122"/>
                <a:cs typeface="Calibri" pitchFamily="34" charset="-120"/>
              </a:rPr>
              <a:t>One stage, or a named assignment with an SLA. Resolves to SFDC:Finance or a DealHub group. The CPQ remains the system of record.</a:t>
            </a:r>
            <a:endParaRPr lang="en-US" sz="1200" dirty="0"/>
          </a:p>
        </p:txBody>
      </p:sp>
      <p:sp>
        <p:nvSpPr>
          <p:cNvPr id="20" name="Shape 18"/>
          <p:cNvSpPr/>
          <p:nvPr/>
        </p:nvSpPr>
        <p:spPr>
          <a:xfrm>
            <a:off x="8156448" y="2788920"/>
            <a:ext cx="3703320" cy="1828800"/>
          </a:xfrm>
          <a:prstGeom prst="roundRect">
            <a:avLst>
              <a:gd name="adj" fmla="val 4000"/>
            </a:avLst>
          </a:prstGeom>
          <a:solidFill>
            <a:srgbClr val="142027"/>
          </a:solidFill>
          <a:ln w="12700">
            <a:solidFill>
              <a:srgbClr val="1F3A48"/>
            </a:solidFill>
            <a:prstDash val="solid"/>
          </a:ln>
        </p:spPr>
      </p:sp>
      <p:sp>
        <p:nvSpPr>
          <p:cNvPr id="21" name="Text 19"/>
          <p:cNvSpPr/>
          <p:nvPr/>
        </p:nvSpPr>
        <p:spPr>
          <a:xfrm>
            <a:off x="8284464" y="2898648"/>
            <a:ext cx="3429000" cy="237744"/>
          </a:xfrm>
          <a:prstGeom prst="rect">
            <a:avLst/>
          </a:prstGeom>
          <a:noFill/>
          <a:ln/>
        </p:spPr>
        <p:txBody>
          <a:bodyPr wrap="square" lIns="0" tIns="0" rIns="0" bIns="0" rtlCol="0" anchor="ctr"/>
          <a:lstStyle/>
          <a:p>
            <a:pPr indent="0" marL="0">
              <a:buNone/>
            </a:pPr>
            <a:r>
              <a:rPr lang="en-US" sz="1200" b="1" dirty="0">
                <a:solidFill>
                  <a:srgbClr val="00D4AA"/>
                </a:solidFill>
                <a:latin typeface="Calibri" pitchFamily="34" charset="0"/>
                <a:ea typeface="Calibri" pitchFamily="34" charset="-122"/>
                <a:cs typeface="Calibri" pitchFamily="34" charset="-120"/>
              </a:rPr>
              <a:t>6  ·  LANGFUSE</a:t>
            </a:r>
            <a:endParaRPr lang="en-US" sz="1200" dirty="0"/>
          </a:p>
        </p:txBody>
      </p:sp>
      <p:sp>
        <p:nvSpPr>
          <p:cNvPr id="22" name="Text 20"/>
          <p:cNvSpPr/>
          <p:nvPr/>
        </p:nvSpPr>
        <p:spPr>
          <a:xfrm>
            <a:off x="8284464" y="3191256"/>
            <a:ext cx="3429000" cy="1280160"/>
          </a:xfrm>
          <a:prstGeom prst="rect">
            <a:avLst/>
          </a:prstGeom>
          <a:noFill/>
          <a:ln/>
        </p:spPr>
        <p:txBody>
          <a:bodyPr wrap="square" lIns="0" tIns="0" rIns="0" bIns="0" rtlCol="0" anchor="ctr"/>
          <a:lstStyle/>
          <a:p>
            <a:pPr indent="0" marL="0">
              <a:buNone/>
            </a:pPr>
            <a:r>
              <a:rPr lang="en-US" sz="1200" dirty="0">
                <a:solidFill>
                  <a:srgbClr val="E8E4DC"/>
                </a:solidFill>
                <a:latin typeface="Calibri" pitchFamily="34" charset="0"/>
                <a:ea typeface="Calibri" pitchFamily="34" charset="-122"/>
                <a:cs typeface="Calibri" pitchFamily="34" charset="-120"/>
              </a:rPr>
              <a:t>Generation approval-agents. Trace dealflow.approval. Spans: two specialists, orchestrator, guardrail. Scores: label_match and note_ignored. Keys stay server-side.</a:t>
            </a:r>
            <a:endParaRPr lang="en-US" sz="1200" dirty="0"/>
          </a:p>
        </p:txBody>
      </p:sp>
      <p:sp>
        <p:nvSpPr>
          <p:cNvPr id="23" name="Shape 21"/>
          <p:cNvSpPr/>
          <p:nvPr/>
        </p:nvSpPr>
        <p:spPr>
          <a:xfrm>
            <a:off x="384048" y="4892040"/>
            <a:ext cx="11430000" cy="1645920"/>
          </a:xfrm>
          <a:prstGeom prst="roundRect">
            <a:avLst>
              <a:gd name="adj" fmla="val 4444"/>
            </a:avLst>
          </a:prstGeom>
          <a:solidFill>
            <a:srgbClr val="142027"/>
          </a:solidFill>
          <a:ln w="12700">
            <a:solidFill>
              <a:srgbClr val="1F3A48"/>
            </a:solidFill>
            <a:prstDash val="solid"/>
          </a:ln>
        </p:spPr>
      </p:sp>
      <p:sp>
        <p:nvSpPr>
          <p:cNvPr id="24" name="Text 22"/>
          <p:cNvSpPr/>
          <p:nvPr/>
        </p:nvSpPr>
        <p:spPr>
          <a:xfrm>
            <a:off x="530352" y="4983480"/>
            <a:ext cx="3657600" cy="237744"/>
          </a:xfrm>
          <a:prstGeom prst="rect">
            <a:avLst/>
          </a:prstGeom>
          <a:noFill/>
          <a:ln/>
        </p:spPr>
        <p:txBody>
          <a:bodyPr wrap="square" lIns="0" tIns="0" rIns="0" bIns="0" rtlCol="0" anchor="ctr"/>
          <a:lstStyle/>
          <a:p>
            <a:pPr indent="0" marL="0">
              <a:buNone/>
            </a:pPr>
            <a:r>
              <a:rPr lang="en-US" sz="1200" b="1" dirty="0">
                <a:solidFill>
                  <a:srgbClr val="00D4AA"/>
                </a:solidFill>
                <a:latin typeface="Calibri" pitchFamily="34" charset="0"/>
                <a:ea typeface="Calibri" pitchFamily="34" charset="-122"/>
                <a:cs typeface="Calibri" pitchFamily="34" charset="-120"/>
              </a:rPr>
              <a:t>THE BOUNDARY</a:t>
            </a:r>
            <a:endParaRPr lang="en-US" sz="1200" dirty="0"/>
          </a:p>
        </p:txBody>
      </p:sp>
      <p:sp>
        <p:nvSpPr>
          <p:cNvPr id="25" name="Text 23"/>
          <p:cNvSpPr/>
          <p:nvPr/>
        </p:nvSpPr>
        <p:spPr>
          <a:xfrm>
            <a:off x="530352" y="5257800"/>
            <a:ext cx="11109960" cy="1097280"/>
          </a:xfrm>
          <a:prstGeom prst="rect">
            <a:avLst/>
          </a:prstGeom>
          <a:noFill/>
          <a:ln/>
        </p:spPr>
        <p:txBody>
          <a:bodyPr wrap="square" lIns="0" tIns="0" rIns="0" bIns="0" rtlCol="0" anchor="ctr"/>
          <a:lstStyle/>
          <a:p>
            <a:pPr indent="0" marL="0">
              <a:buNone/>
            </a:pPr>
            <a:r>
              <a:rPr lang="en-US" sz="1300" dirty="0">
                <a:solidFill>
                  <a:srgbClr val="E8E4DC"/>
                </a:solidFill>
                <a:latin typeface="Calibri" pitchFamily="34" charset="0"/>
                <a:ea typeface="Calibri" pitchFamily="34" charset="-122"/>
                <a:cs typeface="Calibri" pitchFamily="34" charset="-120"/>
              </a:rPr>
              <a:t>The graph runs in a container beside the CPQ, not inside it. Submit is the only inbound event. Write-back is one stage or one named assignment. Helio and Northstar are separate policy packs. Switching the live pack changes what the next hop reads. It does not rewrite closed decisions. Salesforce CPQ, Revenue Cloud, DealHub, Conga, and Zuora stay the system of record.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AI Design, Workflow, and Architecture</dc:title>
  <dc:subject>PptxGenJS Presentation</dc:subject>
  <dc:creator>DealFlow</dc:creator>
  <cp:lastModifiedBy>DealFlow</cp:lastModifiedBy>
  <cp:revision>1</cp:revision>
  <dcterms:created xsi:type="dcterms:W3CDTF">2026-10-30T17:11:41Z</dcterms:created>
  <dcterms:modified xsi:type="dcterms:W3CDTF">2026-10-30T17:11:41Z</dcterms:modified>
</cp:coreProperties>
</file>