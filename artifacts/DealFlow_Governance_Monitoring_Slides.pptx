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400" b="1" dirty="0">
                <a:solidFill>
                  <a:srgbClr val="F4F0E8"/>
                </a:solidFill>
                <a:latin typeface="Calibri" pitchFamily="34" charset="0"/>
                <a:ea typeface="Calibri" pitchFamily="34" charset="-122"/>
                <a:cs typeface="Calibri" pitchFamily="34" charset="-120"/>
              </a:rPr>
              <a:t>AGENT GOVERNANCE &amp; MONITORING STRATEGY</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A person is in the loop when the book says so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indent="0" marL="0">
              <a:buNone/>
            </a:pPr>
            <a:r>
              <a:rPr lang="en-US" sz="1200" b="1" dirty="0">
                <a:solidFill>
                  <a:srgbClr val="1D5C68"/>
                </a:solidFill>
                <a:latin typeface="Calibri" pitchFamily="34" charset="0"/>
                <a:ea typeface="Calibri" pitchFamily="34" charset="-122"/>
                <a:cs typeface="Calibri" pitchFamily="34" charset="-120"/>
              </a:rPr>
              <a:t>POLICY OWNERSHIP</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indent="0" marL="0">
              <a:buNone/>
            </a:pPr>
            <a:r>
              <a:rPr lang="en-US" sz="1200" b="1" dirty="0">
                <a:solidFill>
                  <a:srgbClr val="FF3D6E"/>
                </a:solidFill>
                <a:latin typeface="Calibri" pitchFamily="34" charset="0"/>
                <a:ea typeface="Calibri" pitchFamily="34" charset="-122"/>
                <a:cs typeface="Calibri" pitchFamily="34" charset="-120"/>
              </a:rPr>
              <a:t>GUARDRAILS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2F6A4F"/>
          </a:solidFill>
          <a:ln/>
        </p:spPr>
      </p:sp>
      <p:sp>
        <p:nvSpPr>
          <p:cNvPr id="15" name="Text 13"/>
          <p:cNvSpPr/>
          <p:nvPr/>
        </p:nvSpPr>
        <p:spPr>
          <a:xfrm>
            <a:off x="6492240" y="1280160"/>
            <a:ext cx="2514600" cy="411480"/>
          </a:xfrm>
          <a:prstGeom prst="rect">
            <a:avLst/>
          </a:prstGeom>
          <a:noFill/>
          <a:ln/>
        </p:spPr>
        <p:txBody>
          <a:bodyPr wrap="square" rtlCol="0" anchor="ctr"/>
          <a:lstStyle/>
          <a:p>
            <a:pPr indent="0" marL="0">
              <a:buNone/>
            </a:pPr>
            <a:r>
              <a:rPr lang="en-US" sz="1200" b="1" dirty="0">
                <a:solidFill>
                  <a:srgbClr val="2F6A4F"/>
                </a:solidFill>
                <a:latin typeface="Calibri" pitchFamily="34" charset="0"/>
                <a:ea typeface="Calibri" pitchFamily="34" charset="-122"/>
                <a:cs typeface="Calibri" pitchFamily="34" charset="-120"/>
              </a:rPr>
              <a:t>HITL TRIGGERS</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Mild exception → Deal Desk Manager, 24h. Material → RevOps or Finance, 24h. High discount + poor terms → VP Sales + Finance. Quarter-end → Deal Desk Lead, 12h. Clear policy violation → appropriate executive tier.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RELEASE GATE</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Golden set of nine labeled quotes. RevOps owns the set. Currently 9 of 9 match. Harness checks label, citation, note-attack ignored, threshold, and assignment. A miss becomes a new golden row. Threshold and assignment rules are config, not code.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indent="0" marL="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MONITORING STRATEGY</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Langfuse, golden harness, and LLM-as-judge  ·  DealFlow</a:t>
            </a:r>
            <a:endParaRPr lang="en-US" sz="1200" dirty="0"/>
          </a:p>
        </p:txBody>
      </p:sp>
      <p:sp>
        <p:nvSpPr>
          <p:cNvPr id="5" name="Shape 3"/>
          <p:cNvSpPr/>
          <p:nvPr/>
        </p:nvSpPr>
        <p:spPr>
          <a:xfrm>
            <a:off x="274320" y="1188720"/>
            <a:ext cx="3749040" cy="3474720"/>
          </a:xfrm>
          <a:prstGeom prst="roundRect">
            <a:avLst>
              <a:gd name="adj" fmla="val 2632"/>
            </a:avLst>
          </a:prstGeom>
          <a:solidFill>
            <a:srgbClr val="141416"/>
          </a:solidFill>
          <a:ln/>
        </p:spPr>
      </p:sp>
      <p:sp>
        <p:nvSpPr>
          <p:cNvPr id="6" name="Shape 4"/>
          <p:cNvSpPr/>
          <p:nvPr/>
        </p:nvSpPr>
        <p:spPr>
          <a:xfrm>
            <a:off x="274320" y="1188720"/>
            <a:ext cx="109728" cy="347472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indent="0" marL="0">
              <a:buNone/>
            </a:pPr>
            <a:r>
              <a:rPr lang="en-US" sz="1300" b="1" dirty="0">
                <a:solidFill>
                  <a:srgbClr val="1D5C68"/>
                </a:solidFill>
                <a:latin typeface="Calibri" pitchFamily="34" charset="0"/>
                <a:ea typeface="Calibri" pitchFamily="34" charset="-122"/>
                <a:cs typeface="Calibri" pitchFamily="34" charset="-120"/>
              </a:rPr>
              <a:t>LANGFUSE TRACES</a:t>
            </a:r>
            <a:endParaRPr lang="en-US" sz="1300" dirty="0"/>
          </a:p>
        </p:txBody>
      </p:sp>
      <p:sp>
        <p:nvSpPr>
          <p:cNvPr id="8" name="Text 6"/>
          <p:cNvSpPr/>
          <p:nvPr/>
        </p:nvSpPr>
        <p:spPr>
          <a:xfrm>
            <a:off x="548640" y="1874520"/>
            <a:ext cx="3291840" cy="256032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474720"/>
          </a:xfrm>
          <a:prstGeom prst="roundRect">
            <a:avLst>
              <a:gd name="adj" fmla="val 2632"/>
            </a:avLst>
          </a:prstGeom>
          <a:solidFill>
            <a:srgbClr val="141416"/>
          </a:solidFill>
          <a:ln/>
        </p:spPr>
      </p:sp>
      <p:sp>
        <p:nvSpPr>
          <p:cNvPr id="10" name="Shape 8"/>
          <p:cNvSpPr/>
          <p:nvPr/>
        </p:nvSpPr>
        <p:spPr>
          <a:xfrm>
            <a:off x="4160520" y="1188720"/>
            <a:ext cx="109728" cy="347472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indent="0" marL="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56032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quarter-end flag (Vanta), multi-year prepay threshold (Sable), and note-attack reject (Kite).</a:t>
            </a:r>
            <a:endParaRPr lang="en-US" sz="1200" dirty="0"/>
          </a:p>
        </p:txBody>
      </p:sp>
      <p:sp>
        <p:nvSpPr>
          <p:cNvPr id="13" name="Shape 11"/>
          <p:cNvSpPr/>
          <p:nvPr/>
        </p:nvSpPr>
        <p:spPr>
          <a:xfrm>
            <a:off x="8046720" y="1188720"/>
            <a:ext cx="3749040" cy="3474720"/>
          </a:xfrm>
          <a:prstGeom prst="roundRect">
            <a:avLst>
              <a:gd name="adj" fmla="val 2632"/>
            </a:avLst>
          </a:prstGeom>
          <a:solidFill>
            <a:srgbClr val="141416"/>
          </a:solidFill>
          <a:ln/>
        </p:spPr>
      </p:sp>
      <p:sp>
        <p:nvSpPr>
          <p:cNvPr id="14" name="Shape 12"/>
          <p:cNvSpPr/>
          <p:nvPr/>
        </p:nvSpPr>
        <p:spPr>
          <a:xfrm>
            <a:off x="8046720" y="1188720"/>
            <a:ext cx="109728" cy="347472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LLM-AS-JUDGE</a:t>
            </a:r>
            <a:endParaRPr lang="en-US" sz="1300" dirty="0"/>
          </a:p>
        </p:txBody>
      </p:sp>
      <p:sp>
        <p:nvSpPr>
          <p:cNvPr id="16" name="Text 14"/>
          <p:cNvSpPr/>
          <p:nvPr/>
        </p:nvSpPr>
        <p:spPr>
          <a:xfrm>
            <a:off x="8321040" y="1874520"/>
            <a:ext cx="3291840" cy="256032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Judge scores the same rubric as the harness. It is a separate generation that records model name and token usage for cost. Misses from the judge and from Deal Desk overrides become new golden rows. Threshold and assignment rules stay config, not code.</a:t>
            </a:r>
            <a:endParaRPr lang="en-US" sz="1200" dirty="0"/>
          </a:p>
        </p:txBody>
      </p:sp>
      <p:sp>
        <p:nvSpPr>
          <p:cNvPr id="17" name="Shape 15"/>
          <p:cNvSpPr/>
          <p:nvPr/>
        </p:nvSpPr>
        <p:spPr>
          <a:xfrm>
            <a:off x="274320" y="4846320"/>
            <a:ext cx="11640312" cy="1691640"/>
          </a:xfrm>
          <a:prstGeom prst="roundRect">
            <a:avLst>
              <a:gd name="adj" fmla="val 5405"/>
            </a:avLst>
          </a:prstGeom>
          <a:solidFill>
            <a:srgbClr val="1A2530"/>
          </a:solidFill>
          <a:ln/>
        </p:spPr>
      </p:sp>
      <p:sp>
        <p:nvSpPr>
          <p:cNvPr id="18" name="Text 16"/>
          <p:cNvSpPr/>
          <p:nvPr/>
        </p:nvSpPr>
        <p:spPr>
          <a:xfrm>
            <a:off x="457200" y="4983480"/>
            <a:ext cx="10972800" cy="274320"/>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WHAT MONITORING CATCHES</a:t>
            </a:r>
            <a:endParaRPr lang="en-US" sz="1200" dirty="0"/>
          </a:p>
        </p:txBody>
      </p:sp>
      <p:sp>
        <p:nvSpPr>
          <p:cNvPr id="19" name="Text 17"/>
          <p:cNvSpPr/>
          <p:nvPr/>
        </p:nvSpPr>
        <p:spPr>
          <a:xfrm>
            <a:off x="457200" y="5349240"/>
            <a:ext cx="11247120" cy="100584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Agent Governance &amp; Monitoring Strategy</dc:title>
  <dc:subject>PptxGenJS Presentation</dc:subject>
  <dc:creator>Shashank Jasra</dc:creator>
  <cp:lastModifiedBy>Shashank Jasra</cp:lastModifiedBy>
  <cp:revision>1</cp:revision>
  <dcterms:created xsi:type="dcterms:W3CDTF">2026-10-30T15:13:30Z</dcterms:created>
  <dcterms:modified xsi:type="dcterms:W3CDTF">2026-10-30T15:13:30Z</dcterms:modified>
</cp:coreProperties>
</file>