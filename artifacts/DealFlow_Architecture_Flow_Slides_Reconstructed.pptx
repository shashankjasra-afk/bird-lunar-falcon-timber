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Lst>
  <p:notesMasterIdLst>
    <p:notesMasterId r:id="rId6"/>
  </p:notesMasterIdLst>
  <p:sldSz cx="12191695" cy="6858000"/>
  <p:notesSz cx="6858000" cy="12191695"/>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notesMaster" Target="notesMasters/notesMaster1.xml"/><Relationship Id="rId7" Type="http://schemas.openxmlformats.org/officeDocument/2006/relationships/presProps" Target="presProps.xml"/><Relationship Id="rId8" Type="http://schemas.openxmlformats.org/officeDocument/2006/relationships/viewProps" Target="viewProps.xml"/><Relationship Id="rId9" Type="http://schemas.openxmlformats.org/officeDocument/2006/relationships/theme" Target="theme/theme1.xml"/><Relationship Id="rId10"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solidFill>
            <a:srgbClr val="F4F0E8"/>
          </a:solidFill>
          <a:ln/>
        </p:spPr>
      </p:sp>
      <p:sp>
        <p:nvSpPr>
          <p:cNvPr id="3" name="Text 1"/>
          <p:cNvSpPr/>
          <p:nvPr/>
        </p:nvSpPr>
        <p:spPr>
          <a:xfrm>
            <a:off x="329184" y="164592"/>
            <a:ext cx="11430000" cy="201168"/>
          </a:xfrm>
          <a:prstGeom prst="rect">
            <a:avLst/>
          </a:prstGeom>
          <a:noFill/>
          <a:ln/>
        </p:spPr>
        <p:txBody>
          <a:bodyPr wrap="square" lIns="0" tIns="0" rIns="0" bIns="0" rtlCol="0" anchor="ctr"/>
          <a:lstStyle/>
          <a:p>
            <a:pPr indent="0" marL="0">
              <a:buNone/>
            </a:pPr>
            <a:r>
              <a:rPr lang="en-US" sz="1100" b="1" dirty="0">
                <a:solidFill>
                  <a:srgbClr val="1D5C68"/>
                </a:solidFill>
                <a:latin typeface="Calibri" pitchFamily="34" charset="0"/>
                <a:ea typeface="Calibri" pitchFamily="34" charset="-122"/>
                <a:cs typeface="Calibri" pitchFamily="34" charset="-120"/>
              </a:rPr>
              <a:t>AGENTIC AI DESIGN AND WORKFLOW</a:t>
            </a:r>
            <a:endParaRPr lang="en-US" sz="1100" dirty="0"/>
          </a:p>
        </p:txBody>
      </p:sp>
      <p:sp>
        <p:nvSpPr>
          <p:cNvPr id="4" name="Text 2"/>
          <p:cNvSpPr/>
          <p:nvPr/>
        </p:nvSpPr>
        <p:spPr>
          <a:xfrm>
            <a:off x="329184" y="347472"/>
            <a:ext cx="9601200" cy="329184"/>
          </a:xfrm>
          <a:prstGeom prst="rect">
            <a:avLst/>
          </a:prstGeom>
          <a:noFill/>
          <a:ln/>
        </p:spPr>
        <p:txBody>
          <a:bodyPr wrap="square" lIns="0" tIns="0" rIns="0" bIns="0" rtlCol="0" anchor="ctr"/>
          <a:lstStyle/>
          <a:p>
            <a:pPr indent="0" marL="0">
              <a:buNone/>
            </a:pPr>
            <a:r>
              <a:rPr lang="en-US" sz="2400" dirty="0">
                <a:solidFill>
                  <a:srgbClr val="0E1A24"/>
                </a:solidFill>
                <a:latin typeface="Georgia" pitchFamily="34" charset="0"/>
                <a:ea typeface="Georgia" pitchFamily="34" charset="-122"/>
                <a:cs typeface="Georgia" pitchFamily="34" charset="-120"/>
              </a:rPr>
              <a:t>Three agents, one graph, one write-back</a:t>
            </a:r>
            <a:endParaRPr lang="en-US" sz="2400" dirty="0"/>
          </a:p>
        </p:txBody>
      </p:sp>
      <p:sp>
        <p:nvSpPr>
          <p:cNvPr id="5" name="Text 3"/>
          <p:cNvSpPr/>
          <p:nvPr/>
        </p:nvSpPr>
        <p:spPr>
          <a:xfrm>
            <a:off x="329184" y="713232"/>
            <a:ext cx="11338560" cy="256032"/>
          </a:xfrm>
          <a:prstGeom prst="rect">
            <a:avLst/>
          </a:prstGeom>
          <a:noFill/>
          <a:ln/>
        </p:spPr>
        <p:txBody>
          <a:bodyPr wrap="square" lIns="0" tIns="0" rIns="0" bIns="0" rtlCol="0" anchor="ctr"/>
          <a:lstStyle/>
          <a:p>
            <a:pPr indent="0" marL="0">
              <a:buNone/>
            </a:pPr>
            <a:r>
              <a:rPr lang="en-US" sz="1200" dirty="0">
                <a:solidFill>
                  <a:srgbClr val="5C646C"/>
                </a:solidFill>
                <a:latin typeface="Calibri" pitchFamily="34" charset="0"/>
                <a:ea typeface="Calibri" pitchFamily="34" charset="-122"/>
                <a:cs typeface="Calibri" pitchFamily="34" charset="-120"/>
              </a:rPr>
              <a:t>Python is the agent runtime. LangGraph is the orchestration. Pydantic is the contract for every node. The CPQ stays the system of record.</a:t>
            </a:r>
            <a:endParaRPr lang="en-US" sz="1200" dirty="0"/>
          </a:p>
        </p:txBody>
      </p:sp>
      <p:sp>
        <p:nvSpPr>
          <p:cNvPr id="6" name="Shape 4"/>
          <p:cNvSpPr/>
          <p:nvPr/>
        </p:nvSpPr>
        <p:spPr>
          <a:xfrm>
            <a:off x="292608" y="1060704"/>
            <a:ext cx="3785616" cy="2331720"/>
          </a:xfrm>
          <a:prstGeom prst="roundRect">
            <a:avLst>
              <a:gd name="adj" fmla="val 2353"/>
            </a:avLst>
          </a:prstGeom>
          <a:solidFill>
            <a:srgbClr val="FFFFFF"/>
          </a:solidFill>
          <a:ln w="12700">
            <a:solidFill>
              <a:srgbClr val="D7D2C8"/>
            </a:solidFill>
            <a:prstDash val="solid"/>
          </a:ln>
        </p:spPr>
      </p:sp>
      <p:sp>
        <p:nvSpPr>
          <p:cNvPr id="7" name="Shape 5"/>
          <p:cNvSpPr/>
          <p:nvPr/>
        </p:nvSpPr>
        <p:spPr>
          <a:xfrm>
            <a:off x="292608" y="1060704"/>
            <a:ext cx="73152" cy="2331720"/>
          </a:xfrm>
          <a:prstGeom prst="rect">
            <a:avLst/>
          </a:prstGeom>
          <a:solidFill>
            <a:srgbClr val="1D5C68"/>
          </a:solidFill>
          <a:ln/>
        </p:spPr>
      </p:sp>
      <p:sp>
        <p:nvSpPr>
          <p:cNvPr id="8" name="Text 6"/>
          <p:cNvSpPr/>
          <p:nvPr/>
        </p:nvSpPr>
        <p:spPr>
          <a:xfrm>
            <a:off x="457200" y="1133856"/>
            <a:ext cx="2331720" cy="237744"/>
          </a:xfrm>
          <a:prstGeom prst="rect">
            <a:avLst/>
          </a:prstGeom>
          <a:noFill/>
          <a:ln/>
        </p:spPr>
        <p:txBody>
          <a:bodyPr wrap="square" lIns="0" tIns="0" rIns="0" bIns="0" rtlCol="0" anchor="ctr"/>
          <a:lstStyle/>
          <a:p>
            <a:pPr indent="0" marL="0">
              <a:buNone/>
            </a:pPr>
            <a:r>
              <a:rPr lang="en-US" sz="1300" b="1" dirty="0">
                <a:solidFill>
                  <a:srgbClr val="0E1A24"/>
                </a:solidFill>
                <a:latin typeface="Calibri" pitchFamily="34" charset="0"/>
                <a:ea typeface="Calibri" pitchFamily="34" charset="-122"/>
                <a:cs typeface="Calibri" pitchFamily="34" charset="-120"/>
              </a:rPr>
              <a:t>ORCHESTRATOR</a:t>
            </a:r>
            <a:endParaRPr lang="en-US" sz="1300" dirty="0"/>
          </a:p>
        </p:txBody>
      </p:sp>
      <p:sp>
        <p:nvSpPr>
          <p:cNvPr id="9" name="Text 7"/>
          <p:cNvSpPr/>
          <p:nvPr/>
        </p:nvSpPr>
        <p:spPr>
          <a:xfrm>
            <a:off x="2779776" y="1152144"/>
            <a:ext cx="1133856" cy="201168"/>
          </a:xfrm>
          <a:prstGeom prst="rect">
            <a:avLst/>
          </a:prstGeom>
          <a:noFill/>
          <a:ln/>
        </p:spPr>
        <p:txBody>
          <a:bodyPr wrap="square" lIns="0" tIns="0" rIns="0" bIns="0" rtlCol="0" anchor="ctr"/>
          <a:lstStyle/>
          <a:p>
            <a:pPr algn="r" indent="0" marL="0">
              <a:buNone/>
            </a:pPr>
            <a:r>
              <a:rPr lang="en-US" sz="1000" b="1" dirty="0">
                <a:solidFill>
                  <a:srgbClr val="1D5C68"/>
                </a:solidFill>
                <a:latin typeface="Calibri" pitchFamily="34" charset="0"/>
                <a:ea typeface="Calibri" pitchFamily="34" charset="-122"/>
                <a:cs typeface="Calibri" pitchFamily="34" charset="-120"/>
              </a:rPr>
              <a:t>GOAL-BASED</a:t>
            </a:r>
            <a:endParaRPr lang="en-US" sz="1000" dirty="0"/>
          </a:p>
        </p:txBody>
      </p:sp>
      <p:sp>
        <p:nvSpPr>
          <p:cNvPr id="10" name="Text 8"/>
          <p:cNvSpPr/>
          <p:nvPr/>
        </p:nvSpPr>
        <p:spPr>
          <a:xfrm>
            <a:off x="457200" y="1426464"/>
            <a:ext cx="3474720" cy="1847088"/>
          </a:xfrm>
          <a:prstGeom prst="rect">
            <a:avLst/>
          </a:prstGeom>
          <a:noFill/>
          <a:ln/>
        </p:spPr>
        <p:txBody>
          <a:bodyPr wrap="square" lIns="0" tIns="0" rIns="0" bIns="0" rtlCol="0" anchor="ctr"/>
          <a:lstStyle/>
          <a:p>
            <a:pPr indent="0" marL="0">
              <a:buNone/>
            </a:pPr>
            <a:r>
              <a:rPr lang="en-US" sz="1100" dirty="0">
                <a:solidFill>
                  <a:srgbClr val="141416"/>
                </a:solidFill>
                <a:latin typeface="Calibri" pitchFamily="34" charset="0"/>
                <a:ea typeface="Calibri" pitchFamily="34" charset="-122"/>
                <a:cs typeface="Calibri" pitchFamily="34" charset="-120"/>
              </a:rPr>
              <a:t>orchestrator_plan opens the hop on Submit. It waits for both specialists. orchestrator_combine keeps the stricter label: R1 any Reject, R2 any Escalate, R3 both Approve and average at or above the threshold, R4 both Approve but under it. It writes the stage or the named assignment. Notes are not instructions. Neither specialist knows how to combine the other.</a:t>
            </a:r>
            <a:endParaRPr lang="en-US" sz="1100" dirty="0"/>
          </a:p>
        </p:txBody>
      </p:sp>
      <p:sp>
        <p:nvSpPr>
          <p:cNvPr id="11" name="Shape 9"/>
          <p:cNvSpPr/>
          <p:nvPr/>
        </p:nvSpPr>
        <p:spPr>
          <a:xfrm>
            <a:off x="4224528" y="1060704"/>
            <a:ext cx="3785616" cy="2331720"/>
          </a:xfrm>
          <a:prstGeom prst="roundRect">
            <a:avLst>
              <a:gd name="adj" fmla="val 2353"/>
            </a:avLst>
          </a:prstGeom>
          <a:solidFill>
            <a:srgbClr val="FFFFFF"/>
          </a:solidFill>
          <a:ln w="12700">
            <a:solidFill>
              <a:srgbClr val="D7D2C8"/>
            </a:solidFill>
            <a:prstDash val="solid"/>
          </a:ln>
        </p:spPr>
      </p:sp>
      <p:sp>
        <p:nvSpPr>
          <p:cNvPr id="12" name="Shape 10"/>
          <p:cNvSpPr/>
          <p:nvPr/>
        </p:nvSpPr>
        <p:spPr>
          <a:xfrm>
            <a:off x="4224528" y="1060704"/>
            <a:ext cx="73152" cy="2331720"/>
          </a:xfrm>
          <a:prstGeom prst="rect">
            <a:avLst/>
          </a:prstGeom>
          <a:solidFill>
            <a:srgbClr val="2F6A4F"/>
          </a:solidFill>
          <a:ln/>
        </p:spPr>
      </p:sp>
      <p:sp>
        <p:nvSpPr>
          <p:cNvPr id="13" name="Text 11"/>
          <p:cNvSpPr/>
          <p:nvPr/>
        </p:nvSpPr>
        <p:spPr>
          <a:xfrm>
            <a:off x="4389120" y="1133856"/>
            <a:ext cx="2331720" cy="237744"/>
          </a:xfrm>
          <a:prstGeom prst="rect">
            <a:avLst/>
          </a:prstGeom>
          <a:noFill/>
          <a:ln/>
        </p:spPr>
        <p:txBody>
          <a:bodyPr wrap="square" lIns="0" tIns="0" rIns="0" bIns="0" rtlCol="0" anchor="ctr"/>
          <a:lstStyle/>
          <a:p>
            <a:pPr indent="0" marL="0">
              <a:buNone/>
            </a:pPr>
            <a:r>
              <a:rPr lang="en-US" sz="1300" b="1" dirty="0">
                <a:solidFill>
                  <a:srgbClr val="0E1A24"/>
                </a:solidFill>
                <a:latin typeface="Calibri" pitchFamily="34" charset="0"/>
                <a:ea typeface="Calibri" pitchFamily="34" charset="-122"/>
                <a:cs typeface="Calibri" pitchFamily="34" charset="-120"/>
              </a:rPr>
              <a:t>DISCOUNT AGENT</a:t>
            </a:r>
            <a:endParaRPr lang="en-US" sz="1300" dirty="0"/>
          </a:p>
        </p:txBody>
      </p:sp>
      <p:sp>
        <p:nvSpPr>
          <p:cNvPr id="14" name="Text 12"/>
          <p:cNvSpPr/>
          <p:nvPr/>
        </p:nvSpPr>
        <p:spPr>
          <a:xfrm>
            <a:off x="6711696" y="1152144"/>
            <a:ext cx="1133856" cy="201168"/>
          </a:xfrm>
          <a:prstGeom prst="rect">
            <a:avLst/>
          </a:prstGeom>
          <a:noFill/>
          <a:ln/>
        </p:spPr>
        <p:txBody>
          <a:bodyPr wrap="square" lIns="0" tIns="0" rIns="0" bIns="0" rtlCol="0" anchor="ctr"/>
          <a:lstStyle/>
          <a:p>
            <a:pPr algn="r" indent="0" marL="0">
              <a:buNone/>
            </a:pPr>
            <a:r>
              <a:rPr lang="en-US" sz="1000" b="1" dirty="0">
                <a:solidFill>
                  <a:srgbClr val="1D5C68"/>
                </a:solidFill>
                <a:latin typeface="Calibri" pitchFamily="34" charset="0"/>
                <a:ea typeface="Calibri" pitchFamily="34" charset="-122"/>
                <a:cs typeface="Calibri" pitchFamily="34" charset="-120"/>
              </a:rPr>
              <a:t>TOOL-USING</a:t>
            </a:r>
            <a:endParaRPr lang="en-US" sz="1000" dirty="0"/>
          </a:p>
        </p:txBody>
      </p:sp>
      <p:sp>
        <p:nvSpPr>
          <p:cNvPr id="15" name="Text 13"/>
          <p:cNvSpPr/>
          <p:nvPr/>
        </p:nvSpPr>
        <p:spPr>
          <a:xfrm>
            <a:off x="4389120" y="1426464"/>
            <a:ext cx="3474720" cy="1847088"/>
          </a:xfrm>
          <a:prstGeom prst="rect">
            <a:avLst/>
          </a:prstGeom>
          <a:noFill/>
          <a:ln/>
        </p:spPr>
        <p:txBody>
          <a:bodyPr wrap="square" lIns="0" tIns="0" rIns="0" bIns="0" rtlCol="0" anchor="ctr"/>
          <a:lstStyle/>
          <a:p>
            <a:pPr indent="0" marL="0">
              <a:buNone/>
            </a:pPr>
            <a:r>
              <a:rPr lang="en-US" sz="1100" dirty="0">
                <a:solidFill>
                  <a:srgbClr val="141416"/>
                </a:solidFill>
                <a:latin typeface="Calibri" pitchFamily="34" charset="0"/>
                <a:ea typeface="Calibri" pitchFamily="34" charset="-122"/>
                <a:cs typeface="Calibri" pitchFamily="34" charset="-120"/>
              </a:rPr>
              <a:t>discount_agent reads DISC-POL-2026-01 for segment and quote type, then the account file: closed years, peers for new logos, multi-year terms, historical jump. Knowledge no other agent holds. It returns a typed object: decision, confidence, thought, cited rules. It cannot write Sent, Signed, or Converted.</a:t>
            </a:r>
            <a:endParaRPr lang="en-US" sz="1100" dirty="0"/>
          </a:p>
        </p:txBody>
      </p:sp>
      <p:sp>
        <p:nvSpPr>
          <p:cNvPr id="16" name="Shape 14"/>
          <p:cNvSpPr/>
          <p:nvPr/>
        </p:nvSpPr>
        <p:spPr>
          <a:xfrm>
            <a:off x="8156448" y="1060704"/>
            <a:ext cx="3785616" cy="2331720"/>
          </a:xfrm>
          <a:prstGeom prst="roundRect">
            <a:avLst>
              <a:gd name="adj" fmla="val 2353"/>
            </a:avLst>
          </a:prstGeom>
          <a:solidFill>
            <a:srgbClr val="FFFFFF"/>
          </a:solidFill>
          <a:ln w="12700">
            <a:solidFill>
              <a:srgbClr val="D7D2C8"/>
            </a:solidFill>
            <a:prstDash val="solid"/>
          </a:ln>
        </p:spPr>
      </p:sp>
      <p:sp>
        <p:nvSpPr>
          <p:cNvPr id="17" name="Shape 15"/>
          <p:cNvSpPr/>
          <p:nvPr/>
        </p:nvSpPr>
        <p:spPr>
          <a:xfrm>
            <a:off x="8156448" y="1060704"/>
            <a:ext cx="73152" cy="2331720"/>
          </a:xfrm>
          <a:prstGeom prst="rect">
            <a:avLst/>
          </a:prstGeom>
          <a:solidFill>
            <a:srgbClr val="2F6A4F"/>
          </a:solidFill>
          <a:ln/>
        </p:spPr>
      </p:sp>
      <p:sp>
        <p:nvSpPr>
          <p:cNvPr id="18" name="Text 16"/>
          <p:cNvSpPr/>
          <p:nvPr/>
        </p:nvSpPr>
        <p:spPr>
          <a:xfrm>
            <a:off x="8321040" y="1133856"/>
            <a:ext cx="2331720" cy="237744"/>
          </a:xfrm>
          <a:prstGeom prst="rect">
            <a:avLst/>
          </a:prstGeom>
          <a:noFill/>
          <a:ln/>
        </p:spPr>
        <p:txBody>
          <a:bodyPr wrap="square" lIns="0" tIns="0" rIns="0" bIns="0" rtlCol="0" anchor="ctr"/>
          <a:lstStyle/>
          <a:p>
            <a:pPr indent="0" marL="0">
              <a:buNone/>
            </a:pPr>
            <a:r>
              <a:rPr lang="en-US" sz="1300" b="1" dirty="0">
                <a:solidFill>
                  <a:srgbClr val="0E1A24"/>
                </a:solidFill>
                <a:latin typeface="Calibri" pitchFamily="34" charset="0"/>
                <a:ea typeface="Calibri" pitchFamily="34" charset="-122"/>
                <a:cs typeface="Calibri" pitchFamily="34" charset="-120"/>
              </a:rPr>
              <a:t>PAYMENT AGENT</a:t>
            </a:r>
            <a:endParaRPr lang="en-US" sz="1300" dirty="0"/>
          </a:p>
        </p:txBody>
      </p:sp>
      <p:sp>
        <p:nvSpPr>
          <p:cNvPr id="19" name="Text 17"/>
          <p:cNvSpPr/>
          <p:nvPr/>
        </p:nvSpPr>
        <p:spPr>
          <a:xfrm>
            <a:off x="10643616" y="1152144"/>
            <a:ext cx="1133856" cy="201168"/>
          </a:xfrm>
          <a:prstGeom prst="rect">
            <a:avLst/>
          </a:prstGeom>
          <a:noFill/>
          <a:ln/>
        </p:spPr>
        <p:txBody>
          <a:bodyPr wrap="square" lIns="0" tIns="0" rIns="0" bIns="0" rtlCol="0" anchor="ctr"/>
          <a:lstStyle/>
          <a:p>
            <a:pPr algn="r" indent="0" marL="0">
              <a:buNone/>
            </a:pPr>
            <a:r>
              <a:rPr lang="en-US" sz="1000" b="1" dirty="0">
                <a:solidFill>
                  <a:srgbClr val="1D5C68"/>
                </a:solidFill>
                <a:latin typeface="Calibri" pitchFamily="34" charset="0"/>
                <a:ea typeface="Calibri" pitchFamily="34" charset="-122"/>
                <a:cs typeface="Calibri" pitchFamily="34" charset="-120"/>
              </a:rPr>
              <a:t>TOOL-USING</a:t>
            </a:r>
            <a:endParaRPr lang="en-US" sz="1000" dirty="0"/>
          </a:p>
        </p:txBody>
      </p:sp>
      <p:sp>
        <p:nvSpPr>
          <p:cNvPr id="20" name="Text 18"/>
          <p:cNvSpPr/>
          <p:nvPr/>
        </p:nvSpPr>
        <p:spPr>
          <a:xfrm>
            <a:off x="8321040" y="1426464"/>
            <a:ext cx="3474720" cy="1847088"/>
          </a:xfrm>
          <a:prstGeom prst="rect">
            <a:avLst/>
          </a:prstGeom>
          <a:noFill/>
          <a:ln/>
        </p:spPr>
        <p:txBody>
          <a:bodyPr wrap="square" lIns="0" tIns="0" rIns="0" bIns="0" rtlCol="0" anchor="ctr"/>
          <a:lstStyle/>
          <a:p>
            <a:pPr indent="0" marL="0">
              <a:buNone/>
            </a:pPr>
            <a:r>
              <a:rPr lang="en-US" sz="1100" dirty="0">
                <a:solidFill>
                  <a:srgbClr val="141416"/>
                </a:solidFill>
                <a:latin typeface="Calibri" pitchFamily="34" charset="0"/>
                <a:ea typeface="Calibri" pitchFamily="34" charset="-122"/>
                <a:cs typeface="Calibri" pitchFamily="34" charset="-120"/>
              </a:rPr>
              <a:t>payment_agent reads PAY-POL-2026-01 and the receivables file. Preferred, elevated, and high-risk terms. A worse term than last year, or open dues, is a hold. Domain owned by Finance. Same typed contract as discount. A cash miss routes to SFDC:Finance when the matrix says so.</a:t>
            </a:r>
            <a:endParaRPr lang="en-US" sz="1100" dirty="0"/>
          </a:p>
        </p:txBody>
      </p:sp>
      <p:sp>
        <p:nvSpPr>
          <p:cNvPr id="21" name="Shape 19"/>
          <p:cNvSpPr/>
          <p:nvPr/>
        </p:nvSpPr>
        <p:spPr>
          <a:xfrm>
            <a:off x="292608" y="3511296"/>
            <a:ext cx="5806440" cy="1417320"/>
          </a:xfrm>
          <a:prstGeom prst="roundRect">
            <a:avLst>
              <a:gd name="adj" fmla="val 3871"/>
            </a:avLst>
          </a:prstGeom>
          <a:solidFill>
            <a:srgbClr val="FFFFFF"/>
          </a:solidFill>
          <a:ln w="12700">
            <a:solidFill>
              <a:srgbClr val="D7D2C8"/>
            </a:solidFill>
            <a:prstDash val="solid"/>
          </a:ln>
        </p:spPr>
      </p:sp>
      <p:sp>
        <p:nvSpPr>
          <p:cNvPr id="22" name="Text 20"/>
          <p:cNvSpPr/>
          <p:nvPr/>
        </p:nvSpPr>
        <p:spPr>
          <a:xfrm>
            <a:off x="438912" y="3584448"/>
            <a:ext cx="5486400" cy="201168"/>
          </a:xfrm>
          <a:prstGeom prst="rect">
            <a:avLst/>
          </a:prstGeom>
          <a:noFill/>
          <a:ln/>
        </p:spPr>
        <p:txBody>
          <a:bodyPr wrap="square" lIns="0" tIns="0" rIns="0" bIns="0" rtlCol="0" anchor="ctr"/>
          <a:lstStyle/>
          <a:p>
            <a:pPr indent="0" marL="0">
              <a:buNone/>
            </a:pPr>
            <a:r>
              <a:rPr lang="en-US" sz="1100" b="1" dirty="0">
                <a:solidFill>
                  <a:srgbClr val="1D5C68"/>
                </a:solidFill>
                <a:latin typeface="Calibri" pitchFamily="34" charset="0"/>
                <a:ea typeface="Calibri" pitchFamily="34" charset="-122"/>
                <a:cs typeface="Calibri" pitchFamily="34" charset="-120"/>
              </a:rPr>
              <a:t>TECH STACK  ·  FROM THE RUNTIME</a:t>
            </a:r>
            <a:endParaRPr lang="en-US" sz="1100" dirty="0"/>
          </a:p>
        </p:txBody>
      </p:sp>
      <p:sp>
        <p:nvSpPr>
          <p:cNvPr id="23" name="Text 21"/>
          <p:cNvSpPr/>
          <p:nvPr/>
        </p:nvSpPr>
        <p:spPr>
          <a:xfrm>
            <a:off x="438912" y="3803904"/>
            <a:ext cx="5504688" cy="1024128"/>
          </a:xfrm>
          <a:prstGeom prst="rect">
            <a:avLst/>
          </a:prstGeom>
          <a:noFill/>
          <a:ln/>
        </p:spPr>
        <p:txBody>
          <a:bodyPr wrap="square" lIns="0" tIns="0" rIns="0" bIns="0" rtlCol="0" anchor="ctr"/>
          <a:lstStyle/>
          <a:p>
            <a:pPr indent="0" marL="0">
              <a:buNone/>
            </a:pPr>
            <a:r>
              <a:rPr lang="en-US" sz="1100" dirty="0">
                <a:solidFill>
                  <a:srgbClr val="141416"/>
                </a:solidFill>
                <a:latin typeface="Calibri" pitchFamily="34" charset="0"/>
                <a:ea typeface="Calibri" pitchFamily="34" charset="-122"/>
                <a:cs typeface="Calibri" pitchFamily="34" charset="-120"/>
              </a:rPr>
              <a:t>Python 3.10 · LangGraph StateGraph · Pydantic. Structured JSON in and out. CrewAI was the other option; this hop is a fixed graph with parallel specialists, not a free chat. Each node returns decision, confidence, thought, cited. One hop. No retry loop. Done when the label and the assignment are written. requirements.txt pins langgraph==0.4.8 and pydantic==2.11.7.</a:t>
            </a:r>
            <a:endParaRPr lang="en-US" sz="1100" dirty="0"/>
          </a:p>
        </p:txBody>
      </p:sp>
      <p:sp>
        <p:nvSpPr>
          <p:cNvPr id="24" name="Shape 22"/>
          <p:cNvSpPr/>
          <p:nvPr/>
        </p:nvSpPr>
        <p:spPr>
          <a:xfrm>
            <a:off x="6217920" y="3511296"/>
            <a:ext cx="5669280" cy="1417320"/>
          </a:xfrm>
          <a:prstGeom prst="roundRect">
            <a:avLst>
              <a:gd name="adj" fmla="val 3871"/>
            </a:avLst>
          </a:prstGeom>
          <a:solidFill>
            <a:srgbClr val="FFFFFF"/>
          </a:solidFill>
          <a:ln w="12700">
            <a:solidFill>
              <a:srgbClr val="D7D2C8"/>
            </a:solidFill>
            <a:prstDash val="solid"/>
          </a:ln>
        </p:spPr>
      </p:sp>
      <p:sp>
        <p:nvSpPr>
          <p:cNvPr id="25" name="Text 23"/>
          <p:cNvSpPr/>
          <p:nvPr/>
        </p:nvSpPr>
        <p:spPr>
          <a:xfrm>
            <a:off x="6364224" y="3584448"/>
            <a:ext cx="5394960" cy="201168"/>
          </a:xfrm>
          <a:prstGeom prst="rect">
            <a:avLst/>
          </a:prstGeom>
          <a:noFill/>
          <a:ln/>
        </p:spPr>
        <p:txBody>
          <a:bodyPr wrap="square" lIns="0" tIns="0" rIns="0" bIns="0" rtlCol="0" anchor="ctr"/>
          <a:lstStyle/>
          <a:p>
            <a:pPr indent="0" marL="0">
              <a:buNone/>
            </a:pPr>
            <a:r>
              <a:rPr lang="en-US" sz="1100" b="1" dirty="0">
                <a:solidFill>
                  <a:srgbClr val="1D5C68"/>
                </a:solidFill>
                <a:latin typeface="Calibri" pitchFamily="34" charset="0"/>
                <a:ea typeface="Calibri" pitchFamily="34" charset="-122"/>
                <a:cs typeface="Calibri" pitchFamily="34" charset="-120"/>
              </a:rPr>
              <a:t>RUNTIME AND GRAPH  ·  python/dealflow_graph.py</a:t>
            </a:r>
            <a:endParaRPr lang="en-US" sz="1100" dirty="0"/>
          </a:p>
        </p:txBody>
      </p:sp>
      <p:sp>
        <p:nvSpPr>
          <p:cNvPr id="26" name="Text 24"/>
          <p:cNvSpPr/>
          <p:nvPr/>
        </p:nvSpPr>
        <p:spPr>
          <a:xfrm>
            <a:off x="6364224" y="3803904"/>
            <a:ext cx="5376672" cy="1024128"/>
          </a:xfrm>
          <a:prstGeom prst="rect">
            <a:avLst/>
          </a:prstGeom>
          <a:noFill/>
          <a:ln/>
        </p:spPr>
        <p:txBody>
          <a:bodyPr wrap="square" lIns="0" tIns="0" rIns="0" bIns="0" rtlCol="0" anchor="ctr"/>
          <a:lstStyle/>
          <a:p>
            <a:pPr indent="0" marL="0">
              <a:buNone/>
            </a:pPr>
            <a:r>
              <a:rPr lang="en-US" sz="1100" dirty="0">
                <a:solidFill>
                  <a:srgbClr val="141416"/>
                </a:solidFill>
                <a:latin typeface="Calibri" pitchFamily="34" charset="0"/>
                <a:ea typeface="Calibri" pitchFamily="34" charset="-122"/>
                <a:cs typeface="Calibri" pitchFamily="34" charset="-120"/>
              </a:rPr>
              <a:t>plan → discount_agent ∥ payment_agent → orchestrator_combine → output_guardrail. Reject beats Escalate. Escalate beats Approve. Average confidence is used only when both Approve and clear the threshold (default 75%). A note cannot talk to either specialist. G-OUT blocks a looser label than the books. Every live submit is a Langfuse generation named approval-agents and a trace named dealflow.approval.</a:t>
            </a:r>
            <a:endParaRPr lang="en-US" sz="1100" dirty="0"/>
          </a:p>
        </p:txBody>
      </p:sp>
      <p:sp>
        <p:nvSpPr>
          <p:cNvPr id="27" name="Shape 25"/>
          <p:cNvSpPr/>
          <p:nvPr/>
        </p:nvSpPr>
        <p:spPr>
          <a:xfrm>
            <a:off x="292608" y="5047488"/>
            <a:ext cx="11594592" cy="1389888"/>
          </a:xfrm>
          <a:prstGeom prst="roundRect">
            <a:avLst>
              <a:gd name="adj" fmla="val 3947"/>
            </a:avLst>
          </a:prstGeom>
          <a:solidFill>
            <a:srgbClr val="0E1A24"/>
          </a:solidFill>
          <a:ln/>
        </p:spPr>
      </p:sp>
      <p:sp>
        <p:nvSpPr>
          <p:cNvPr id="28" name="Text 26"/>
          <p:cNvSpPr/>
          <p:nvPr/>
        </p:nvSpPr>
        <p:spPr>
          <a:xfrm>
            <a:off x="457200" y="5138928"/>
            <a:ext cx="10972800" cy="201168"/>
          </a:xfrm>
          <a:prstGeom prst="rect">
            <a:avLst/>
          </a:prstGeom>
          <a:noFill/>
          <a:ln/>
        </p:spPr>
        <p:txBody>
          <a:bodyPr wrap="square" lIns="0" tIns="0" rIns="0" bIns="0" rtlCol="0" anchor="ctr"/>
          <a:lstStyle/>
          <a:p>
            <a:pPr indent="0" marL="0">
              <a:buNone/>
            </a:pPr>
            <a:r>
              <a:rPr lang="en-US" sz="1100" b="1" dirty="0">
                <a:solidFill>
                  <a:srgbClr val="8FD0C8"/>
                </a:solidFill>
                <a:latin typeface="Calibri" pitchFamily="34" charset="0"/>
                <a:ea typeface="Calibri" pitchFamily="34" charset="-122"/>
                <a:cs typeface="Calibri" pitchFamily="34" charset="-120"/>
              </a:rPr>
              <a:t>WHAT THE CODE ACTUALLY DOES</a:t>
            </a:r>
            <a:endParaRPr lang="en-US" sz="1100" dirty="0"/>
          </a:p>
        </p:txBody>
      </p:sp>
      <p:sp>
        <p:nvSpPr>
          <p:cNvPr id="29" name="Text 27"/>
          <p:cNvSpPr/>
          <p:nvPr/>
        </p:nvSpPr>
        <p:spPr>
          <a:xfrm>
            <a:off x="457200" y="5358384"/>
            <a:ext cx="11228832" cy="932688"/>
          </a:xfrm>
          <a:prstGeom prst="rect">
            <a:avLst/>
          </a:prstGeom>
          <a:noFill/>
          <a:ln/>
        </p:spPr>
        <p:txBody>
          <a:bodyPr wrap="square" lIns="0" tIns="0" rIns="0" bIns="0" rtlCol="0" anchor="ctr"/>
          <a:lstStyle/>
          <a:p>
            <a:pPr indent="0" marL="0">
              <a:buNone/>
            </a:pPr>
            <a:r>
              <a:rPr lang="en-US" sz="1200" dirty="0">
                <a:solidFill>
                  <a:srgbClr val="F4F0E8"/>
                </a:solidFill>
                <a:latin typeface="Calibri" pitchFamily="34" charset="0"/>
                <a:ea typeface="Calibri" pitchFamily="34" charset="-122"/>
                <a:cs typeface="Calibri" pitchFamily="34" charset="-120"/>
              </a:rPr>
              <a:t>run_crew validates Evidence, invokes the compiled graph, and returns a CrewDecision: stack, overall, confidence, rule, guardrail, plan, discount, payment, orchestrator, and a node trace. GET /health and POST /hop on port 8091. The commercial ceilings, history, and dues are scored before the graph is called. The graph owns the hop: one cited label, or a hold. GitHub main publishes this file and nothing else under python/.</a:t>
            </a:r>
            <a:endParaRPr lang="en-US" sz="1200" dirty="0"/>
          </a:p>
        </p:txBody>
      </p:sp>
      <p:sp>
        <p:nvSpPr>
          <p:cNvPr id="30" name="Shape 28"/>
          <p:cNvSpPr/>
          <p:nvPr/>
        </p:nvSpPr>
        <p:spPr>
          <a:xfrm>
            <a:off x="0" y="6601968"/>
            <a:ext cx="12191695" cy="256032"/>
          </a:xfrm>
          <a:prstGeom prst="rect">
            <a:avLst/>
          </a:prstGeom>
          <a:solidFill>
            <a:srgbClr val="0E1A24"/>
          </a:solidFill>
          <a:ln/>
        </p:spPr>
      </p:sp>
      <p:sp>
        <p:nvSpPr>
          <p:cNvPr id="31" name="Text 29"/>
          <p:cNvSpPr/>
          <p:nvPr/>
        </p:nvSpPr>
        <p:spPr>
          <a:xfrm>
            <a:off x="292608" y="6620256"/>
            <a:ext cx="9144000" cy="201168"/>
          </a:xfrm>
          <a:prstGeom prst="rect">
            <a:avLst/>
          </a:prstGeom>
          <a:noFill/>
          <a:ln/>
        </p:spPr>
        <p:txBody>
          <a:bodyPr wrap="square" lIns="0" tIns="0" rIns="0" bIns="0" rtlCol="0" anchor="ctr"/>
          <a:lstStyle/>
          <a:p>
            <a:pPr indent="0" marL="0">
              <a:buNone/>
            </a:pPr>
            <a:r>
              <a:rPr lang="en-US" sz="1000" dirty="0">
                <a:solidFill>
                  <a:srgbClr val="F4F0E8"/>
                </a:solidFill>
                <a:latin typeface="Calibri" pitchFamily="34" charset="0"/>
                <a:ea typeface="Calibri" pitchFamily="34" charset="-122"/>
                <a:cs typeface="Calibri" pitchFamily="34" charset="-120"/>
              </a:rPr>
              <a:t>DealFlow Approval Agents  ·  github.com/shashankjasra-afk/bird-lunar-falcon-timber</a:t>
            </a:r>
            <a:endParaRPr lang="en-US" sz="1000" dirty="0"/>
          </a:p>
        </p:txBody>
      </p:sp>
      <p:sp>
        <p:nvSpPr>
          <p:cNvPr id="32" name="Text 30"/>
          <p:cNvSpPr/>
          <p:nvPr/>
        </p:nvSpPr>
        <p:spPr>
          <a:xfrm>
            <a:off x="10607040" y="6620256"/>
            <a:ext cx="1280160" cy="201168"/>
          </a:xfrm>
          <a:prstGeom prst="rect">
            <a:avLst/>
          </a:prstGeom>
          <a:noFill/>
          <a:ln/>
        </p:spPr>
        <p:txBody>
          <a:bodyPr wrap="square" lIns="0" tIns="0" rIns="0" bIns="0" rtlCol="0" anchor="ctr"/>
          <a:lstStyle/>
          <a:p>
            <a:pPr algn="r" indent="0" marL="0">
              <a:buNone/>
            </a:pPr>
            <a:r>
              <a:rPr lang="en-US" sz="1000" dirty="0">
                <a:solidFill>
                  <a:srgbClr val="F4F0E8"/>
                </a:solidFill>
                <a:latin typeface="Calibri" pitchFamily="34" charset="0"/>
                <a:ea typeface="Calibri" pitchFamily="34" charset="-122"/>
                <a:cs typeface="Calibri" pitchFamily="34" charset="-120"/>
              </a:rPr>
              <a:t>1 / 4</a:t>
            </a:r>
            <a:endParaRPr lang="en-US" sz="10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solidFill>
            <a:srgbClr val="F4F0E8"/>
          </a:solidFill>
          <a:ln/>
        </p:spPr>
      </p:sp>
      <p:sp>
        <p:nvSpPr>
          <p:cNvPr id="3" name="Text 1"/>
          <p:cNvSpPr/>
          <p:nvPr/>
        </p:nvSpPr>
        <p:spPr>
          <a:xfrm>
            <a:off x="329184" y="164592"/>
            <a:ext cx="11430000" cy="201168"/>
          </a:xfrm>
          <a:prstGeom prst="rect">
            <a:avLst/>
          </a:prstGeom>
          <a:noFill/>
          <a:ln/>
        </p:spPr>
        <p:txBody>
          <a:bodyPr wrap="square" lIns="0" tIns="0" rIns="0" bIns="0" rtlCol="0" anchor="ctr"/>
          <a:lstStyle/>
          <a:p>
            <a:pPr indent="0" marL="0">
              <a:buNone/>
            </a:pPr>
            <a:r>
              <a:rPr lang="en-US" sz="1100" b="1" dirty="0">
                <a:solidFill>
                  <a:srgbClr val="1D5C68"/>
                </a:solidFill>
                <a:latin typeface="Calibri" pitchFamily="34" charset="0"/>
                <a:ea typeface="Calibri" pitchFamily="34" charset="-122"/>
                <a:cs typeface="Calibri" pitchFamily="34" charset="-120"/>
              </a:rPr>
              <a:t>HOW THE HOP ACTUALLY RUNS</a:t>
            </a:r>
            <a:endParaRPr lang="en-US" sz="1100" dirty="0"/>
          </a:p>
        </p:txBody>
      </p:sp>
      <p:sp>
        <p:nvSpPr>
          <p:cNvPr id="4" name="Text 2"/>
          <p:cNvSpPr/>
          <p:nvPr/>
        </p:nvSpPr>
        <p:spPr>
          <a:xfrm>
            <a:off x="329184" y="347472"/>
            <a:ext cx="9144000" cy="310896"/>
          </a:xfrm>
          <a:prstGeom prst="rect">
            <a:avLst/>
          </a:prstGeom>
          <a:noFill/>
          <a:ln/>
        </p:spPr>
        <p:txBody>
          <a:bodyPr wrap="square" lIns="0" tIns="0" rIns="0" bIns="0" rtlCol="0" anchor="ctr"/>
          <a:lstStyle/>
          <a:p>
            <a:pPr indent="0" marL="0">
              <a:buNone/>
            </a:pPr>
            <a:r>
              <a:rPr lang="en-US" sz="2400" dirty="0">
                <a:solidFill>
                  <a:srgbClr val="0E1A24"/>
                </a:solidFill>
                <a:latin typeface="Georgia" pitchFamily="34" charset="0"/>
                <a:ea typeface="Georgia" pitchFamily="34" charset="-122"/>
                <a:cs typeface="Georgia" pitchFamily="34" charset="-120"/>
              </a:rPr>
              <a:t>Seven steps from the live Agents tab</a:t>
            </a:r>
            <a:endParaRPr lang="en-US" sz="2400" dirty="0"/>
          </a:p>
        </p:txBody>
      </p:sp>
      <p:sp>
        <p:nvSpPr>
          <p:cNvPr id="5" name="Text 3"/>
          <p:cNvSpPr/>
          <p:nvPr/>
        </p:nvSpPr>
        <p:spPr>
          <a:xfrm>
            <a:off x="329184" y="676656"/>
            <a:ext cx="9144000" cy="201168"/>
          </a:xfrm>
          <a:prstGeom prst="rect">
            <a:avLst/>
          </a:prstGeom>
          <a:noFill/>
          <a:ln/>
        </p:spPr>
        <p:txBody>
          <a:bodyPr wrap="square" lIns="0" tIns="0" rIns="0" bIns="0" rtlCol="0" anchor="ctr"/>
          <a:lstStyle/>
          <a:p>
            <a:pPr indent="0" marL="0">
              <a:buNone/>
            </a:pPr>
            <a:r>
              <a:rPr lang="en-US" sz="1200" dirty="0">
                <a:solidFill>
                  <a:srgbClr val="5C646C"/>
                </a:solidFill>
                <a:latin typeface="Calibri" pitchFamily="34" charset="0"/>
                <a:ea typeface="Calibri" pitchFamily="34" charset="-122"/>
                <a:cs typeface="Calibri" pitchFamily="34" charset="-120"/>
              </a:rPr>
              <a:t>Sequence the seller sees. Same order the graph writes in the node trace.</a:t>
            </a:r>
            <a:endParaRPr lang="en-US" sz="1200" dirty="0"/>
          </a:p>
        </p:txBody>
      </p:sp>
      <p:sp>
        <p:nvSpPr>
          <p:cNvPr id="6" name="Shape 4"/>
          <p:cNvSpPr/>
          <p:nvPr/>
        </p:nvSpPr>
        <p:spPr>
          <a:xfrm>
            <a:off x="256032" y="1005840"/>
            <a:ext cx="1627632" cy="2148840"/>
          </a:xfrm>
          <a:prstGeom prst="roundRect">
            <a:avLst>
              <a:gd name="adj" fmla="val 2809"/>
            </a:avLst>
          </a:prstGeom>
          <a:solidFill>
            <a:srgbClr val="FFFFFF"/>
          </a:solidFill>
          <a:ln w="12700">
            <a:solidFill>
              <a:srgbClr val="D7D2C8"/>
            </a:solidFill>
            <a:prstDash val="solid"/>
          </a:ln>
        </p:spPr>
      </p:sp>
      <p:sp>
        <p:nvSpPr>
          <p:cNvPr id="7" name="Shape 5"/>
          <p:cNvSpPr/>
          <p:nvPr/>
        </p:nvSpPr>
        <p:spPr>
          <a:xfrm>
            <a:off x="822960" y="1097280"/>
            <a:ext cx="438912" cy="438912"/>
          </a:xfrm>
          <a:prstGeom prst="ellipse">
            <a:avLst/>
          </a:prstGeom>
          <a:solidFill>
            <a:srgbClr val="1D5C68"/>
          </a:solidFill>
          <a:ln/>
        </p:spPr>
      </p:sp>
      <p:sp>
        <p:nvSpPr>
          <p:cNvPr id="8" name="Text 6"/>
          <p:cNvSpPr/>
          <p:nvPr/>
        </p:nvSpPr>
        <p:spPr>
          <a:xfrm>
            <a:off x="822960" y="1170432"/>
            <a:ext cx="438912" cy="310896"/>
          </a:xfrm>
          <a:prstGeom prst="rect">
            <a:avLst/>
          </a:prstGeom>
          <a:noFill/>
          <a:ln/>
        </p:spPr>
        <p:txBody>
          <a:bodyPr wrap="square" lIns="0" tIns="0" rIns="0" bIns="0" rtlCol="0" anchor="ctr"/>
          <a:lstStyle/>
          <a:p>
            <a:pPr algn="ctr" indent="0" marL="0">
              <a:buNone/>
            </a:pPr>
            <a:r>
              <a:rPr lang="en-US" sz="1600" b="1" dirty="0">
                <a:solidFill>
                  <a:srgbClr val="F4F0E8"/>
                </a:solidFill>
                <a:latin typeface="Calibri" pitchFamily="34" charset="0"/>
                <a:ea typeface="Calibri" pitchFamily="34" charset="-122"/>
                <a:cs typeface="Calibri" pitchFamily="34" charset="-120"/>
              </a:rPr>
              <a:t>1</a:t>
            </a:r>
            <a:endParaRPr lang="en-US" sz="1600" dirty="0"/>
          </a:p>
        </p:txBody>
      </p:sp>
      <p:sp>
        <p:nvSpPr>
          <p:cNvPr id="9" name="Text 7"/>
          <p:cNvSpPr/>
          <p:nvPr/>
        </p:nvSpPr>
        <p:spPr>
          <a:xfrm>
            <a:off x="329184" y="1591056"/>
            <a:ext cx="1481328" cy="256032"/>
          </a:xfrm>
          <a:prstGeom prst="rect">
            <a:avLst/>
          </a:prstGeom>
          <a:noFill/>
          <a:ln/>
        </p:spPr>
        <p:txBody>
          <a:bodyPr wrap="square" lIns="0" tIns="0" rIns="0" bIns="0" rtlCol="0" anchor="ctr"/>
          <a:lstStyle/>
          <a:p>
            <a:pPr algn="ctr" indent="0" marL="0">
              <a:buNone/>
            </a:pPr>
            <a:r>
              <a:rPr lang="en-US" sz="1200" b="1" dirty="0">
                <a:solidFill>
                  <a:srgbClr val="0E1A24"/>
                </a:solidFill>
                <a:latin typeface="Calibri" pitchFamily="34" charset="0"/>
                <a:ea typeface="Calibri" pitchFamily="34" charset="-122"/>
                <a:cs typeface="Calibri" pitchFamily="34" charset="-120"/>
              </a:rPr>
              <a:t>Seller</a:t>
            </a:r>
            <a:endParaRPr lang="en-US" sz="1200" dirty="0"/>
          </a:p>
        </p:txBody>
      </p:sp>
      <p:sp>
        <p:nvSpPr>
          <p:cNvPr id="10" name="Text 8"/>
          <p:cNvSpPr/>
          <p:nvPr/>
        </p:nvSpPr>
        <p:spPr>
          <a:xfrm>
            <a:off x="329184" y="1883664"/>
            <a:ext cx="1481328" cy="1143000"/>
          </a:xfrm>
          <a:prstGeom prst="rect">
            <a:avLst/>
          </a:prstGeom>
          <a:noFill/>
          <a:ln/>
        </p:spPr>
        <p:txBody>
          <a:bodyPr wrap="square" lIns="0" tIns="0" rIns="0" bIns="0" rtlCol="0" anchor="ctr"/>
          <a:lstStyle/>
          <a:p>
            <a:pPr algn="ctr" indent="0" marL="0">
              <a:buNone/>
            </a:pPr>
            <a:r>
              <a:rPr lang="en-US" sz="1100" dirty="0">
                <a:solidFill>
                  <a:srgbClr val="141416"/>
                </a:solidFill>
                <a:latin typeface="Calibri" pitchFamily="34" charset="0"/>
                <a:ea typeface="Calibri" pitchFamily="34" charset="-122"/>
                <a:cs typeface="Calibri" pitchFamily="34" charset="-120"/>
              </a:rPr>
              <a:t>Quote is still a draft. No agent has started. Jordan Lee owns Q-2026-1001.</a:t>
            </a:r>
            <a:endParaRPr lang="en-US" sz="1100" dirty="0"/>
          </a:p>
        </p:txBody>
      </p:sp>
      <p:sp>
        <p:nvSpPr>
          <p:cNvPr id="11" name="Shape 9"/>
          <p:cNvSpPr/>
          <p:nvPr/>
        </p:nvSpPr>
        <p:spPr>
          <a:xfrm>
            <a:off x="1956816" y="1005840"/>
            <a:ext cx="1627632" cy="2148840"/>
          </a:xfrm>
          <a:prstGeom prst="roundRect">
            <a:avLst>
              <a:gd name="adj" fmla="val 2809"/>
            </a:avLst>
          </a:prstGeom>
          <a:solidFill>
            <a:srgbClr val="FFFFFF"/>
          </a:solidFill>
          <a:ln w="12700">
            <a:solidFill>
              <a:srgbClr val="D7D2C8"/>
            </a:solidFill>
            <a:prstDash val="solid"/>
          </a:ln>
        </p:spPr>
      </p:sp>
      <p:sp>
        <p:nvSpPr>
          <p:cNvPr id="12" name="Shape 10"/>
          <p:cNvSpPr/>
          <p:nvPr/>
        </p:nvSpPr>
        <p:spPr>
          <a:xfrm>
            <a:off x="2523744" y="1097280"/>
            <a:ext cx="438912" cy="438912"/>
          </a:xfrm>
          <a:prstGeom prst="ellipse">
            <a:avLst/>
          </a:prstGeom>
          <a:solidFill>
            <a:srgbClr val="1D5C68"/>
          </a:solidFill>
          <a:ln/>
        </p:spPr>
      </p:sp>
      <p:sp>
        <p:nvSpPr>
          <p:cNvPr id="13" name="Text 11"/>
          <p:cNvSpPr/>
          <p:nvPr/>
        </p:nvSpPr>
        <p:spPr>
          <a:xfrm>
            <a:off x="2523744" y="1170432"/>
            <a:ext cx="438912" cy="310896"/>
          </a:xfrm>
          <a:prstGeom prst="rect">
            <a:avLst/>
          </a:prstGeom>
          <a:noFill/>
          <a:ln/>
        </p:spPr>
        <p:txBody>
          <a:bodyPr wrap="square" lIns="0" tIns="0" rIns="0" bIns="0" rtlCol="0" anchor="ctr"/>
          <a:lstStyle/>
          <a:p>
            <a:pPr algn="ctr" indent="0" marL="0">
              <a:buNone/>
            </a:pPr>
            <a:r>
              <a:rPr lang="en-US" sz="1600" b="1" dirty="0">
                <a:solidFill>
                  <a:srgbClr val="F4F0E8"/>
                </a:solidFill>
                <a:latin typeface="Calibri" pitchFamily="34" charset="0"/>
                <a:ea typeface="Calibri" pitchFamily="34" charset="-122"/>
                <a:cs typeface="Calibri" pitchFamily="34" charset="-120"/>
              </a:rPr>
              <a:t>2</a:t>
            </a:r>
            <a:endParaRPr lang="en-US" sz="1600" dirty="0"/>
          </a:p>
        </p:txBody>
      </p:sp>
      <p:sp>
        <p:nvSpPr>
          <p:cNvPr id="14" name="Text 12"/>
          <p:cNvSpPr/>
          <p:nvPr/>
        </p:nvSpPr>
        <p:spPr>
          <a:xfrm>
            <a:off x="2029968" y="1591056"/>
            <a:ext cx="1481328" cy="256032"/>
          </a:xfrm>
          <a:prstGeom prst="rect">
            <a:avLst/>
          </a:prstGeom>
          <a:noFill/>
          <a:ln/>
        </p:spPr>
        <p:txBody>
          <a:bodyPr wrap="square" lIns="0" tIns="0" rIns="0" bIns="0" rtlCol="0" anchor="ctr"/>
          <a:lstStyle/>
          <a:p>
            <a:pPr algn="ctr" indent="0" marL="0">
              <a:buNone/>
            </a:pPr>
            <a:r>
              <a:rPr lang="en-US" sz="1200" b="1" dirty="0">
                <a:solidFill>
                  <a:srgbClr val="0E1A24"/>
                </a:solidFill>
                <a:latin typeface="Calibri" pitchFamily="34" charset="0"/>
                <a:ea typeface="Calibri" pitchFamily="34" charset="-122"/>
                <a:cs typeface="Calibri" pitchFamily="34" charset="-120"/>
              </a:rPr>
              <a:t>Orchestrator</a:t>
            </a:r>
            <a:endParaRPr lang="en-US" sz="1200" dirty="0"/>
          </a:p>
        </p:txBody>
      </p:sp>
      <p:sp>
        <p:nvSpPr>
          <p:cNvPr id="15" name="Text 13"/>
          <p:cNvSpPr/>
          <p:nvPr/>
        </p:nvSpPr>
        <p:spPr>
          <a:xfrm>
            <a:off x="2029968" y="1883664"/>
            <a:ext cx="1481328" cy="1143000"/>
          </a:xfrm>
          <a:prstGeom prst="rect">
            <a:avLst/>
          </a:prstGeom>
          <a:noFill/>
          <a:ln/>
        </p:spPr>
        <p:txBody>
          <a:bodyPr wrap="square" lIns="0" tIns="0" rIns="0" bIns="0" rtlCol="0" anchor="ctr"/>
          <a:lstStyle/>
          <a:p>
            <a:pPr algn="ctr" indent="0" marL="0">
              <a:buNone/>
            </a:pPr>
            <a:r>
              <a:rPr lang="en-US" sz="1100" dirty="0">
                <a:solidFill>
                  <a:srgbClr val="141416"/>
                </a:solidFill>
                <a:latin typeface="Calibri" pitchFamily="34" charset="0"/>
                <a:ea typeface="Calibri" pitchFamily="34" charset="-122"/>
                <a:cs typeface="Calibri" pitchFamily="34" charset="-120"/>
              </a:rPr>
              <a:t>Submit opens the hop. Notes are scanned and not obeyed.</a:t>
            </a:r>
            <a:endParaRPr lang="en-US" sz="1100" dirty="0"/>
          </a:p>
        </p:txBody>
      </p:sp>
      <p:sp>
        <p:nvSpPr>
          <p:cNvPr id="16" name="Shape 14"/>
          <p:cNvSpPr/>
          <p:nvPr/>
        </p:nvSpPr>
        <p:spPr>
          <a:xfrm>
            <a:off x="3657600" y="1005840"/>
            <a:ext cx="1627632" cy="2148840"/>
          </a:xfrm>
          <a:prstGeom prst="roundRect">
            <a:avLst>
              <a:gd name="adj" fmla="val 2809"/>
            </a:avLst>
          </a:prstGeom>
          <a:solidFill>
            <a:srgbClr val="FFFFFF"/>
          </a:solidFill>
          <a:ln w="12700">
            <a:solidFill>
              <a:srgbClr val="D7D2C8"/>
            </a:solidFill>
            <a:prstDash val="solid"/>
          </a:ln>
        </p:spPr>
      </p:sp>
      <p:sp>
        <p:nvSpPr>
          <p:cNvPr id="17" name="Shape 15"/>
          <p:cNvSpPr/>
          <p:nvPr/>
        </p:nvSpPr>
        <p:spPr>
          <a:xfrm>
            <a:off x="4224528" y="1097280"/>
            <a:ext cx="438912" cy="438912"/>
          </a:xfrm>
          <a:prstGeom prst="ellipse">
            <a:avLst/>
          </a:prstGeom>
          <a:solidFill>
            <a:srgbClr val="1D5C68"/>
          </a:solidFill>
          <a:ln/>
        </p:spPr>
      </p:sp>
      <p:sp>
        <p:nvSpPr>
          <p:cNvPr id="18" name="Text 16"/>
          <p:cNvSpPr/>
          <p:nvPr/>
        </p:nvSpPr>
        <p:spPr>
          <a:xfrm>
            <a:off x="4224528" y="1170432"/>
            <a:ext cx="438912" cy="310896"/>
          </a:xfrm>
          <a:prstGeom prst="rect">
            <a:avLst/>
          </a:prstGeom>
          <a:noFill/>
          <a:ln/>
        </p:spPr>
        <p:txBody>
          <a:bodyPr wrap="square" lIns="0" tIns="0" rIns="0" bIns="0" rtlCol="0" anchor="ctr"/>
          <a:lstStyle/>
          <a:p>
            <a:pPr algn="ctr" indent="0" marL="0">
              <a:buNone/>
            </a:pPr>
            <a:r>
              <a:rPr lang="en-US" sz="1600" b="1" dirty="0">
                <a:solidFill>
                  <a:srgbClr val="F4F0E8"/>
                </a:solidFill>
                <a:latin typeface="Calibri" pitchFamily="34" charset="0"/>
                <a:ea typeface="Calibri" pitchFamily="34" charset="-122"/>
                <a:cs typeface="Calibri" pitchFamily="34" charset="-120"/>
              </a:rPr>
              <a:t>3</a:t>
            </a:r>
            <a:endParaRPr lang="en-US" sz="1600" dirty="0"/>
          </a:p>
        </p:txBody>
      </p:sp>
      <p:sp>
        <p:nvSpPr>
          <p:cNvPr id="19" name="Text 17"/>
          <p:cNvSpPr/>
          <p:nvPr/>
        </p:nvSpPr>
        <p:spPr>
          <a:xfrm>
            <a:off x="3730752" y="1591056"/>
            <a:ext cx="1481328" cy="256032"/>
          </a:xfrm>
          <a:prstGeom prst="rect">
            <a:avLst/>
          </a:prstGeom>
          <a:noFill/>
          <a:ln/>
        </p:spPr>
        <p:txBody>
          <a:bodyPr wrap="square" lIns="0" tIns="0" rIns="0" bIns="0" rtlCol="0" anchor="ctr"/>
          <a:lstStyle/>
          <a:p>
            <a:pPr algn="ctr" indent="0" marL="0">
              <a:buNone/>
            </a:pPr>
            <a:r>
              <a:rPr lang="en-US" sz="1200" b="1" dirty="0">
                <a:solidFill>
                  <a:srgbClr val="0E1A24"/>
                </a:solidFill>
                <a:latin typeface="Calibri" pitchFamily="34" charset="0"/>
                <a:ea typeface="Calibri" pitchFamily="34" charset="-122"/>
                <a:cs typeface="Calibri" pitchFamily="34" charset="-120"/>
              </a:rPr>
              <a:t>Discount</a:t>
            </a:r>
            <a:endParaRPr lang="en-US" sz="1200" dirty="0"/>
          </a:p>
        </p:txBody>
      </p:sp>
      <p:sp>
        <p:nvSpPr>
          <p:cNvPr id="20" name="Text 18"/>
          <p:cNvSpPr/>
          <p:nvPr/>
        </p:nvSpPr>
        <p:spPr>
          <a:xfrm>
            <a:off x="3730752" y="1883664"/>
            <a:ext cx="1481328" cy="1143000"/>
          </a:xfrm>
          <a:prstGeom prst="rect">
            <a:avLst/>
          </a:prstGeom>
          <a:noFill/>
          <a:ln/>
        </p:spPr>
        <p:txBody>
          <a:bodyPr wrap="square" lIns="0" tIns="0" rIns="0" bIns="0" rtlCol="0" anchor="ctr"/>
          <a:lstStyle/>
          <a:p>
            <a:pPr algn="ctr" indent="0" marL="0">
              <a:buNone/>
            </a:pPr>
            <a:r>
              <a:rPr lang="en-US" sz="1100" dirty="0">
                <a:solidFill>
                  <a:srgbClr val="141416"/>
                </a:solidFill>
                <a:latin typeface="Calibri" pitchFamily="34" charset="0"/>
                <a:ea typeface="Calibri" pitchFamily="34" charset="-122"/>
                <a:cs typeface="Calibri" pitchFamily="34" charset="-120"/>
              </a:rPr>
              <a:t>Reads DISC-POL and the account file. Writes one label.</a:t>
            </a:r>
            <a:endParaRPr lang="en-US" sz="1100" dirty="0"/>
          </a:p>
        </p:txBody>
      </p:sp>
      <p:sp>
        <p:nvSpPr>
          <p:cNvPr id="21" name="Shape 19"/>
          <p:cNvSpPr/>
          <p:nvPr/>
        </p:nvSpPr>
        <p:spPr>
          <a:xfrm>
            <a:off x="5358384" y="1005840"/>
            <a:ext cx="1627632" cy="2148840"/>
          </a:xfrm>
          <a:prstGeom prst="roundRect">
            <a:avLst>
              <a:gd name="adj" fmla="val 2809"/>
            </a:avLst>
          </a:prstGeom>
          <a:solidFill>
            <a:srgbClr val="FFFFFF"/>
          </a:solidFill>
          <a:ln w="12700">
            <a:solidFill>
              <a:srgbClr val="D7D2C8"/>
            </a:solidFill>
            <a:prstDash val="solid"/>
          </a:ln>
        </p:spPr>
      </p:sp>
      <p:sp>
        <p:nvSpPr>
          <p:cNvPr id="22" name="Shape 20"/>
          <p:cNvSpPr/>
          <p:nvPr/>
        </p:nvSpPr>
        <p:spPr>
          <a:xfrm>
            <a:off x="5925312" y="1097280"/>
            <a:ext cx="438912" cy="438912"/>
          </a:xfrm>
          <a:prstGeom prst="ellipse">
            <a:avLst/>
          </a:prstGeom>
          <a:solidFill>
            <a:srgbClr val="1D5C68"/>
          </a:solidFill>
          <a:ln/>
        </p:spPr>
      </p:sp>
      <p:sp>
        <p:nvSpPr>
          <p:cNvPr id="23" name="Text 21"/>
          <p:cNvSpPr/>
          <p:nvPr/>
        </p:nvSpPr>
        <p:spPr>
          <a:xfrm>
            <a:off x="5925312" y="1170432"/>
            <a:ext cx="438912" cy="310896"/>
          </a:xfrm>
          <a:prstGeom prst="rect">
            <a:avLst/>
          </a:prstGeom>
          <a:noFill/>
          <a:ln/>
        </p:spPr>
        <p:txBody>
          <a:bodyPr wrap="square" lIns="0" tIns="0" rIns="0" bIns="0" rtlCol="0" anchor="ctr"/>
          <a:lstStyle/>
          <a:p>
            <a:pPr algn="ctr" indent="0" marL="0">
              <a:buNone/>
            </a:pPr>
            <a:r>
              <a:rPr lang="en-US" sz="1600" b="1" dirty="0">
                <a:solidFill>
                  <a:srgbClr val="F4F0E8"/>
                </a:solidFill>
                <a:latin typeface="Calibri" pitchFamily="34" charset="0"/>
                <a:ea typeface="Calibri" pitchFamily="34" charset="-122"/>
                <a:cs typeface="Calibri" pitchFamily="34" charset="-120"/>
              </a:rPr>
              <a:t>4</a:t>
            </a:r>
            <a:endParaRPr lang="en-US" sz="1600" dirty="0"/>
          </a:p>
        </p:txBody>
      </p:sp>
      <p:sp>
        <p:nvSpPr>
          <p:cNvPr id="24" name="Text 22"/>
          <p:cNvSpPr/>
          <p:nvPr/>
        </p:nvSpPr>
        <p:spPr>
          <a:xfrm>
            <a:off x="5431536" y="1591056"/>
            <a:ext cx="1481328" cy="256032"/>
          </a:xfrm>
          <a:prstGeom prst="rect">
            <a:avLst/>
          </a:prstGeom>
          <a:noFill/>
          <a:ln/>
        </p:spPr>
        <p:txBody>
          <a:bodyPr wrap="square" lIns="0" tIns="0" rIns="0" bIns="0" rtlCol="0" anchor="ctr"/>
          <a:lstStyle/>
          <a:p>
            <a:pPr algn="ctr" indent="0" marL="0">
              <a:buNone/>
            </a:pPr>
            <a:r>
              <a:rPr lang="en-US" sz="1200" b="1" dirty="0">
                <a:solidFill>
                  <a:srgbClr val="0E1A24"/>
                </a:solidFill>
                <a:latin typeface="Calibri" pitchFamily="34" charset="0"/>
                <a:ea typeface="Calibri" pitchFamily="34" charset="-122"/>
                <a:cs typeface="Calibri" pitchFamily="34" charset="-120"/>
              </a:rPr>
              <a:t>Payment</a:t>
            </a:r>
            <a:endParaRPr lang="en-US" sz="1200" dirty="0"/>
          </a:p>
        </p:txBody>
      </p:sp>
      <p:sp>
        <p:nvSpPr>
          <p:cNvPr id="25" name="Text 23"/>
          <p:cNvSpPr/>
          <p:nvPr/>
        </p:nvSpPr>
        <p:spPr>
          <a:xfrm>
            <a:off x="5431536" y="1883664"/>
            <a:ext cx="1481328" cy="1143000"/>
          </a:xfrm>
          <a:prstGeom prst="rect">
            <a:avLst/>
          </a:prstGeom>
          <a:noFill/>
          <a:ln/>
        </p:spPr>
        <p:txBody>
          <a:bodyPr wrap="square" lIns="0" tIns="0" rIns="0" bIns="0" rtlCol="0" anchor="ctr"/>
          <a:lstStyle/>
          <a:p>
            <a:pPr algn="ctr" indent="0" marL="0">
              <a:buNone/>
            </a:pPr>
            <a:r>
              <a:rPr lang="en-US" sz="1100" dirty="0">
                <a:solidFill>
                  <a:srgbClr val="141416"/>
                </a:solidFill>
                <a:latin typeface="Calibri" pitchFamily="34" charset="0"/>
                <a:ea typeface="Calibri" pitchFamily="34" charset="-122"/>
                <a:cs typeface="Calibri" pitchFamily="34" charset="-120"/>
              </a:rPr>
              <a:t>Reads PAY-POL and dues. Writes one label.</a:t>
            </a:r>
            <a:endParaRPr lang="en-US" sz="1100" dirty="0"/>
          </a:p>
        </p:txBody>
      </p:sp>
      <p:sp>
        <p:nvSpPr>
          <p:cNvPr id="26" name="Shape 24"/>
          <p:cNvSpPr/>
          <p:nvPr/>
        </p:nvSpPr>
        <p:spPr>
          <a:xfrm>
            <a:off x="7059168" y="1005840"/>
            <a:ext cx="1627632" cy="2148840"/>
          </a:xfrm>
          <a:prstGeom prst="roundRect">
            <a:avLst>
              <a:gd name="adj" fmla="val 2809"/>
            </a:avLst>
          </a:prstGeom>
          <a:solidFill>
            <a:srgbClr val="FFFFFF"/>
          </a:solidFill>
          <a:ln w="12700">
            <a:solidFill>
              <a:srgbClr val="D7D2C8"/>
            </a:solidFill>
            <a:prstDash val="solid"/>
          </a:ln>
        </p:spPr>
      </p:sp>
      <p:sp>
        <p:nvSpPr>
          <p:cNvPr id="27" name="Shape 25"/>
          <p:cNvSpPr/>
          <p:nvPr/>
        </p:nvSpPr>
        <p:spPr>
          <a:xfrm>
            <a:off x="7626096" y="1097280"/>
            <a:ext cx="438912" cy="438912"/>
          </a:xfrm>
          <a:prstGeom prst="ellipse">
            <a:avLst/>
          </a:prstGeom>
          <a:solidFill>
            <a:srgbClr val="1D5C68"/>
          </a:solidFill>
          <a:ln/>
        </p:spPr>
      </p:sp>
      <p:sp>
        <p:nvSpPr>
          <p:cNvPr id="28" name="Text 26"/>
          <p:cNvSpPr/>
          <p:nvPr/>
        </p:nvSpPr>
        <p:spPr>
          <a:xfrm>
            <a:off x="7626096" y="1170432"/>
            <a:ext cx="438912" cy="310896"/>
          </a:xfrm>
          <a:prstGeom prst="rect">
            <a:avLst/>
          </a:prstGeom>
          <a:noFill/>
          <a:ln/>
        </p:spPr>
        <p:txBody>
          <a:bodyPr wrap="square" lIns="0" tIns="0" rIns="0" bIns="0" rtlCol="0" anchor="ctr"/>
          <a:lstStyle/>
          <a:p>
            <a:pPr algn="ctr" indent="0" marL="0">
              <a:buNone/>
            </a:pPr>
            <a:r>
              <a:rPr lang="en-US" sz="1600" b="1" dirty="0">
                <a:solidFill>
                  <a:srgbClr val="F4F0E8"/>
                </a:solidFill>
                <a:latin typeface="Calibri" pitchFamily="34" charset="0"/>
                <a:ea typeface="Calibri" pitchFamily="34" charset="-122"/>
                <a:cs typeface="Calibri" pitchFamily="34" charset="-120"/>
              </a:rPr>
              <a:t>5</a:t>
            </a:r>
            <a:endParaRPr lang="en-US" sz="1600" dirty="0"/>
          </a:p>
        </p:txBody>
      </p:sp>
      <p:sp>
        <p:nvSpPr>
          <p:cNvPr id="29" name="Text 27"/>
          <p:cNvSpPr/>
          <p:nvPr/>
        </p:nvSpPr>
        <p:spPr>
          <a:xfrm>
            <a:off x="7132320" y="1591056"/>
            <a:ext cx="1481328" cy="256032"/>
          </a:xfrm>
          <a:prstGeom prst="rect">
            <a:avLst/>
          </a:prstGeom>
          <a:noFill/>
          <a:ln/>
        </p:spPr>
        <p:txBody>
          <a:bodyPr wrap="square" lIns="0" tIns="0" rIns="0" bIns="0" rtlCol="0" anchor="ctr"/>
          <a:lstStyle/>
          <a:p>
            <a:pPr algn="ctr" indent="0" marL="0">
              <a:buNone/>
            </a:pPr>
            <a:r>
              <a:rPr lang="en-US" sz="1200" b="1" dirty="0">
                <a:solidFill>
                  <a:srgbClr val="0E1A24"/>
                </a:solidFill>
                <a:latin typeface="Calibri" pitchFamily="34" charset="0"/>
                <a:ea typeface="Calibri" pitchFamily="34" charset="-122"/>
                <a:cs typeface="Calibri" pitchFamily="34" charset="-120"/>
              </a:rPr>
              <a:t>Combine</a:t>
            </a:r>
            <a:endParaRPr lang="en-US" sz="1200" dirty="0"/>
          </a:p>
        </p:txBody>
      </p:sp>
      <p:sp>
        <p:nvSpPr>
          <p:cNvPr id="30" name="Text 28"/>
          <p:cNvSpPr/>
          <p:nvPr/>
        </p:nvSpPr>
        <p:spPr>
          <a:xfrm>
            <a:off x="7132320" y="1883664"/>
            <a:ext cx="1481328" cy="1143000"/>
          </a:xfrm>
          <a:prstGeom prst="rect">
            <a:avLst/>
          </a:prstGeom>
          <a:noFill/>
          <a:ln/>
        </p:spPr>
        <p:txBody>
          <a:bodyPr wrap="square" lIns="0" tIns="0" rIns="0" bIns="0" rtlCol="0" anchor="ctr"/>
          <a:lstStyle/>
          <a:p>
            <a:pPr algn="ctr" indent="0" marL="0">
              <a:buNone/>
            </a:pPr>
            <a:r>
              <a:rPr lang="en-US" sz="1100" dirty="0">
                <a:solidFill>
                  <a:srgbClr val="141416"/>
                </a:solidFill>
                <a:latin typeface="Calibri" pitchFamily="34" charset="0"/>
                <a:ea typeface="Calibri" pitchFamily="34" charset="-122"/>
                <a:cs typeface="Calibri" pitchFamily="34" charset="-120"/>
              </a:rPr>
              <a:t>Reject beats Escalate. Escalate beats Approve.</a:t>
            </a:r>
            <a:endParaRPr lang="en-US" sz="1100" dirty="0"/>
          </a:p>
        </p:txBody>
      </p:sp>
      <p:sp>
        <p:nvSpPr>
          <p:cNvPr id="31" name="Shape 29"/>
          <p:cNvSpPr/>
          <p:nvPr/>
        </p:nvSpPr>
        <p:spPr>
          <a:xfrm>
            <a:off x="8759952" y="1005840"/>
            <a:ext cx="1627632" cy="2148840"/>
          </a:xfrm>
          <a:prstGeom prst="roundRect">
            <a:avLst>
              <a:gd name="adj" fmla="val 2809"/>
            </a:avLst>
          </a:prstGeom>
          <a:solidFill>
            <a:srgbClr val="FFFFFF"/>
          </a:solidFill>
          <a:ln w="12700">
            <a:solidFill>
              <a:srgbClr val="D7D2C8"/>
            </a:solidFill>
            <a:prstDash val="solid"/>
          </a:ln>
        </p:spPr>
      </p:sp>
      <p:sp>
        <p:nvSpPr>
          <p:cNvPr id="32" name="Shape 30"/>
          <p:cNvSpPr/>
          <p:nvPr/>
        </p:nvSpPr>
        <p:spPr>
          <a:xfrm>
            <a:off x="9326880" y="1097280"/>
            <a:ext cx="438912" cy="438912"/>
          </a:xfrm>
          <a:prstGeom prst="ellipse">
            <a:avLst/>
          </a:prstGeom>
          <a:solidFill>
            <a:srgbClr val="1D5C68"/>
          </a:solidFill>
          <a:ln/>
        </p:spPr>
      </p:sp>
      <p:sp>
        <p:nvSpPr>
          <p:cNvPr id="33" name="Text 31"/>
          <p:cNvSpPr/>
          <p:nvPr/>
        </p:nvSpPr>
        <p:spPr>
          <a:xfrm>
            <a:off x="9326880" y="1170432"/>
            <a:ext cx="438912" cy="310896"/>
          </a:xfrm>
          <a:prstGeom prst="rect">
            <a:avLst/>
          </a:prstGeom>
          <a:noFill/>
          <a:ln/>
        </p:spPr>
        <p:txBody>
          <a:bodyPr wrap="square" lIns="0" tIns="0" rIns="0" bIns="0" rtlCol="0" anchor="ctr"/>
          <a:lstStyle/>
          <a:p>
            <a:pPr algn="ctr" indent="0" marL="0">
              <a:buNone/>
            </a:pPr>
            <a:r>
              <a:rPr lang="en-US" sz="1600" b="1" dirty="0">
                <a:solidFill>
                  <a:srgbClr val="F4F0E8"/>
                </a:solidFill>
                <a:latin typeface="Calibri" pitchFamily="34" charset="0"/>
                <a:ea typeface="Calibri" pitchFamily="34" charset="-122"/>
                <a:cs typeface="Calibri" pitchFamily="34" charset="-120"/>
              </a:rPr>
              <a:t>6</a:t>
            </a:r>
            <a:endParaRPr lang="en-US" sz="1600" dirty="0"/>
          </a:p>
        </p:txBody>
      </p:sp>
      <p:sp>
        <p:nvSpPr>
          <p:cNvPr id="34" name="Text 32"/>
          <p:cNvSpPr/>
          <p:nvPr/>
        </p:nvSpPr>
        <p:spPr>
          <a:xfrm>
            <a:off x="8833104" y="1591056"/>
            <a:ext cx="1481328" cy="256032"/>
          </a:xfrm>
          <a:prstGeom prst="rect">
            <a:avLst/>
          </a:prstGeom>
          <a:noFill/>
          <a:ln/>
        </p:spPr>
        <p:txBody>
          <a:bodyPr wrap="square" lIns="0" tIns="0" rIns="0" bIns="0" rtlCol="0" anchor="ctr"/>
          <a:lstStyle/>
          <a:p>
            <a:pPr algn="ctr" indent="0" marL="0">
              <a:buNone/>
            </a:pPr>
            <a:r>
              <a:rPr lang="en-US" sz="1200" b="1" dirty="0">
                <a:solidFill>
                  <a:srgbClr val="0E1A24"/>
                </a:solidFill>
                <a:latin typeface="Calibri" pitchFamily="34" charset="0"/>
                <a:ea typeface="Calibri" pitchFamily="34" charset="-122"/>
                <a:cs typeface="Calibri" pitchFamily="34" charset="-120"/>
              </a:rPr>
              <a:t>Guardrail</a:t>
            </a:r>
            <a:endParaRPr lang="en-US" sz="1200" dirty="0"/>
          </a:p>
        </p:txBody>
      </p:sp>
      <p:sp>
        <p:nvSpPr>
          <p:cNvPr id="35" name="Text 33"/>
          <p:cNvSpPr/>
          <p:nvPr/>
        </p:nvSpPr>
        <p:spPr>
          <a:xfrm>
            <a:off x="8833104" y="1883664"/>
            <a:ext cx="1481328" cy="1143000"/>
          </a:xfrm>
          <a:prstGeom prst="rect">
            <a:avLst/>
          </a:prstGeom>
          <a:noFill/>
          <a:ln/>
        </p:spPr>
        <p:txBody>
          <a:bodyPr wrap="square" lIns="0" tIns="0" rIns="0" bIns="0" rtlCol="0" anchor="ctr"/>
          <a:lstStyle/>
          <a:p>
            <a:pPr algn="ctr" indent="0" marL="0">
              <a:buNone/>
            </a:pPr>
            <a:r>
              <a:rPr lang="en-US" sz="1100" dirty="0">
                <a:solidFill>
                  <a:srgbClr val="141416"/>
                </a:solidFill>
                <a:latin typeface="Calibri" pitchFamily="34" charset="0"/>
                <a:ea typeface="Calibri" pitchFamily="34" charset="-122"/>
                <a:cs typeface="Calibri" pitchFamily="34" charset="-120"/>
              </a:rPr>
              <a:t>A note cannot force Approve. No citation forces a hold.</a:t>
            </a:r>
            <a:endParaRPr lang="en-US" sz="1100" dirty="0"/>
          </a:p>
        </p:txBody>
      </p:sp>
      <p:sp>
        <p:nvSpPr>
          <p:cNvPr id="36" name="Shape 34"/>
          <p:cNvSpPr/>
          <p:nvPr/>
        </p:nvSpPr>
        <p:spPr>
          <a:xfrm>
            <a:off x="10460736" y="1005840"/>
            <a:ext cx="1627632" cy="2148840"/>
          </a:xfrm>
          <a:prstGeom prst="roundRect">
            <a:avLst>
              <a:gd name="adj" fmla="val 2809"/>
            </a:avLst>
          </a:prstGeom>
          <a:solidFill>
            <a:srgbClr val="FFFFFF"/>
          </a:solidFill>
          <a:ln w="12700">
            <a:solidFill>
              <a:srgbClr val="D7D2C8"/>
            </a:solidFill>
            <a:prstDash val="solid"/>
          </a:ln>
        </p:spPr>
      </p:sp>
      <p:sp>
        <p:nvSpPr>
          <p:cNvPr id="37" name="Shape 35"/>
          <p:cNvSpPr/>
          <p:nvPr/>
        </p:nvSpPr>
        <p:spPr>
          <a:xfrm>
            <a:off x="11027664" y="1097280"/>
            <a:ext cx="438912" cy="438912"/>
          </a:xfrm>
          <a:prstGeom prst="ellipse">
            <a:avLst/>
          </a:prstGeom>
          <a:solidFill>
            <a:srgbClr val="1D5C68"/>
          </a:solidFill>
          <a:ln/>
        </p:spPr>
      </p:sp>
      <p:sp>
        <p:nvSpPr>
          <p:cNvPr id="38" name="Text 36"/>
          <p:cNvSpPr/>
          <p:nvPr/>
        </p:nvSpPr>
        <p:spPr>
          <a:xfrm>
            <a:off x="11027664" y="1170432"/>
            <a:ext cx="438912" cy="310896"/>
          </a:xfrm>
          <a:prstGeom prst="rect">
            <a:avLst/>
          </a:prstGeom>
          <a:noFill/>
          <a:ln/>
        </p:spPr>
        <p:txBody>
          <a:bodyPr wrap="square" lIns="0" tIns="0" rIns="0" bIns="0" rtlCol="0" anchor="ctr"/>
          <a:lstStyle/>
          <a:p>
            <a:pPr algn="ctr" indent="0" marL="0">
              <a:buNone/>
            </a:pPr>
            <a:r>
              <a:rPr lang="en-US" sz="1600" b="1" dirty="0">
                <a:solidFill>
                  <a:srgbClr val="F4F0E8"/>
                </a:solidFill>
                <a:latin typeface="Calibri" pitchFamily="34" charset="0"/>
                <a:ea typeface="Calibri" pitchFamily="34" charset="-122"/>
                <a:cs typeface="Calibri" pitchFamily="34" charset="-120"/>
              </a:rPr>
              <a:t>7</a:t>
            </a:r>
            <a:endParaRPr lang="en-US" sz="1600" dirty="0"/>
          </a:p>
        </p:txBody>
      </p:sp>
      <p:sp>
        <p:nvSpPr>
          <p:cNvPr id="39" name="Text 37"/>
          <p:cNvSpPr/>
          <p:nvPr/>
        </p:nvSpPr>
        <p:spPr>
          <a:xfrm>
            <a:off x="10533888" y="1591056"/>
            <a:ext cx="1481328" cy="256032"/>
          </a:xfrm>
          <a:prstGeom prst="rect">
            <a:avLst/>
          </a:prstGeom>
          <a:noFill/>
          <a:ln/>
        </p:spPr>
        <p:txBody>
          <a:bodyPr wrap="square" lIns="0" tIns="0" rIns="0" bIns="0" rtlCol="0" anchor="ctr"/>
          <a:lstStyle/>
          <a:p>
            <a:pPr algn="ctr" indent="0" marL="0">
              <a:buNone/>
            </a:pPr>
            <a:r>
              <a:rPr lang="en-US" sz="1200" b="1" dirty="0">
                <a:solidFill>
                  <a:srgbClr val="0E1A24"/>
                </a:solidFill>
                <a:latin typeface="Calibri" pitchFamily="34" charset="0"/>
                <a:ea typeface="Calibri" pitchFamily="34" charset="-122"/>
                <a:cs typeface="Calibri" pitchFamily="34" charset="-120"/>
              </a:rPr>
              <a:t>Write-back</a:t>
            </a:r>
            <a:endParaRPr lang="en-US" sz="1200" dirty="0"/>
          </a:p>
        </p:txBody>
      </p:sp>
      <p:sp>
        <p:nvSpPr>
          <p:cNvPr id="40" name="Text 38"/>
          <p:cNvSpPr/>
          <p:nvPr/>
        </p:nvSpPr>
        <p:spPr>
          <a:xfrm>
            <a:off x="10533888" y="1883664"/>
            <a:ext cx="1481328" cy="1143000"/>
          </a:xfrm>
          <a:prstGeom prst="rect">
            <a:avLst/>
          </a:prstGeom>
          <a:noFill/>
          <a:ln/>
        </p:spPr>
        <p:txBody>
          <a:bodyPr wrap="square" lIns="0" tIns="0" rIns="0" bIns="0" rtlCol="0" anchor="ctr"/>
          <a:lstStyle/>
          <a:p>
            <a:pPr algn="ctr" indent="0" marL="0">
              <a:buNone/>
            </a:pPr>
            <a:r>
              <a:rPr lang="en-US" sz="1100" dirty="0">
                <a:solidFill>
                  <a:srgbClr val="141416"/>
                </a:solidFill>
                <a:latin typeface="Calibri" pitchFamily="34" charset="0"/>
                <a:ea typeface="Calibri" pitchFamily="34" charset="-122"/>
                <a:cs typeface="Calibri" pitchFamily="34" charset="-120"/>
              </a:rPr>
              <a:t>Approved, or a named person with an SLA.</a:t>
            </a:r>
            <a:endParaRPr lang="en-US" sz="1100" dirty="0"/>
          </a:p>
        </p:txBody>
      </p:sp>
      <p:sp>
        <p:nvSpPr>
          <p:cNvPr id="41" name="Shape 39"/>
          <p:cNvSpPr/>
          <p:nvPr/>
        </p:nvSpPr>
        <p:spPr>
          <a:xfrm>
            <a:off x="256032" y="3273552"/>
            <a:ext cx="7818120" cy="1874520"/>
          </a:xfrm>
          <a:prstGeom prst="roundRect">
            <a:avLst>
              <a:gd name="adj" fmla="val 2927"/>
            </a:avLst>
          </a:prstGeom>
          <a:solidFill>
            <a:srgbClr val="FFFFFF"/>
          </a:solidFill>
          <a:ln w="12700">
            <a:solidFill>
              <a:srgbClr val="D7D2C8"/>
            </a:solidFill>
            <a:prstDash val="solid"/>
          </a:ln>
        </p:spPr>
      </p:sp>
      <p:sp>
        <p:nvSpPr>
          <p:cNvPr id="42" name="Text 40"/>
          <p:cNvSpPr/>
          <p:nvPr/>
        </p:nvSpPr>
        <p:spPr>
          <a:xfrm>
            <a:off x="402336" y="3364992"/>
            <a:ext cx="7315200" cy="201168"/>
          </a:xfrm>
          <a:prstGeom prst="rect">
            <a:avLst/>
          </a:prstGeom>
          <a:noFill/>
          <a:ln/>
        </p:spPr>
        <p:txBody>
          <a:bodyPr wrap="square" lIns="0" tIns="0" rIns="0" bIns="0" rtlCol="0" anchor="ctr"/>
          <a:lstStyle/>
          <a:p>
            <a:pPr indent="0" marL="0">
              <a:buNone/>
            </a:pPr>
            <a:r>
              <a:rPr lang="en-US" sz="1100" b="1" dirty="0">
                <a:solidFill>
                  <a:srgbClr val="1D5C68"/>
                </a:solidFill>
                <a:latin typeface="Calibri" pitchFamily="34" charset="0"/>
                <a:ea typeface="Calibri" pitchFamily="34" charset="-122"/>
                <a:cs typeface="Calibri" pitchFamily="34" charset="-120"/>
              </a:rPr>
              <a:t>EXAMPLES FROM THE LIVE FLOW TAB</a:t>
            </a:r>
            <a:endParaRPr lang="en-US" sz="1100" dirty="0"/>
          </a:p>
        </p:txBody>
      </p:sp>
      <p:sp>
        <p:nvSpPr>
          <p:cNvPr id="43" name="Text 41"/>
          <p:cNvSpPr/>
          <p:nvPr/>
        </p:nvSpPr>
        <p:spPr>
          <a:xfrm>
            <a:off x="402336" y="3602736"/>
            <a:ext cx="7498080" cy="1417320"/>
          </a:xfrm>
          <a:prstGeom prst="rect">
            <a:avLst/>
          </a:prstGeom>
          <a:noFill/>
          <a:ln/>
        </p:spPr>
        <p:txBody>
          <a:bodyPr wrap="square" lIns="0" tIns="0" rIns="0" bIns="0" rtlCol="0" anchor="ctr"/>
          <a:lstStyle/>
          <a:p>
            <a:pPr indent="0" marL="0">
              <a:buNone/>
            </a:pPr>
            <a:r>
              <a:rPr lang="en-US" sz="1200" b="1" dirty="0">
                <a:solidFill>
                  <a:srgbClr val="0E1A24"/>
                </a:solidFill>
                <a:latin typeface="Calibri" pitchFamily="34" charset="0"/>
                <a:ea typeface="Calibri" pitchFamily="34" charset="-122"/>
                <a:cs typeface="Calibri" pitchFamily="34" charset="-120"/>
              </a:rPr>
              <a:t>Northwind Fabrication  </a:t>
            </a:r>
            <a:pPr indent="0" marL="0">
              <a:buNone/>
            </a:pPr>
            <a:r>
              <a:rPr lang="en-US" sz="1200" dirty="0">
                <a:solidFill>
                  <a:srgbClr val="141416"/>
                </a:solidFill>
                <a:latin typeface="Calibri" pitchFamily="34" charset="0"/>
                <a:ea typeface="Calibri" pitchFamily="34" charset="-122"/>
                <a:cs typeface="Calibri" pitchFamily="34" charset="-120"/>
              </a:rPr>
              <a:t>clean renewal, 17.8% inside the 22% ceiling. Discount Approve 88, Payment Approve 90. R3. Approved 89%. Seller sends.
</a:t>
            </a:r>
            <a:pPr indent="0" marL="0">
              <a:buNone/>
            </a:pPr>
            <a:r>
              <a:rPr lang="en-US" sz="1200" b="1" dirty="0">
                <a:solidFill>
                  <a:srgbClr val="0E1A24"/>
                </a:solidFill>
                <a:latin typeface="Calibri" pitchFamily="34" charset="0"/>
                <a:ea typeface="Calibri" pitchFamily="34" charset="-122"/>
                <a:cs typeface="Calibri" pitchFamily="34" charset="-120"/>
              </a:rPr>
              <a:t>Harbor &amp; Co.  </a:t>
            </a:r>
            <a:pPr indent="0" marL="0">
              <a:buNone/>
            </a:pPr>
            <a:r>
              <a:rPr lang="en-US" sz="1200" dirty="0">
                <a:solidFill>
                  <a:srgbClr val="141416"/>
                </a:solidFill>
                <a:latin typeface="Calibri" pitchFamily="34" charset="0"/>
                <a:ea typeface="Calibri" pitchFamily="34" charset="-122"/>
                <a:cs typeface="Calibri" pitchFamily="34" charset="-120"/>
              </a:rPr>
              <a:t>Discount Approve 88. Payment Escalate 32 on Net-90. R2, stricter label wins. Assigned Finance, 24h.
</a:t>
            </a:r>
            <a:pPr indent="0" marL="0">
              <a:buNone/>
            </a:pPr>
            <a:r>
              <a:rPr lang="en-US" sz="1200" b="1" dirty="0">
                <a:solidFill>
                  <a:srgbClr val="0E1A24"/>
                </a:solidFill>
                <a:latin typeface="Calibri" pitchFamily="34" charset="0"/>
                <a:ea typeface="Calibri" pitchFamily="34" charset="-122"/>
                <a:cs typeface="Calibri" pitchFamily="34" charset="-120"/>
              </a:rPr>
              <a:t>Kite &amp; Harbor  </a:t>
            </a:r>
            <a:pPr indent="0" marL="0">
              <a:buNone/>
            </a:pPr>
            <a:r>
              <a:rPr lang="en-US" sz="1200" dirty="0">
                <a:solidFill>
                  <a:srgbClr val="141416"/>
                </a:solidFill>
                <a:latin typeface="Calibri" pitchFamily="34" charset="0"/>
                <a:ea typeface="Calibri" pitchFamily="34" charset="-122"/>
                <a:cs typeface="Calibri" pitchFamily="34" charset="-120"/>
              </a:rPr>
              <a:t>notes demand Approve. Both specialists Reject. R1. Reject 16%. Assigned VP Sales + VP Finance, 24h. The note is evidence, not an instruction.</a:t>
            </a:r>
            <a:endParaRPr lang="en-US" sz="1200" dirty="0"/>
          </a:p>
        </p:txBody>
      </p:sp>
      <p:sp>
        <p:nvSpPr>
          <p:cNvPr id="44" name="Shape 42"/>
          <p:cNvSpPr/>
          <p:nvPr/>
        </p:nvSpPr>
        <p:spPr>
          <a:xfrm>
            <a:off x="8193024" y="3273552"/>
            <a:ext cx="3712464" cy="1874520"/>
          </a:xfrm>
          <a:prstGeom prst="roundRect">
            <a:avLst>
              <a:gd name="adj" fmla="val 2927"/>
            </a:avLst>
          </a:prstGeom>
          <a:solidFill>
            <a:srgbClr val="0E1A24"/>
          </a:solidFill>
          <a:ln/>
        </p:spPr>
      </p:sp>
      <p:sp>
        <p:nvSpPr>
          <p:cNvPr id="45" name="Text 43"/>
          <p:cNvSpPr/>
          <p:nvPr/>
        </p:nvSpPr>
        <p:spPr>
          <a:xfrm>
            <a:off x="8339328" y="3364992"/>
            <a:ext cx="3429000" cy="201168"/>
          </a:xfrm>
          <a:prstGeom prst="rect">
            <a:avLst/>
          </a:prstGeom>
          <a:noFill/>
          <a:ln/>
        </p:spPr>
        <p:txBody>
          <a:bodyPr wrap="square" lIns="0" tIns="0" rIns="0" bIns="0" rtlCol="0" anchor="ctr"/>
          <a:lstStyle/>
          <a:p>
            <a:pPr indent="0" marL="0">
              <a:buNone/>
            </a:pPr>
            <a:r>
              <a:rPr lang="en-US" sz="1100" b="1" dirty="0">
                <a:solidFill>
                  <a:srgbClr val="8FD0C8"/>
                </a:solidFill>
                <a:latin typeface="Calibri" pitchFamily="34" charset="0"/>
                <a:ea typeface="Calibri" pitchFamily="34" charset="-122"/>
                <a:cs typeface="Calibri" pitchFamily="34" charset="-120"/>
              </a:rPr>
              <a:t>WHAT IT READS AND WRITES</a:t>
            </a:r>
            <a:endParaRPr lang="en-US" sz="1100" dirty="0"/>
          </a:p>
        </p:txBody>
      </p:sp>
      <p:sp>
        <p:nvSpPr>
          <p:cNvPr id="46" name="Text 44"/>
          <p:cNvSpPr/>
          <p:nvPr/>
        </p:nvSpPr>
        <p:spPr>
          <a:xfrm>
            <a:off x="8339328" y="3621024"/>
            <a:ext cx="3429000" cy="1371600"/>
          </a:xfrm>
          <a:prstGeom prst="rect">
            <a:avLst/>
          </a:prstGeom>
          <a:noFill/>
          <a:ln/>
        </p:spPr>
        <p:txBody>
          <a:bodyPr wrap="square" lIns="0" tIns="0" rIns="0" bIns="0" rtlCol="0" anchor="ctr"/>
          <a:lstStyle/>
          <a:p>
            <a:pPr indent="0" marL="0">
              <a:buNone/>
            </a:pPr>
            <a:r>
              <a:rPr lang="en-US" sz="1200" dirty="0">
                <a:solidFill>
                  <a:srgbClr val="F4F0E8"/>
                </a:solidFill>
                <a:latin typeface="Calibri" pitchFamily="34" charset="0"/>
                <a:ea typeface="Calibri" pitchFamily="34" charset="-122"/>
                <a:cs typeface="Calibri" pitchFamily="34" charset="-120"/>
              </a:rPr>
              <a:t>Reads the live discount book, the cash book, and the commercial file. Writes one cited label or one named assignment. Does not write Sent, Signed, or Converted. Structured JSON in. Structured JSON out. English for the MVP. Latency target is p95 under 15 seconds.</a:t>
            </a:r>
            <a:endParaRPr lang="en-US" sz="1200" dirty="0"/>
          </a:p>
        </p:txBody>
      </p:sp>
      <p:sp>
        <p:nvSpPr>
          <p:cNvPr id="47" name="Shape 45"/>
          <p:cNvSpPr/>
          <p:nvPr/>
        </p:nvSpPr>
        <p:spPr>
          <a:xfrm>
            <a:off x="256032" y="5266944"/>
            <a:ext cx="11649456" cy="1170432"/>
          </a:xfrm>
          <a:prstGeom prst="roundRect">
            <a:avLst>
              <a:gd name="adj" fmla="val 4688"/>
            </a:avLst>
          </a:prstGeom>
          <a:solidFill>
            <a:srgbClr val="E7EFE9"/>
          </a:solidFill>
          <a:ln/>
        </p:spPr>
      </p:sp>
      <p:sp>
        <p:nvSpPr>
          <p:cNvPr id="48" name="Text 46"/>
          <p:cNvSpPr/>
          <p:nvPr/>
        </p:nvSpPr>
        <p:spPr>
          <a:xfrm>
            <a:off x="402336" y="5358384"/>
            <a:ext cx="10972800" cy="201168"/>
          </a:xfrm>
          <a:prstGeom prst="rect">
            <a:avLst/>
          </a:prstGeom>
          <a:noFill/>
          <a:ln/>
        </p:spPr>
        <p:txBody>
          <a:bodyPr wrap="square" lIns="0" tIns="0" rIns="0" bIns="0" rtlCol="0" anchor="ctr"/>
          <a:lstStyle/>
          <a:p>
            <a:pPr indent="0" marL="0">
              <a:buNone/>
            </a:pPr>
            <a:r>
              <a:rPr lang="en-US" sz="1100" b="1" dirty="0">
                <a:solidFill>
                  <a:srgbClr val="2F6A4F"/>
                </a:solidFill>
                <a:latin typeface="Calibri" pitchFamily="34" charset="0"/>
                <a:ea typeface="Calibri" pitchFamily="34" charset="-122"/>
                <a:cs typeface="Calibri" pitchFamily="34" charset="-120"/>
              </a:rPr>
              <a:t>TRACE ORDER ON EVERY PASS  ·  100 / 100 scenarios</a:t>
            </a:r>
            <a:endParaRPr lang="en-US" sz="1100" dirty="0"/>
          </a:p>
        </p:txBody>
      </p:sp>
      <p:sp>
        <p:nvSpPr>
          <p:cNvPr id="49" name="Text 47"/>
          <p:cNvSpPr/>
          <p:nvPr/>
        </p:nvSpPr>
        <p:spPr>
          <a:xfrm>
            <a:off x="402336" y="5577840"/>
            <a:ext cx="11338560" cy="713232"/>
          </a:xfrm>
          <a:prstGeom prst="rect">
            <a:avLst/>
          </a:prstGeom>
          <a:noFill/>
          <a:ln/>
        </p:spPr>
        <p:txBody>
          <a:bodyPr wrap="square" lIns="0" tIns="0" rIns="0" bIns="0" rtlCol="0" anchor="ctr"/>
          <a:lstStyle/>
          <a:p>
            <a:pPr indent="0" marL="0">
              <a:buNone/>
            </a:pPr>
            <a:r>
              <a:rPr lang="en-US" sz="1200" dirty="0">
                <a:solidFill>
                  <a:srgbClr val="141416"/>
                </a:solidFill>
                <a:latin typeface="Calibri" pitchFamily="34" charset="0"/>
                <a:ea typeface="Calibri" pitchFamily="34" charset="-122"/>
                <a:cs typeface="Calibri" pitchFamily="34" charset="-120"/>
              </a:rPr>
              <a:t>orchestrator_plan → discount_agent and payment_agent in parallel → orchestrator_combine → guardrail. Northwind is Approve 89 R3. Harbor is Escalate 32 R2. Pinnacle is Reject 13 R1. A note on a clean Approve becomes Escalate 74 G-OUT. A missing citation forces a hold. Same file on GitHub main.</a:t>
            </a:r>
            <a:endParaRPr lang="en-US" sz="1200" dirty="0"/>
          </a:p>
        </p:txBody>
      </p:sp>
      <p:sp>
        <p:nvSpPr>
          <p:cNvPr id="50" name="Shape 48"/>
          <p:cNvSpPr/>
          <p:nvPr/>
        </p:nvSpPr>
        <p:spPr>
          <a:xfrm>
            <a:off x="0" y="6601968"/>
            <a:ext cx="12191695" cy="256032"/>
          </a:xfrm>
          <a:prstGeom prst="rect">
            <a:avLst/>
          </a:prstGeom>
          <a:solidFill>
            <a:srgbClr val="0E1A24"/>
          </a:solidFill>
          <a:ln/>
        </p:spPr>
      </p:sp>
      <p:sp>
        <p:nvSpPr>
          <p:cNvPr id="51" name="Text 49"/>
          <p:cNvSpPr/>
          <p:nvPr/>
        </p:nvSpPr>
        <p:spPr>
          <a:xfrm>
            <a:off x="292608" y="6620256"/>
            <a:ext cx="9144000" cy="201168"/>
          </a:xfrm>
          <a:prstGeom prst="rect">
            <a:avLst/>
          </a:prstGeom>
          <a:noFill/>
          <a:ln/>
        </p:spPr>
        <p:txBody>
          <a:bodyPr wrap="square" lIns="0" tIns="0" rIns="0" bIns="0" rtlCol="0" anchor="ctr"/>
          <a:lstStyle/>
          <a:p>
            <a:pPr indent="0" marL="0">
              <a:buNone/>
            </a:pPr>
            <a:r>
              <a:rPr lang="en-US" sz="1000" dirty="0">
                <a:solidFill>
                  <a:srgbClr val="F4F0E8"/>
                </a:solidFill>
                <a:latin typeface="Calibri" pitchFamily="34" charset="0"/>
                <a:ea typeface="Calibri" pitchFamily="34" charset="-122"/>
                <a:cs typeface="Calibri" pitchFamily="34" charset="-120"/>
              </a:rPr>
              <a:t>DealFlow Approval Agents  ·  github.com/shashankjasra-afk/bird-lunar-falcon-timber</a:t>
            </a:r>
            <a:endParaRPr lang="en-US" sz="1000" dirty="0"/>
          </a:p>
        </p:txBody>
      </p:sp>
      <p:sp>
        <p:nvSpPr>
          <p:cNvPr id="52" name="Text 50"/>
          <p:cNvSpPr/>
          <p:nvPr/>
        </p:nvSpPr>
        <p:spPr>
          <a:xfrm>
            <a:off x="10607040" y="6620256"/>
            <a:ext cx="1280160" cy="201168"/>
          </a:xfrm>
          <a:prstGeom prst="rect">
            <a:avLst/>
          </a:prstGeom>
          <a:noFill/>
          <a:ln/>
        </p:spPr>
        <p:txBody>
          <a:bodyPr wrap="square" lIns="0" tIns="0" rIns="0" bIns="0" rtlCol="0" anchor="ctr"/>
          <a:lstStyle/>
          <a:p>
            <a:pPr algn="r" indent="0" marL="0">
              <a:buNone/>
            </a:pPr>
            <a:r>
              <a:rPr lang="en-US" sz="1000" dirty="0">
                <a:solidFill>
                  <a:srgbClr val="F4F0E8"/>
                </a:solidFill>
                <a:latin typeface="Calibri" pitchFamily="34" charset="0"/>
                <a:ea typeface="Calibri" pitchFamily="34" charset="-122"/>
                <a:cs typeface="Calibri" pitchFamily="34" charset="-120"/>
              </a:rPr>
              <a:t>2 / 4</a:t>
            </a:r>
            <a:endParaRPr lang="en-US" sz="10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solidFill>
            <a:srgbClr val="F4F0E8"/>
          </a:solidFill>
          <a:ln/>
        </p:spPr>
      </p:sp>
      <p:sp>
        <p:nvSpPr>
          <p:cNvPr id="3" name="Text 1"/>
          <p:cNvSpPr/>
          <p:nvPr/>
        </p:nvSpPr>
        <p:spPr>
          <a:xfrm>
            <a:off x="329184" y="164592"/>
            <a:ext cx="11430000" cy="201168"/>
          </a:xfrm>
          <a:prstGeom prst="rect">
            <a:avLst/>
          </a:prstGeom>
          <a:noFill/>
          <a:ln/>
        </p:spPr>
        <p:txBody>
          <a:bodyPr wrap="square" lIns="0" tIns="0" rIns="0" bIns="0" rtlCol="0" anchor="ctr"/>
          <a:lstStyle/>
          <a:p>
            <a:pPr indent="0" marL="0">
              <a:buNone/>
            </a:pPr>
            <a:r>
              <a:rPr lang="en-US" sz="1100" b="1" dirty="0">
                <a:solidFill>
                  <a:srgbClr val="1D5C68"/>
                </a:solidFill>
                <a:latin typeface="Calibri" pitchFamily="34" charset="0"/>
                <a:ea typeface="Calibri" pitchFamily="34" charset="-122"/>
                <a:cs typeface="Calibri" pitchFamily="34" charset="-120"/>
              </a:rPr>
              <a:t>AGENT WORKFLOW AND COLLABORATION</a:t>
            </a:r>
            <a:endParaRPr lang="en-US" sz="1100" dirty="0"/>
          </a:p>
        </p:txBody>
      </p:sp>
      <p:sp>
        <p:nvSpPr>
          <p:cNvPr id="4" name="Text 2"/>
          <p:cNvSpPr/>
          <p:nvPr/>
        </p:nvSpPr>
        <p:spPr>
          <a:xfrm>
            <a:off x="329184" y="347472"/>
            <a:ext cx="10972800" cy="310896"/>
          </a:xfrm>
          <a:prstGeom prst="rect">
            <a:avLst/>
          </a:prstGeom>
          <a:noFill/>
          <a:ln/>
        </p:spPr>
        <p:txBody>
          <a:bodyPr wrap="square" lIns="0" tIns="0" rIns="0" bIns="0" rtlCol="0" anchor="ctr"/>
          <a:lstStyle/>
          <a:p>
            <a:pPr indent="0" marL="0">
              <a:buNone/>
            </a:pPr>
            <a:r>
              <a:rPr lang="en-US" sz="2200" dirty="0">
                <a:solidFill>
                  <a:srgbClr val="0E1A24"/>
                </a:solidFill>
                <a:latin typeface="Georgia" pitchFamily="34" charset="0"/>
                <a:ea typeface="Georgia" pitchFamily="34" charset="-122"/>
                <a:cs typeface="Georgia" pitchFamily="34" charset="-120"/>
              </a:rPr>
              <a:t>How the three agents share one goal and write one label</a:t>
            </a:r>
            <a:endParaRPr lang="en-US" sz="2200" dirty="0"/>
          </a:p>
        </p:txBody>
      </p:sp>
      <p:sp>
        <p:nvSpPr>
          <p:cNvPr id="5" name="Shape 3"/>
          <p:cNvSpPr/>
          <p:nvPr/>
        </p:nvSpPr>
        <p:spPr>
          <a:xfrm>
            <a:off x="292608" y="804672"/>
            <a:ext cx="5742432" cy="1755648"/>
          </a:xfrm>
          <a:prstGeom prst="roundRect">
            <a:avLst>
              <a:gd name="adj" fmla="val 3125"/>
            </a:avLst>
          </a:prstGeom>
          <a:solidFill>
            <a:srgbClr val="FFFFFF"/>
          </a:solidFill>
          <a:ln w="12700">
            <a:solidFill>
              <a:srgbClr val="D7D2C8"/>
            </a:solidFill>
            <a:prstDash val="solid"/>
          </a:ln>
        </p:spPr>
      </p:sp>
      <p:sp>
        <p:nvSpPr>
          <p:cNvPr id="6" name="Shape 4"/>
          <p:cNvSpPr/>
          <p:nvPr/>
        </p:nvSpPr>
        <p:spPr>
          <a:xfrm>
            <a:off x="292608" y="804672"/>
            <a:ext cx="73152" cy="1755648"/>
          </a:xfrm>
          <a:prstGeom prst="rect">
            <a:avLst/>
          </a:prstGeom>
          <a:solidFill>
            <a:srgbClr val="1D5C68"/>
          </a:solidFill>
          <a:ln/>
        </p:spPr>
      </p:sp>
      <p:sp>
        <p:nvSpPr>
          <p:cNvPr id="7" name="Text 5"/>
          <p:cNvSpPr/>
          <p:nvPr/>
        </p:nvSpPr>
        <p:spPr>
          <a:xfrm>
            <a:off x="493776" y="896112"/>
            <a:ext cx="5394960" cy="237744"/>
          </a:xfrm>
          <a:prstGeom prst="rect">
            <a:avLst/>
          </a:prstGeom>
          <a:noFill/>
          <a:ln/>
        </p:spPr>
        <p:txBody>
          <a:bodyPr wrap="square" lIns="0" tIns="0" rIns="0" bIns="0" rtlCol="0" anchor="ctr"/>
          <a:lstStyle/>
          <a:p>
            <a:pPr indent="0" marL="0">
              <a:buNone/>
            </a:pPr>
            <a:r>
              <a:rPr lang="en-US" sz="1300" b="1" dirty="0">
                <a:solidFill>
                  <a:srgbClr val="0E1A24"/>
                </a:solidFill>
                <a:latin typeface="Calibri" pitchFamily="34" charset="0"/>
                <a:ea typeface="Calibri" pitchFamily="34" charset="-122"/>
                <a:cs typeface="Calibri" pitchFamily="34" charset="-120"/>
              </a:rPr>
              <a:t>PARALLEL SPECIALISTS</a:t>
            </a:r>
            <a:endParaRPr lang="en-US" sz="1300" dirty="0"/>
          </a:p>
        </p:txBody>
      </p:sp>
      <p:sp>
        <p:nvSpPr>
          <p:cNvPr id="8" name="Text 6"/>
          <p:cNvSpPr/>
          <p:nvPr/>
        </p:nvSpPr>
        <p:spPr>
          <a:xfrm>
            <a:off x="493776" y="1170432"/>
            <a:ext cx="5394960" cy="1280160"/>
          </a:xfrm>
          <a:prstGeom prst="rect">
            <a:avLst/>
          </a:prstGeom>
          <a:noFill/>
          <a:ln/>
        </p:spPr>
        <p:txBody>
          <a:bodyPr wrap="square" lIns="0" tIns="0" rIns="0" bIns="0" rtlCol="0" anchor="ctr"/>
          <a:lstStyle/>
          <a:p>
            <a:pPr indent="0" marL="0">
              <a:buNone/>
            </a:pPr>
            <a:r>
              <a:rPr lang="en-US" sz="1200" dirty="0">
                <a:solidFill>
                  <a:srgbClr val="141416"/>
                </a:solidFill>
                <a:latin typeface="Calibri" pitchFamily="34" charset="0"/>
                <a:ea typeface="Calibri" pitchFamily="34" charset="-122"/>
                <a:cs typeface="Calibri" pitchFamily="34" charset="-120"/>
              </a:rPr>
              <a:t>Discount and Payment run at the same time. Each opens its own book and the commercial file. Neither sees the other's label until the combine step. Notes are never an input to either specialist. The graph adds two edges from orchestrator_plan, one to each agent, then both into orchestrator_combine.</a:t>
            </a:r>
            <a:endParaRPr lang="en-US" sz="1200" dirty="0"/>
          </a:p>
        </p:txBody>
      </p:sp>
      <p:sp>
        <p:nvSpPr>
          <p:cNvPr id="9" name="Shape 7"/>
          <p:cNvSpPr/>
          <p:nvPr/>
        </p:nvSpPr>
        <p:spPr>
          <a:xfrm>
            <a:off x="6236208" y="804672"/>
            <a:ext cx="5742432" cy="1755648"/>
          </a:xfrm>
          <a:prstGeom prst="roundRect">
            <a:avLst>
              <a:gd name="adj" fmla="val 3125"/>
            </a:avLst>
          </a:prstGeom>
          <a:solidFill>
            <a:srgbClr val="FFFFFF"/>
          </a:solidFill>
          <a:ln w="12700">
            <a:solidFill>
              <a:srgbClr val="D7D2C8"/>
            </a:solidFill>
            <a:prstDash val="solid"/>
          </a:ln>
        </p:spPr>
      </p:sp>
      <p:sp>
        <p:nvSpPr>
          <p:cNvPr id="10" name="Shape 8"/>
          <p:cNvSpPr/>
          <p:nvPr/>
        </p:nvSpPr>
        <p:spPr>
          <a:xfrm>
            <a:off x="6236208" y="804672"/>
            <a:ext cx="73152" cy="1755648"/>
          </a:xfrm>
          <a:prstGeom prst="rect">
            <a:avLst/>
          </a:prstGeom>
          <a:solidFill>
            <a:srgbClr val="1D5C68"/>
          </a:solidFill>
          <a:ln/>
        </p:spPr>
      </p:sp>
      <p:sp>
        <p:nvSpPr>
          <p:cNvPr id="11" name="Text 9"/>
          <p:cNvSpPr/>
          <p:nvPr/>
        </p:nvSpPr>
        <p:spPr>
          <a:xfrm>
            <a:off x="6437376" y="896112"/>
            <a:ext cx="5394960" cy="237744"/>
          </a:xfrm>
          <a:prstGeom prst="rect">
            <a:avLst/>
          </a:prstGeom>
          <a:noFill/>
          <a:ln/>
        </p:spPr>
        <p:txBody>
          <a:bodyPr wrap="square" lIns="0" tIns="0" rIns="0" bIns="0" rtlCol="0" anchor="ctr"/>
          <a:lstStyle/>
          <a:p>
            <a:pPr indent="0" marL="0">
              <a:buNone/>
            </a:pPr>
            <a:r>
              <a:rPr lang="en-US" sz="1300" b="1" dirty="0">
                <a:solidFill>
                  <a:srgbClr val="0E1A24"/>
                </a:solidFill>
                <a:latin typeface="Calibri" pitchFamily="34" charset="0"/>
                <a:ea typeface="Calibri" pitchFamily="34" charset="-122"/>
                <a:cs typeface="Calibri" pitchFamily="34" charset="-120"/>
              </a:rPr>
              <a:t>STRICTER LABEL WINS</a:t>
            </a:r>
            <a:endParaRPr lang="en-US" sz="1300" dirty="0"/>
          </a:p>
        </p:txBody>
      </p:sp>
      <p:sp>
        <p:nvSpPr>
          <p:cNvPr id="12" name="Text 10"/>
          <p:cNvSpPr/>
          <p:nvPr/>
        </p:nvSpPr>
        <p:spPr>
          <a:xfrm>
            <a:off x="6437376" y="1170432"/>
            <a:ext cx="5394960" cy="1280160"/>
          </a:xfrm>
          <a:prstGeom prst="rect">
            <a:avLst/>
          </a:prstGeom>
          <a:noFill/>
          <a:ln/>
        </p:spPr>
        <p:txBody>
          <a:bodyPr wrap="square" lIns="0" tIns="0" rIns="0" bIns="0" rtlCol="0" anchor="ctr"/>
          <a:lstStyle/>
          <a:p>
            <a:pPr indent="0" marL="0">
              <a:buNone/>
            </a:pPr>
            <a:r>
              <a:rPr lang="en-US" sz="1200" dirty="0">
                <a:solidFill>
                  <a:srgbClr val="141416"/>
                </a:solidFill>
                <a:latin typeface="Calibri" pitchFamily="34" charset="0"/>
                <a:ea typeface="Calibri" pitchFamily="34" charset="-122"/>
                <a:cs typeface="Calibri" pitchFamily="34" charset="-120"/>
              </a:rPr>
              <a:t>The orchestrator waits for both. R1: any Reject is Reject. R2: any Escalate is Escalate. R3: both Approve and average at or above the threshold is Approve. R4: both Approve but under the threshold is Escalate. One Approve plus one Escalate is Escalate. Confidence on a mixed pair is the lower of the two.</a:t>
            </a:r>
            <a:endParaRPr lang="en-US" sz="1200" dirty="0"/>
          </a:p>
        </p:txBody>
      </p:sp>
      <p:sp>
        <p:nvSpPr>
          <p:cNvPr id="13" name="Shape 11"/>
          <p:cNvSpPr/>
          <p:nvPr/>
        </p:nvSpPr>
        <p:spPr>
          <a:xfrm>
            <a:off x="292608" y="2679192"/>
            <a:ext cx="5742432" cy="1755648"/>
          </a:xfrm>
          <a:prstGeom prst="roundRect">
            <a:avLst>
              <a:gd name="adj" fmla="val 3125"/>
            </a:avLst>
          </a:prstGeom>
          <a:solidFill>
            <a:srgbClr val="FFFFFF"/>
          </a:solidFill>
          <a:ln w="12700">
            <a:solidFill>
              <a:srgbClr val="D7D2C8"/>
            </a:solidFill>
            <a:prstDash val="solid"/>
          </a:ln>
        </p:spPr>
      </p:sp>
      <p:sp>
        <p:nvSpPr>
          <p:cNvPr id="14" name="Shape 12"/>
          <p:cNvSpPr/>
          <p:nvPr/>
        </p:nvSpPr>
        <p:spPr>
          <a:xfrm>
            <a:off x="292608" y="2679192"/>
            <a:ext cx="73152" cy="1755648"/>
          </a:xfrm>
          <a:prstGeom prst="rect">
            <a:avLst/>
          </a:prstGeom>
          <a:solidFill>
            <a:srgbClr val="1D5C68"/>
          </a:solidFill>
          <a:ln/>
        </p:spPr>
      </p:sp>
      <p:sp>
        <p:nvSpPr>
          <p:cNvPr id="15" name="Text 13"/>
          <p:cNvSpPr/>
          <p:nvPr/>
        </p:nvSpPr>
        <p:spPr>
          <a:xfrm>
            <a:off x="493776" y="2770632"/>
            <a:ext cx="5394960" cy="237744"/>
          </a:xfrm>
          <a:prstGeom prst="rect">
            <a:avLst/>
          </a:prstGeom>
          <a:noFill/>
          <a:ln/>
        </p:spPr>
        <p:txBody>
          <a:bodyPr wrap="square" lIns="0" tIns="0" rIns="0" bIns="0" rtlCol="0" anchor="ctr"/>
          <a:lstStyle/>
          <a:p>
            <a:pPr indent="0" marL="0">
              <a:buNone/>
            </a:pPr>
            <a:r>
              <a:rPr lang="en-US" sz="1300" b="1" dirty="0">
                <a:solidFill>
                  <a:srgbClr val="0E1A24"/>
                </a:solidFill>
                <a:latin typeface="Calibri" pitchFamily="34" charset="0"/>
                <a:ea typeface="Calibri" pitchFamily="34" charset="-122"/>
                <a:cs typeface="Calibri" pitchFamily="34" charset="-120"/>
              </a:rPr>
              <a:t>ONE WRITE-BACK</a:t>
            </a:r>
            <a:endParaRPr lang="en-US" sz="1300" dirty="0"/>
          </a:p>
        </p:txBody>
      </p:sp>
      <p:sp>
        <p:nvSpPr>
          <p:cNvPr id="16" name="Text 14"/>
          <p:cNvSpPr/>
          <p:nvPr/>
        </p:nvSpPr>
        <p:spPr>
          <a:xfrm>
            <a:off x="493776" y="3044952"/>
            <a:ext cx="5394960" cy="1280160"/>
          </a:xfrm>
          <a:prstGeom prst="rect">
            <a:avLst/>
          </a:prstGeom>
          <a:noFill/>
          <a:ln/>
        </p:spPr>
        <p:txBody>
          <a:bodyPr wrap="square" lIns="0" tIns="0" rIns="0" bIns="0" rtlCol="0" anchor="ctr"/>
          <a:lstStyle/>
          <a:p>
            <a:pPr indent="0" marL="0">
              <a:buNone/>
            </a:pPr>
            <a:r>
              <a:rPr lang="en-US" sz="1200" dirty="0">
                <a:solidFill>
                  <a:srgbClr val="141416"/>
                </a:solidFill>
                <a:latin typeface="Calibri" pitchFamily="34" charset="0"/>
                <a:ea typeface="Calibri" pitchFamily="34" charset="-122"/>
                <a:cs typeface="Calibri" pitchFamily="34" charset="-120"/>
              </a:rPr>
              <a:t>The orchestrator writes one stage or one named assignment. Approved clears the quote. Escalate names a person, an SLA, and a reason that resolves to a Salesforce or DealHub queue. Mild is Deal Desk Manager, 24h. Material cash is Finance, 24h. Severe is VP Sales + Finance, 24h. Gaming is Deal Desk Lead, 12h. The seller keeps Sent, Signed, and Converted.</a:t>
            </a:r>
            <a:endParaRPr lang="en-US" sz="1200" dirty="0"/>
          </a:p>
        </p:txBody>
      </p:sp>
      <p:sp>
        <p:nvSpPr>
          <p:cNvPr id="17" name="Shape 15"/>
          <p:cNvSpPr/>
          <p:nvPr/>
        </p:nvSpPr>
        <p:spPr>
          <a:xfrm>
            <a:off x="6236208" y="2679192"/>
            <a:ext cx="5742432" cy="1755648"/>
          </a:xfrm>
          <a:prstGeom prst="roundRect">
            <a:avLst>
              <a:gd name="adj" fmla="val 3125"/>
            </a:avLst>
          </a:prstGeom>
          <a:solidFill>
            <a:srgbClr val="FFFFFF"/>
          </a:solidFill>
          <a:ln w="12700">
            <a:solidFill>
              <a:srgbClr val="D7D2C8"/>
            </a:solidFill>
            <a:prstDash val="solid"/>
          </a:ln>
        </p:spPr>
      </p:sp>
      <p:sp>
        <p:nvSpPr>
          <p:cNvPr id="18" name="Shape 16"/>
          <p:cNvSpPr/>
          <p:nvPr/>
        </p:nvSpPr>
        <p:spPr>
          <a:xfrm>
            <a:off x="6236208" y="2679192"/>
            <a:ext cx="73152" cy="1755648"/>
          </a:xfrm>
          <a:prstGeom prst="rect">
            <a:avLst/>
          </a:prstGeom>
          <a:solidFill>
            <a:srgbClr val="1D5C68"/>
          </a:solidFill>
          <a:ln/>
        </p:spPr>
      </p:sp>
      <p:sp>
        <p:nvSpPr>
          <p:cNvPr id="19" name="Text 17"/>
          <p:cNvSpPr/>
          <p:nvPr/>
        </p:nvSpPr>
        <p:spPr>
          <a:xfrm>
            <a:off x="6437376" y="2770632"/>
            <a:ext cx="5394960" cy="237744"/>
          </a:xfrm>
          <a:prstGeom prst="rect">
            <a:avLst/>
          </a:prstGeom>
          <a:noFill/>
          <a:ln/>
        </p:spPr>
        <p:txBody>
          <a:bodyPr wrap="square" lIns="0" tIns="0" rIns="0" bIns="0" rtlCol="0" anchor="ctr"/>
          <a:lstStyle/>
          <a:p>
            <a:pPr indent="0" marL="0">
              <a:buNone/>
            </a:pPr>
            <a:r>
              <a:rPr lang="en-US" sz="1300" b="1" dirty="0">
                <a:solidFill>
                  <a:srgbClr val="0E1A24"/>
                </a:solidFill>
                <a:latin typeface="Calibri" pitchFamily="34" charset="0"/>
                <a:ea typeface="Calibri" pitchFamily="34" charset="-122"/>
                <a:cs typeface="Calibri" pitchFamily="34" charset="-120"/>
              </a:rPr>
              <a:t>GUARDRAIL AND OBSERVABILITY</a:t>
            </a:r>
            <a:endParaRPr lang="en-US" sz="1300" dirty="0"/>
          </a:p>
        </p:txBody>
      </p:sp>
      <p:sp>
        <p:nvSpPr>
          <p:cNvPr id="20" name="Text 18"/>
          <p:cNvSpPr/>
          <p:nvPr/>
        </p:nvSpPr>
        <p:spPr>
          <a:xfrm>
            <a:off x="6437376" y="3044952"/>
            <a:ext cx="5394960" cy="1280160"/>
          </a:xfrm>
          <a:prstGeom prst="rect">
            <a:avLst/>
          </a:prstGeom>
          <a:noFill/>
          <a:ln/>
        </p:spPr>
        <p:txBody>
          <a:bodyPr wrap="square" lIns="0" tIns="0" rIns="0" bIns="0" rtlCol="0" anchor="ctr"/>
          <a:lstStyle/>
          <a:p>
            <a:pPr indent="0" marL="0">
              <a:buNone/>
            </a:pPr>
            <a:r>
              <a:rPr lang="en-US" sz="1200" dirty="0">
                <a:solidFill>
                  <a:srgbClr val="141416"/>
                </a:solidFill>
                <a:latin typeface="Calibri" pitchFamily="34" charset="0"/>
                <a:ea typeface="Calibri" pitchFamily="34" charset="-122"/>
                <a:cs typeface="Calibri" pitchFamily="34" charset="-120"/>
              </a:rPr>
              <a:t>The guardrail is not a fourth agent. It checks the label after the combine. A note that says mark this Approved cannot produce Approve. A missing citation forces a hold. Scores on the trace: label_match and note_ignored. Generation name is approval-agents. Trace name is dealflow.approval.</a:t>
            </a:r>
            <a:endParaRPr lang="en-US" sz="1200" dirty="0"/>
          </a:p>
        </p:txBody>
      </p:sp>
      <p:sp>
        <p:nvSpPr>
          <p:cNvPr id="21" name="Shape 19"/>
          <p:cNvSpPr/>
          <p:nvPr/>
        </p:nvSpPr>
        <p:spPr>
          <a:xfrm>
            <a:off x="292608" y="4617720"/>
            <a:ext cx="11594592" cy="1810512"/>
          </a:xfrm>
          <a:prstGeom prst="roundRect">
            <a:avLst>
              <a:gd name="adj" fmla="val 3030"/>
            </a:avLst>
          </a:prstGeom>
          <a:solidFill>
            <a:srgbClr val="0E1A24"/>
          </a:solidFill>
          <a:ln/>
        </p:spPr>
      </p:sp>
      <p:sp>
        <p:nvSpPr>
          <p:cNvPr id="22" name="Text 20"/>
          <p:cNvSpPr/>
          <p:nvPr/>
        </p:nvSpPr>
        <p:spPr>
          <a:xfrm>
            <a:off x="457200" y="4718304"/>
            <a:ext cx="10972800" cy="201168"/>
          </a:xfrm>
          <a:prstGeom prst="rect">
            <a:avLst/>
          </a:prstGeom>
          <a:noFill/>
          <a:ln/>
        </p:spPr>
        <p:txBody>
          <a:bodyPr wrap="square" lIns="0" tIns="0" rIns="0" bIns="0" rtlCol="0" anchor="ctr"/>
          <a:lstStyle/>
          <a:p>
            <a:pPr indent="0" marL="0">
              <a:buNone/>
            </a:pPr>
            <a:r>
              <a:rPr lang="en-US" sz="1100" b="1" dirty="0">
                <a:solidFill>
                  <a:srgbClr val="8FD0C8"/>
                </a:solidFill>
                <a:latin typeface="Calibri" pitchFamily="34" charset="0"/>
                <a:ea typeface="Calibri" pitchFamily="34" charset="-122"/>
                <a:cs typeface="Calibri" pitchFamily="34" charset="-120"/>
              </a:rPr>
              <a:t>WHAT COLLABORATION IS NOT</a:t>
            </a:r>
            <a:endParaRPr lang="en-US" sz="1100" dirty="0"/>
          </a:p>
        </p:txBody>
      </p:sp>
      <p:sp>
        <p:nvSpPr>
          <p:cNvPr id="23" name="Text 21"/>
          <p:cNvSpPr/>
          <p:nvPr/>
        </p:nvSpPr>
        <p:spPr>
          <a:xfrm>
            <a:off x="457200" y="4956048"/>
            <a:ext cx="11228832" cy="1298448"/>
          </a:xfrm>
          <a:prstGeom prst="rect">
            <a:avLst/>
          </a:prstGeom>
          <a:noFill/>
          <a:ln/>
        </p:spPr>
        <p:txBody>
          <a:bodyPr wrap="square" lIns="0" tIns="0" rIns="0" bIns="0" rtlCol="0" anchor="ctr"/>
          <a:lstStyle/>
          <a:p>
            <a:pPr indent="0" marL="0">
              <a:buNone/>
            </a:pPr>
            <a:r>
              <a:rPr lang="en-US" sz="1300" dirty="0">
                <a:solidFill>
                  <a:srgbClr val="F4F0E8"/>
                </a:solidFill>
                <a:latin typeface="Calibri" pitchFamily="34" charset="0"/>
                <a:ea typeface="Calibri" pitchFamily="34" charset="-122"/>
                <a:cs typeface="Calibri" pitchFamily="34" charset="-120"/>
              </a:rPr>
              <a:t>Not a shared chat. Not a longer prompt. The specialists do not see each other's reasoning until the orchestrator combines them. The guardrail is the last check, not another opinion. One label is written. The CPQ stays the system of record. Patterns: pipeline, routing, parallelisation, tool use, multi-agent. Persistent context across sessions is not needed. A single run is enough. R1b is the only company-pack exception: when respect_reject is off, a specialist Reject is written as Escalate instead of a hard reject.</a:t>
            </a:r>
            <a:endParaRPr lang="en-US" sz="1300" dirty="0"/>
          </a:p>
        </p:txBody>
      </p:sp>
      <p:sp>
        <p:nvSpPr>
          <p:cNvPr id="24" name="Shape 22"/>
          <p:cNvSpPr/>
          <p:nvPr/>
        </p:nvSpPr>
        <p:spPr>
          <a:xfrm>
            <a:off x="0" y="6601968"/>
            <a:ext cx="12191695" cy="256032"/>
          </a:xfrm>
          <a:prstGeom prst="rect">
            <a:avLst/>
          </a:prstGeom>
          <a:solidFill>
            <a:srgbClr val="0E1A24"/>
          </a:solidFill>
          <a:ln/>
        </p:spPr>
      </p:sp>
      <p:sp>
        <p:nvSpPr>
          <p:cNvPr id="25" name="Text 23"/>
          <p:cNvSpPr/>
          <p:nvPr/>
        </p:nvSpPr>
        <p:spPr>
          <a:xfrm>
            <a:off x="292608" y="6620256"/>
            <a:ext cx="9144000" cy="201168"/>
          </a:xfrm>
          <a:prstGeom prst="rect">
            <a:avLst/>
          </a:prstGeom>
          <a:noFill/>
          <a:ln/>
        </p:spPr>
        <p:txBody>
          <a:bodyPr wrap="square" lIns="0" tIns="0" rIns="0" bIns="0" rtlCol="0" anchor="ctr"/>
          <a:lstStyle/>
          <a:p>
            <a:pPr indent="0" marL="0">
              <a:buNone/>
            </a:pPr>
            <a:r>
              <a:rPr lang="en-US" sz="1000" dirty="0">
                <a:solidFill>
                  <a:srgbClr val="F4F0E8"/>
                </a:solidFill>
                <a:latin typeface="Calibri" pitchFamily="34" charset="0"/>
                <a:ea typeface="Calibri" pitchFamily="34" charset="-122"/>
                <a:cs typeface="Calibri" pitchFamily="34" charset="-120"/>
              </a:rPr>
              <a:t>DealFlow Approval Agents  ·  github.com/shashankjasra-afk/bird-lunar-falcon-timber</a:t>
            </a:r>
            <a:endParaRPr lang="en-US" sz="1000" dirty="0"/>
          </a:p>
        </p:txBody>
      </p:sp>
      <p:sp>
        <p:nvSpPr>
          <p:cNvPr id="26" name="Text 24"/>
          <p:cNvSpPr/>
          <p:nvPr/>
        </p:nvSpPr>
        <p:spPr>
          <a:xfrm>
            <a:off x="10607040" y="6620256"/>
            <a:ext cx="1280160" cy="201168"/>
          </a:xfrm>
          <a:prstGeom prst="rect">
            <a:avLst/>
          </a:prstGeom>
          <a:noFill/>
          <a:ln/>
        </p:spPr>
        <p:txBody>
          <a:bodyPr wrap="square" lIns="0" tIns="0" rIns="0" bIns="0" rtlCol="0" anchor="ctr"/>
          <a:lstStyle/>
          <a:p>
            <a:pPr algn="r" indent="0" marL="0">
              <a:buNone/>
            </a:pPr>
            <a:r>
              <a:rPr lang="en-US" sz="1000" dirty="0">
                <a:solidFill>
                  <a:srgbClr val="F4F0E8"/>
                </a:solidFill>
                <a:latin typeface="Calibri" pitchFamily="34" charset="0"/>
                <a:ea typeface="Calibri" pitchFamily="34" charset="-122"/>
                <a:cs typeface="Calibri" pitchFamily="34" charset="-120"/>
              </a:rPr>
              <a:t>3 / 4</a:t>
            </a:r>
            <a:endParaRPr lang="en-US" sz="10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solidFill>
            <a:srgbClr val="F4F0E8"/>
          </a:solidFill>
          <a:ln/>
        </p:spPr>
      </p:sp>
      <p:sp>
        <p:nvSpPr>
          <p:cNvPr id="3" name="Text 1"/>
          <p:cNvSpPr/>
          <p:nvPr/>
        </p:nvSpPr>
        <p:spPr>
          <a:xfrm>
            <a:off x="329184" y="164592"/>
            <a:ext cx="11430000" cy="201168"/>
          </a:xfrm>
          <a:prstGeom prst="rect">
            <a:avLst/>
          </a:prstGeom>
          <a:noFill/>
          <a:ln/>
        </p:spPr>
        <p:txBody>
          <a:bodyPr wrap="square" lIns="0" tIns="0" rIns="0" bIns="0" rtlCol="0" anchor="ctr"/>
          <a:lstStyle/>
          <a:p>
            <a:pPr indent="0" marL="0">
              <a:buNone/>
            </a:pPr>
            <a:r>
              <a:rPr lang="en-US" sz="1100" b="1" dirty="0">
                <a:solidFill>
                  <a:srgbClr val="1D5C68"/>
                </a:solidFill>
                <a:latin typeface="Calibri" pitchFamily="34" charset="0"/>
                <a:ea typeface="Calibri" pitchFamily="34" charset="-122"/>
                <a:cs typeface="Calibri" pitchFamily="34" charset="-120"/>
              </a:rPr>
              <a:t>TECH ARCHITECTURE FLOW</a:t>
            </a:r>
            <a:endParaRPr lang="en-US" sz="1100" dirty="0"/>
          </a:p>
        </p:txBody>
      </p:sp>
      <p:sp>
        <p:nvSpPr>
          <p:cNvPr id="4" name="Text 2"/>
          <p:cNvSpPr/>
          <p:nvPr/>
        </p:nvSpPr>
        <p:spPr>
          <a:xfrm>
            <a:off x="329184" y="347472"/>
            <a:ext cx="9144000" cy="310896"/>
          </a:xfrm>
          <a:prstGeom prst="rect">
            <a:avLst/>
          </a:prstGeom>
          <a:noFill/>
          <a:ln/>
        </p:spPr>
        <p:txBody>
          <a:bodyPr wrap="square" lIns="0" tIns="0" rIns="0" bIns="0" rtlCol="0" anchor="ctr"/>
          <a:lstStyle/>
          <a:p>
            <a:pPr indent="0" marL="0">
              <a:buNone/>
            </a:pPr>
            <a:r>
              <a:rPr lang="en-US" sz="2400" dirty="0">
                <a:solidFill>
                  <a:srgbClr val="0E1A24"/>
                </a:solidFill>
                <a:latin typeface="Georgia" pitchFamily="34" charset="0"/>
                <a:ea typeface="Georgia" pitchFamily="34" charset="-122"/>
                <a:cs typeface="Georgia" pitchFamily="34" charset="-120"/>
              </a:rPr>
              <a:t>A sidecar the CPQ can call</a:t>
            </a:r>
            <a:endParaRPr lang="en-US" sz="2400" dirty="0"/>
          </a:p>
        </p:txBody>
      </p:sp>
      <p:sp>
        <p:nvSpPr>
          <p:cNvPr id="5" name="Text 3"/>
          <p:cNvSpPr/>
          <p:nvPr/>
        </p:nvSpPr>
        <p:spPr>
          <a:xfrm>
            <a:off x="329184" y="676656"/>
            <a:ext cx="10972800" cy="201168"/>
          </a:xfrm>
          <a:prstGeom prst="rect">
            <a:avLst/>
          </a:prstGeom>
          <a:noFill/>
          <a:ln/>
        </p:spPr>
        <p:txBody>
          <a:bodyPr wrap="square" lIns="0" tIns="0" rIns="0" bIns="0" rtlCol="0" anchor="ctr"/>
          <a:lstStyle/>
          <a:p>
            <a:pPr indent="0" marL="0">
              <a:buNone/>
            </a:pPr>
            <a:r>
              <a:rPr lang="en-US" sz="1200" dirty="0">
                <a:solidFill>
                  <a:srgbClr val="5C646C"/>
                </a:solidFill>
                <a:latin typeface="Calibri" pitchFamily="34" charset="0"/>
                <a:ea typeface="Calibri" pitchFamily="34" charset="-122"/>
                <a:cs typeface="Calibri" pitchFamily="34" charset="-120"/>
              </a:rPr>
              <a:t>The graph runs beside the CPQ, not inside it. Submit is the only inbound event.</a:t>
            </a:r>
            <a:endParaRPr lang="en-US" sz="1200" dirty="0"/>
          </a:p>
        </p:txBody>
      </p:sp>
      <p:sp>
        <p:nvSpPr>
          <p:cNvPr id="6" name="Shape 4"/>
          <p:cNvSpPr/>
          <p:nvPr/>
        </p:nvSpPr>
        <p:spPr>
          <a:xfrm>
            <a:off x="292608" y="987552"/>
            <a:ext cx="3785616" cy="1847088"/>
          </a:xfrm>
          <a:prstGeom prst="roundRect">
            <a:avLst>
              <a:gd name="adj" fmla="val 2970"/>
            </a:avLst>
          </a:prstGeom>
          <a:solidFill>
            <a:srgbClr val="FFFFFF"/>
          </a:solidFill>
          <a:ln w="12700">
            <a:solidFill>
              <a:srgbClr val="D7D2C8"/>
            </a:solidFill>
            <a:prstDash val="solid"/>
          </a:ln>
        </p:spPr>
      </p:sp>
      <p:sp>
        <p:nvSpPr>
          <p:cNvPr id="7" name="Shape 5"/>
          <p:cNvSpPr/>
          <p:nvPr/>
        </p:nvSpPr>
        <p:spPr>
          <a:xfrm>
            <a:off x="420624" y="1115568"/>
            <a:ext cx="347472" cy="347472"/>
          </a:xfrm>
          <a:prstGeom prst="ellipse">
            <a:avLst/>
          </a:prstGeom>
          <a:solidFill>
            <a:srgbClr val="1D5C68"/>
          </a:solidFill>
          <a:ln/>
        </p:spPr>
      </p:sp>
      <p:sp>
        <p:nvSpPr>
          <p:cNvPr id="8" name="Text 6"/>
          <p:cNvSpPr/>
          <p:nvPr/>
        </p:nvSpPr>
        <p:spPr>
          <a:xfrm>
            <a:off x="420624" y="1152144"/>
            <a:ext cx="347472" cy="274320"/>
          </a:xfrm>
          <a:prstGeom prst="rect">
            <a:avLst/>
          </a:prstGeom>
          <a:noFill/>
          <a:ln/>
        </p:spPr>
        <p:txBody>
          <a:bodyPr wrap="square" lIns="0" tIns="0" rIns="0" bIns="0" rtlCol="0" anchor="ctr"/>
          <a:lstStyle/>
          <a:p>
            <a:pPr algn="ctr" indent="0" marL="0">
              <a:buNone/>
            </a:pPr>
            <a:r>
              <a:rPr lang="en-US" sz="1300" b="1" dirty="0">
                <a:solidFill>
                  <a:srgbClr val="F4F0E8"/>
                </a:solidFill>
                <a:latin typeface="Calibri" pitchFamily="34" charset="0"/>
                <a:ea typeface="Calibri" pitchFamily="34" charset="-122"/>
                <a:cs typeface="Calibri" pitchFamily="34" charset="-120"/>
              </a:rPr>
              <a:t>1</a:t>
            </a:r>
            <a:endParaRPr lang="en-US" sz="1300" dirty="0"/>
          </a:p>
        </p:txBody>
      </p:sp>
      <p:sp>
        <p:nvSpPr>
          <p:cNvPr id="9" name="Text 7"/>
          <p:cNvSpPr/>
          <p:nvPr/>
        </p:nvSpPr>
        <p:spPr>
          <a:xfrm>
            <a:off x="822960" y="1133856"/>
            <a:ext cx="3108960" cy="292608"/>
          </a:xfrm>
          <a:prstGeom prst="rect">
            <a:avLst/>
          </a:prstGeom>
          <a:noFill/>
          <a:ln/>
        </p:spPr>
        <p:txBody>
          <a:bodyPr wrap="square" lIns="0" tIns="0" rIns="0" bIns="0" rtlCol="0" anchor="ctr"/>
          <a:lstStyle/>
          <a:p>
            <a:pPr indent="0" marL="0">
              <a:buNone/>
            </a:pPr>
            <a:r>
              <a:rPr lang="en-US" sz="1300" b="1" dirty="0">
                <a:solidFill>
                  <a:srgbClr val="0E1A24"/>
                </a:solidFill>
                <a:latin typeface="Calibri" pitchFamily="34" charset="0"/>
                <a:ea typeface="Calibri" pitchFamily="34" charset="-122"/>
                <a:cs typeface="Calibri" pitchFamily="34" charset="-120"/>
              </a:rPr>
              <a:t>SELLER UI</a:t>
            </a:r>
            <a:endParaRPr lang="en-US" sz="1300" dirty="0"/>
          </a:p>
        </p:txBody>
      </p:sp>
      <p:sp>
        <p:nvSpPr>
          <p:cNvPr id="10" name="Text 8"/>
          <p:cNvSpPr/>
          <p:nvPr/>
        </p:nvSpPr>
        <p:spPr>
          <a:xfrm>
            <a:off x="438912" y="1517904"/>
            <a:ext cx="3493008" cy="1207008"/>
          </a:xfrm>
          <a:prstGeom prst="rect">
            <a:avLst/>
          </a:prstGeom>
          <a:noFill/>
          <a:ln/>
        </p:spPr>
        <p:txBody>
          <a:bodyPr wrap="square" lIns="0" tIns="0" rIns="0" bIns="0" rtlCol="0" anchor="ctr"/>
          <a:lstStyle/>
          <a:p>
            <a:pPr indent="0" marL="0">
              <a:buNone/>
            </a:pPr>
            <a:r>
              <a:rPr lang="en-US" sz="1200" dirty="0">
                <a:solidFill>
                  <a:srgbClr val="141416"/>
                </a:solidFill>
                <a:latin typeface="Calibri" pitchFamily="34" charset="0"/>
                <a:ea typeface="Calibri" pitchFamily="34" charset="-122"/>
                <a:cs typeface="Calibri" pitchFamily="34" charset="-120"/>
              </a:rPr>
              <a:t>React console. Quotes tab. Jordan Lee hits Submit. Stage is still Draft. No agent has started.</a:t>
            </a:r>
            <a:endParaRPr lang="en-US" sz="1200" dirty="0"/>
          </a:p>
        </p:txBody>
      </p:sp>
      <p:sp>
        <p:nvSpPr>
          <p:cNvPr id="11" name="Shape 9"/>
          <p:cNvSpPr/>
          <p:nvPr/>
        </p:nvSpPr>
        <p:spPr>
          <a:xfrm>
            <a:off x="4224528" y="987552"/>
            <a:ext cx="3785616" cy="1847088"/>
          </a:xfrm>
          <a:prstGeom prst="roundRect">
            <a:avLst>
              <a:gd name="adj" fmla="val 2970"/>
            </a:avLst>
          </a:prstGeom>
          <a:solidFill>
            <a:srgbClr val="FFFFFF"/>
          </a:solidFill>
          <a:ln w="12700">
            <a:solidFill>
              <a:srgbClr val="D7D2C8"/>
            </a:solidFill>
            <a:prstDash val="solid"/>
          </a:ln>
        </p:spPr>
      </p:sp>
      <p:sp>
        <p:nvSpPr>
          <p:cNvPr id="12" name="Shape 10"/>
          <p:cNvSpPr/>
          <p:nvPr/>
        </p:nvSpPr>
        <p:spPr>
          <a:xfrm>
            <a:off x="4352544" y="1115568"/>
            <a:ext cx="347472" cy="347472"/>
          </a:xfrm>
          <a:prstGeom prst="ellipse">
            <a:avLst/>
          </a:prstGeom>
          <a:solidFill>
            <a:srgbClr val="1D5C68"/>
          </a:solidFill>
          <a:ln/>
        </p:spPr>
      </p:sp>
      <p:sp>
        <p:nvSpPr>
          <p:cNvPr id="13" name="Text 11"/>
          <p:cNvSpPr/>
          <p:nvPr/>
        </p:nvSpPr>
        <p:spPr>
          <a:xfrm>
            <a:off x="4352544" y="1152144"/>
            <a:ext cx="347472" cy="274320"/>
          </a:xfrm>
          <a:prstGeom prst="rect">
            <a:avLst/>
          </a:prstGeom>
          <a:noFill/>
          <a:ln/>
        </p:spPr>
        <p:txBody>
          <a:bodyPr wrap="square" lIns="0" tIns="0" rIns="0" bIns="0" rtlCol="0" anchor="ctr"/>
          <a:lstStyle/>
          <a:p>
            <a:pPr algn="ctr" indent="0" marL="0">
              <a:buNone/>
            </a:pPr>
            <a:r>
              <a:rPr lang="en-US" sz="1300" b="1" dirty="0">
                <a:solidFill>
                  <a:srgbClr val="F4F0E8"/>
                </a:solidFill>
                <a:latin typeface="Calibri" pitchFamily="34" charset="0"/>
                <a:ea typeface="Calibri" pitchFamily="34" charset="-122"/>
                <a:cs typeface="Calibri" pitchFamily="34" charset="-120"/>
              </a:rPr>
              <a:t>2</a:t>
            </a:r>
            <a:endParaRPr lang="en-US" sz="1300" dirty="0"/>
          </a:p>
        </p:txBody>
      </p:sp>
      <p:sp>
        <p:nvSpPr>
          <p:cNvPr id="14" name="Text 12"/>
          <p:cNvSpPr/>
          <p:nvPr/>
        </p:nvSpPr>
        <p:spPr>
          <a:xfrm>
            <a:off x="4754880" y="1133856"/>
            <a:ext cx="3108960" cy="292608"/>
          </a:xfrm>
          <a:prstGeom prst="rect">
            <a:avLst/>
          </a:prstGeom>
          <a:noFill/>
          <a:ln/>
        </p:spPr>
        <p:txBody>
          <a:bodyPr wrap="square" lIns="0" tIns="0" rIns="0" bIns="0" rtlCol="0" anchor="ctr"/>
          <a:lstStyle/>
          <a:p>
            <a:pPr indent="0" marL="0">
              <a:buNone/>
            </a:pPr>
            <a:r>
              <a:rPr lang="en-US" sz="1300" b="1" dirty="0">
                <a:solidFill>
                  <a:srgbClr val="0E1A24"/>
                </a:solidFill>
                <a:latin typeface="Calibri" pitchFamily="34" charset="0"/>
                <a:ea typeface="Calibri" pitchFamily="34" charset="-122"/>
                <a:cs typeface="Calibri" pitchFamily="34" charset="-120"/>
              </a:rPr>
              <a:t>HOP API</a:t>
            </a:r>
            <a:endParaRPr lang="en-US" sz="1300" dirty="0"/>
          </a:p>
        </p:txBody>
      </p:sp>
      <p:sp>
        <p:nvSpPr>
          <p:cNvPr id="15" name="Text 13"/>
          <p:cNvSpPr/>
          <p:nvPr/>
        </p:nvSpPr>
        <p:spPr>
          <a:xfrm>
            <a:off x="4370832" y="1517904"/>
            <a:ext cx="3493008" cy="1207008"/>
          </a:xfrm>
          <a:prstGeom prst="rect">
            <a:avLst/>
          </a:prstGeom>
          <a:noFill/>
          <a:ln/>
        </p:spPr>
        <p:txBody>
          <a:bodyPr wrap="square" lIns="0" tIns="0" rIns="0" bIns="0" rtlCol="0" anchor="ctr"/>
          <a:lstStyle/>
          <a:p>
            <a:pPr indent="0" marL="0">
              <a:buNone/>
            </a:pPr>
            <a:r>
              <a:rPr lang="en-US" sz="1200" dirty="0">
                <a:solidFill>
                  <a:srgbClr val="141416"/>
                </a:solidFill>
                <a:latin typeface="Calibri" pitchFamily="34" charset="0"/>
                <a:ea typeface="Calibri" pitchFamily="34" charset="-122"/>
                <a:cs typeface="Calibri" pitchFamily="34" charset="-120"/>
              </a:rPr>
              <a:t>POST /hop on port 8091. GET /health for the probe. Structured JSON in. The shape a Salesforce CPQ webhook would send.</a:t>
            </a:r>
            <a:endParaRPr lang="en-US" sz="1200" dirty="0"/>
          </a:p>
        </p:txBody>
      </p:sp>
      <p:sp>
        <p:nvSpPr>
          <p:cNvPr id="16" name="Shape 14"/>
          <p:cNvSpPr/>
          <p:nvPr/>
        </p:nvSpPr>
        <p:spPr>
          <a:xfrm>
            <a:off x="8156448" y="987552"/>
            <a:ext cx="3785616" cy="1847088"/>
          </a:xfrm>
          <a:prstGeom prst="roundRect">
            <a:avLst>
              <a:gd name="adj" fmla="val 2970"/>
            </a:avLst>
          </a:prstGeom>
          <a:solidFill>
            <a:srgbClr val="FFFFFF"/>
          </a:solidFill>
          <a:ln w="12700">
            <a:solidFill>
              <a:srgbClr val="D7D2C8"/>
            </a:solidFill>
            <a:prstDash val="solid"/>
          </a:ln>
        </p:spPr>
      </p:sp>
      <p:sp>
        <p:nvSpPr>
          <p:cNvPr id="17" name="Shape 15"/>
          <p:cNvSpPr/>
          <p:nvPr/>
        </p:nvSpPr>
        <p:spPr>
          <a:xfrm>
            <a:off x="8284464" y="1115568"/>
            <a:ext cx="347472" cy="347472"/>
          </a:xfrm>
          <a:prstGeom prst="ellipse">
            <a:avLst/>
          </a:prstGeom>
          <a:solidFill>
            <a:srgbClr val="1D5C68"/>
          </a:solidFill>
          <a:ln/>
        </p:spPr>
      </p:sp>
      <p:sp>
        <p:nvSpPr>
          <p:cNvPr id="18" name="Text 16"/>
          <p:cNvSpPr/>
          <p:nvPr/>
        </p:nvSpPr>
        <p:spPr>
          <a:xfrm>
            <a:off x="8284464" y="1152144"/>
            <a:ext cx="347472" cy="274320"/>
          </a:xfrm>
          <a:prstGeom prst="rect">
            <a:avLst/>
          </a:prstGeom>
          <a:noFill/>
          <a:ln/>
        </p:spPr>
        <p:txBody>
          <a:bodyPr wrap="square" lIns="0" tIns="0" rIns="0" bIns="0" rtlCol="0" anchor="ctr"/>
          <a:lstStyle/>
          <a:p>
            <a:pPr algn="ctr" indent="0" marL="0">
              <a:buNone/>
            </a:pPr>
            <a:r>
              <a:rPr lang="en-US" sz="1300" b="1" dirty="0">
                <a:solidFill>
                  <a:srgbClr val="F4F0E8"/>
                </a:solidFill>
                <a:latin typeface="Calibri" pitchFamily="34" charset="0"/>
                <a:ea typeface="Calibri" pitchFamily="34" charset="-122"/>
                <a:cs typeface="Calibri" pitchFamily="34" charset="-120"/>
              </a:rPr>
              <a:t>3</a:t>
            </a:r>
            <a:endParaRPr lang="en-US" sz="1300" dirty="0"/>
          </a:p>
        </p:txBody>
      </p:sp>
      <p:sp>
        <p:nvSpPr>
          <p:cNvPr id="19" name="Text 17"/>
          <p:cNvSpPr/>
          <p:nvPr/>
        </p:nvSpPr>
        <p:spPr>
          <a:xfrm>
            <a:off x="8686800" y="1133856"/>
            <a:ext cx="3108960" cy="292608"/>
          </a:xfrm>
          <a:prstGeom prst="rect">
            <a:avLst/>
          </a:prstGeom>
          <a:noFill/>
          <a:ln/>
        </p:spPr>
        <p:txBody>
          <a:bodyPr wrap="square" lIns="0" tIns="0" rIns="0" bIns="0" rtlCol="0" anchor="ctr"/>
          <a:lstStyle/>
          <a:p>
            <a:pPr indent="0" marL="0">
              <a:buNone/>
            </a:pPr>
            <a:r>
              <a:rPr lang="en-US" sz="1300" b="1" dirty="0">
                <a:solidFill>
                  <a:srgbClr val="0E1A24"/>
                </a:solidFill>
                <a:latin typeface="Calibri" pitchFamily="34" charset="0"/>
                <a:ea typeface="Calibri" pitchFamily="34" charset="-122"/>
                <a:cs typeface="Calibri" pitchFamily="34" charset="-120"/>
              </a:rPr>
              <a:t>LANGGRAPH</a:t>
            </a:r>
            <a:endParaRPr lang="en-US" sz="1300" dirty="0"/>
          </a:p>
        </p:txBody>
      </p:sp>
      <p:sp>
        <p:nvSpPr>
          <p:cNvPr id="20" name="Text 18"/>
          <p:cNvSpPr/>
          <p:nvPr/>
        </p:nvSpPr>
        <p:spPr>
          <a:xfrm>
            <a:off x="8302752" y="1517904"/>
            <a:ext cx="3493008" cy="1207008"/>
          </a:xfrm>
          <a:prstGeom prst="rect">
            <a:avLst/>
          </a:prstGeom>
          <a:noFill/>
          <a:ln/>
        </p:spPr>
        <p:txBody>
          <a:bodyPr wrap="square" lIns="0" tIns="0" rIns="0" bIns="0" rtlCol="0" anchor="ctr"/>
          <a:lstStyle/>
          <a:p>
            <a:pPr indent="0" marL="0">
              <a:buNone/>
            </a:pPr>
            <a:r>
              <a:rPr lang="en-US" sz="1200" dirty="0">
                <a:solidFill>
                  <a:srgbClr val="141416"/>
                </a:solidFill>
                <a:latin typeface="Calibri" pitchFamily="34" charset="0"/>
                <a:ea typeface="Calibri" pitchFamily="34" charset="-122"/>
                <a:cs typeface="Calibri" pitchFamily="34" charset="-120"/>
              </a:rPr>
              <a:t>StateGraph compiles the crew. Orchestrator plans. Discount and Payment run in parallel. Pydantic checks each node.</a:t>
            </a:r>
            <a:endParaRPr lang="en-US" sz="1200" dirty="0"/>
          </a:p>
        </p:txBody>
      </p:sp>
      <p:sp>
        <p:nvSpPr>
          <p:cNvPr id="21" name="Shape 19"/>
          <p:cNvSpPr/>
          <p:nvPr/>
        </p:nvSpPr>
        <p:spPr>
          <a:xfrm>
            <a:off x="292608" y="2953512"/>
            <a:ext cx="3785616" cy="1847088"/>
          </a:xfrm>
          <a:prstGeom prst="roundRect">
            <a:avLst>
              <a:gd name="adj" fmla="val 2970"/>
            </a:avLst>
          </a:prstGeom>
          <a:solidFill>
            <a:srgbClr val="FFFFFF"/>
          </a:solidFill>
          <a:ln w="12700">
            <a:solidFill>
              <a:srgbClr val="D7D2C8"/>
            </a:solidFill>
            <a:prstDash val="solid"/>
          </a:ln>
        </p:spPr>
      </p:sp>
      <p:sp>
        <p:nvSpPr>
          <p:cNvPr id="22" name="Shape 20"/>
          <p:cNvSpPr/>
          <p:nvPr/>
        </p:nvSpPr>
        <p:spPr>
          <a:xfrm>
            <a:off x="420624" y="3081528"/>
            <a:ext cx="347472" cy="347472"/>
          </a:xfrm>
          <a:prstGeom prst="ellipse">
            <a:avLst/>
          </a:prstGeom>
          <a:solidFill>
            <a:srgbClr val="1D5C68"/>
          </a:solidFill>
          <a:ln/>
        </p:spPr>
      </p:sp>
      <p:sp>
        <p:nvSpPr>
          <p:cNvPr id="23" name="Text 21"/>
          <p:cNvSpPr/>
          <p:nvPr/>
        </p:nvSpPr>
        <p:spPr>
          <a:xfrm>
            <a:off x="420624" y="3118104"/>
            <a:ext cx="347472" cy="274320"/>
          </a:xfrm>
          <a:prstGeom prst="rect">
            <a:avLst/>
          </a:prstGeom>
          <a:noFill/>
          <a:ln/>
        </p:spPr>
        <p:txBody>
          <a:bodyPr wrap="square" lIns="0" tIns="0" rIns="0" bIns="0" rtlCol="0" anchor="ctr"/>
          <a:lstStyle/>
          <a:p>
            <a:pPr algn="ctr" indent="0" marL="0">
              <a:buNone/>
            </a:pPr>
            <a:r>
              <a:rPr lang="en-US" sz="1300" b="1" dirty="0">
                <a:solidFill>
                  <a:srgbClr val="F4F0E8"/>
                </a:solidFill>
                <a:latin typeface="Calibri" pitchFamily="34" charset="0"/>
                <a:ea typeface="Calibri" pitchFamily="34" charset="-122"/>
                <a:cs typeface="Calibri" pitchFamily="34" charset="-120"/>
              </a:rPr>
              <a:t>4</a:t>
            </a:r>
            <a:endParaRPr lang="en-US" sz="1300" dirty="0"/>
          </a:p>
        </p:txBody>
      </p:sp>
      <p:sp>
        <p:nvSpPr>
          <p:cNvPr id="24" name="Text 22"/>
          <p:cNvSpPr/>
          <p:nvPr/>
        </p:nvSpPr>
        <p:spPr>
          <a:xfrm>
            <a:off x="822960" y="3099816"/>
            <a:ext cx="3108960" cy="292608"/>
          </a:xfrm>
          <a:prstGeom prst="rect">
            <a:avLst/>
          </a:prstGeom>
          <a:noFill/>
          <a:ln/>
        </p:spPr>
        <p:txBody>
          <a:bodyPr wrap="square" lIns="0" tIns="0" rIns="0" bIns="0" rtlCol="0" anchor="ctr"/>
          <a:lstStyle/>
          <a:p>
            <a:pPr indent="0" marL="0">
              <a:buNone/>
            </a:pPr>
            <a:r>
              <a:rPr lang="en-US" sz="1300" b="1" dirty="0">
                <a:solidFill>
                  <a:srgbClr val="0E1A24"/>
                </a:solidFill>
                <a:latin typeface="Calibri" pitchFamily="34" charset="0"/>
                <a:ea typeface="Calibri" pitchFamily="34" charset="-122"/>
                <a:cs typeface="Calibri" pitchFamily="34" charset="-120"/>
              </a:rPr>
              <a:t>GUARDRAIL</a:t>
            </a:r>
            <a:endParaRPr lang="en-US" sz="1300" dirty="0"/>
          </a:p>
        </p:txBody>
      </p:sp>
      <p:sp>
        <p:nvSpPr>
          <p:cNvPr id="25" name="Text 23"/>
          <p:cNvSpPr/>
          <p:nvPr/>
        </p:nvSpPr>
        <p:spPr>
          <a:xfrm>
            <a:off x="438912" y="3483864"/>
            <a:ext cx="3493008" cy="1207008"/>
          </a:xfrm>
          <a:prstGeom prst="rect">
            <a:avLst/>
          </a:prstGeom>
          <a:noFill/>
          <a:ln/>
        </p:spPr>
        <p:txBody>
          <a:bodyPr wrap="square" lIns="0" tIns="0" rIns="0" bIns="0" rtlCol="0" anchor="ctr"/>
          <a:lstStyle/>
          <a:p>
            <a:pPr indent="0" marL="0">
              <a:buNone/>
            </a:pPr>
            <a:r>
              <a:rPr lang="en-US" sz="1200" dirty="0">
                <a:solidFill>
                  <a:srgbClr val="141416"/>
                </a:solidFill>
                <a:latin typeface="Calibri" pitchFamily="34" charset="0"/>
                <a:ea typeface="Calibri" pitchFamily="34" charset="-122"/>
                <a:cs typeface="Calibri" pitchFamily="34" charset="-120"/>
              </a:rPr>
              <a:t>Output check after the combine. A note cannot force Approve. No citation forces a hold. Agents cannot write Sent, Signed, or Converted.</a:t>
            </a:r>
            <a:endParaRPr lang="en-US" sz="1200" dirty="0"/>
          </a:p>
        </p:txBody>
      </p:sp>
      <p:sp>
        <p:nvSpPr>
          <p:cNvPr id="26" name="Shape 24"/>
          <p:cNvSpPr/>
          <p:nvPr/>
        </p:nvSpPr>
        <p:spPr>
          <a:xfrm>
            <a:off x="4224528" y="2953512"/>
            <a:ext cx="3785616" cy="1847088"/>
          </a:xfrm>
          <a:prstGeom prst="roundRect">
            <a:avLst>
              <a:gd name="adj" fmla="val 2970"/>
            </a:avLst>
          </a:prstGeom>
          <a:solidFill>
            <a:srgbClr val="FFFFFF"/>
          </a:solidFill>
          <a:ln w="12700">
            <a:solidFill>
              <a:srgbClr val="D7D2C8"/>
            </a:solidFill>
            <a:prstDash val="solid"/>
          </a:ln>
        </p:spPr>
      </p:sp>
      <p:sp>
        <p:nvSpPr>
          <p:cNvPr id="27" name="Shape 25"/>
          <p:cNvSpPr/>
          <p:nvPr/>
        </p:nvSpPr>
        <p:spPr>
          <a:xfrm>
            <a:off x="4352544" y="3081528"/>
            <a:ext cx="347472" cy="347472"/>
          </a:xfrm>
          <a:prstGeom prst="ellipse">
            <a:avLst/>
          </a:prstGeom>
          <a:solidFill>
            <a:srgbClr val="1D5C68"/>
          </a:solidFill>
          <a:ln/>
        </p:spPr>
      </p:sp>
      <p:sp>
        <p:nvSpPr>
          <p:cNvPr id="28" name="Text 26"/>
          <p:cNvSpPr/>
          <p:nvPr/>
        </p:nvSpPr>
        <p:spPr>
          <a:xfrm>
            <a:off x="4352544" y="3118104"/>
            <a:ext cx="347472" cy="274320"/>
          </a:xfrm>
          <a:prstGeom prst="rect">
            <a:avLst/>
          </a:prstGeom>
          <a:noFill/>
          <a:ln/>
        </p:spPr>
        <p:txBody>
          <a:bodyPr wrap="square" lIns="0" tIns="0" rIns="0" bIns="0" rtlCol="0" anchor="ctr"/>
          <a:lstStyle/>
          <a:p>
            <a:pPr algn="ctr" indent="0" marL="0">
              <a:buNone/>
            </a:pPr>
            <a:r>
              <a:rPr lang="en-US" sz="1300" b="1" dirty="0">
                <a:solidFill>
                  <a:srgbClr val="F4F0E8"/>
                </a:solidFill>
                <a:latin typeface="Calibri" pitchFamily="34" charset="0"/>
                <a:ea typeface="Calibri" pitchFamily="34" charset="-122"/>
                <a:cs typeface="Calibri" pitchFamily="34" charset="-120"/>
              </a:rPr>
              <a:t>5</a:t>
            </a:r>
            <a:endParaRPr lang="en-US" sz="1300" dirty="0"/>
          </a:p>
        </p:txBody>
      </p:sp>
      <p:sp>
        <p:nvSpPr>
          <p:cNvPr id="29" name="Text 27"/>
          <p:cNvSpPr/>
          <p:nvPr/>
        </p:nvSpPr>
        <p:spPr>
          <a:xfrm>
            <a:off x="4754880" y="3099816"/>
            <a:ext cx="3108960" cy="292608"/>
          </a:xfrm>
          <a:prstGeom prst="rect">
            <a:avLst/>
          </a:prstGeom>
          <a:noFill/>
          <a:ln/>
        </p:spPr>
        <p:txBody>
          <a:bodyPr wrap="square" lIns="0" tIns="0" rIns="0" bIns="0" rtlCol="0" anchor="ctr"/>
          <a:lstStyle/>
          <a:p>
            <a:pPr indent="0" marL="0">
              <a:buNone/>
            </a:pPr>
            <a:r>
              <a:rPr lang="en-US" sz="1300" b="1" dirty="0">
                <a:solidFill>
                  <a:srgbClr val="0E1A24"/>
                </a:solidFill>
                <a:latin typeface="Calibri" pitchFamily="34" charset="0"/>
                <a:ea typeface="Calibri" pitchFamily="34" charset="-122"/>
                <a:cs typeface="Calibri" pitchFamily="34" charset="-120"/>
              </a:rPr>
              <a:t>WRITE-BACK</a:t>
            </a:r>
            <a:endParaRPr lang="en-US" sz="1300" dirty="0"/>
          </a:p>
        </p:txBody>
      </p:sp>
      <p:sp>
        <p:nvSpPr>
          <p:cNvPr id="30" name="Text 28"/>
          <p:cNvSpPr/>
          <p:nvPr/>
        </p:nvSpPr>
        <p:spPr>
          <a:xfrm>
            <a:off x="4370832" y="3483864"/>
            <a:ext cx="3493008" cy="1207008"/>
          </a:xfrm>
          <a:prstGeom prst="rect">
            <a:avLst/>
          </a:prstGeom>
          <a:noFill/>
          <a:ln/>
        </p:spPr>
        <p:txBody>
          <a:bodyPr wrap="square" lIns="0" tIns="0" rIns="0" bIns="0" rtlCol="0" anchor="ctr"/>
          <a:lstStyle/>
          <a:p>
            <a:pPr indent="0" marL="0">
              <a:buNone/>
            </a:pPr>
            <a:r>
              <a:rPr lang="en-US" sz="1200" dirty="0">
                <a:solidFill>
                  <a:srgbClr val="141416"/>
                </a:solidFill>
                <a:latin typeface="Calibri" pitchFamily="34" charset="0"/>
                <a:ea typeface="Calibri" pitchFamily="34" charset="-122"/>
                <a:cs typeface="Calibri" pitchFamily="34" charset="-120"/>
              </a:rPr>
              <a:t>One stage, or a named assignment with an SLA. Resolves to SFDC:Finance or a DealHub group. CPQ remains system of record.</a:t>
            </a:r>
            <a:endParaRPr lang="en-US" sz="1200" dirty="0"/>
          </a:p>
        </p:txBody>
      </p:sp>
      <p:sp>
        <p:nvSpPr>
          <p:cNvPr id="31" name="Shape 29"/>
          <p:cNvSpPr/>
          <p:nvPr/>
        </p:nvSpPr>
        <p:spPr>
          <a:xfrm>
            <a:off x="8156448" y="2953512"/>
            <a:ext cx="3785616" cy="1847088"/>
          </a:xfrm>
          <a:prstGeom prst="roundRect">
            <a:avLst>
              <a:gd name="adj" fmla="val 2970"/>
            </a:avLst>
          </a:prstGeom>
          <a:solidFill>
            <a:srgbClr val="FFFFFF"/>
          </a:solidFill>
          <a:ln w="12700">
            <a:solidFill>
              <a:srgbClr val="D7D2C8"/>
            </a:solidFill>
            <a:prstDash val="solid"/>
          </a:ln>
        </p:spPr>
      </p:sp>
      <p:sp>
        <p:nvSpPr>
          <p:cNvPr id="32" name="Shape 30"/>
          <p:cNvSpPr/>
          <p:nvPr/>
        </p:nvSpPr>
        <p:spPr>
          <a:xfrm>
            <a:off x="8284464" y="3081528"/>
            <a:ext cx="347472" cy="347472"/>
          </a:xfrm>
          <a:prstGeom prst="ellipse">
            <a:avLst/>
          </a:prstGeom>
          <a:solidFill>
            <a:srgbClr val="1D5C68"/>
          </a:solidFill>
          <a:ln/>
        </p:spPr>
      </p:sp>
      <p:sp>
        <p:nvSpPr>
          <p:cNvPr id="33" name="Text 31"/>
          <p:cNvSpPr/>
          <p:nvPr/>
        </p:nvSpPr>
        <p:spPr>
          <a:xfrm>
            <a:off x="8284464" y="3118104"/>
            <a:ext cx="347472" cy="274320"/>
          </a:xfrm>
          <a:prstGeom prst="rect">
            <a:avLst/>
          </a:prstGeom>
          <a:noFill/>
          <a:ln/>
        </p:spPr>
        <p:txBody>
          <a:bodyPr wrap="square" lIns="0" tIns="0" rIns="0" bIns="0" rtlCol="0" anchor="ctr"/>
          <a:lstStyle/>
          <a:p>
            <a:pPr algn="ctr" indent="0" marL="0">
              <a:buNone/>
            </a:pPr>
            <a:r>
              <a:rPr lang="en-US" sz="1300" b="1" dirty="0">
                <a:solidFill>
                  <a:srgbClr val="F4F0E8"/>
                </a:solidFill>
                <a:latin typeface="Calibri" pitchFamily="34" charset="0"/>
                <a:ea typeface="Calibri" pitchFamily="34" charset="-122"/>
                <a:cs typeface="Calibri" pitchFamily="34" charset="-120"/>
              </a:rPr>
              <a:t>6</a:t>
            </a:r>
            <a:endParaRPr lang="en-US" sz="1300" dirty="0"/>
          </a:p>
        </p:txBody>
      </p:sp>
      <p:sp>
        <p:nvSpPr>
          <p:cNvPr id="34" name="Text 32"/>
          <p:cNvSpPr/>
          <p:nvPr/>
        </p:nvSpPr>
        <p:spPr>
          <a:xfrm>
            <a:off x="8686800" y="3099816"/>
            <a:ext cx="3108960" cy="292608"/>
          </a:xfrm>
          <a:prstGeom prst="rect">
            <a:avLst/>
          </a:prstGeom>
          <a:noFill/>
          <a:ln/>
        </p:spPr>
        <p:txBody>
          <a:bodyPr wrap="square" lIns="0" tIns="0" rIns="0" bIns="0" rtlCol="0" anchor="ctr"/>
          <a:lstStyle/>
          <a:p>
            <a:pPr indent="0" marL="0">
              <a:buNone/>
            </a:pPr>
            <a:r>
              <a:rPr lang="en-US" sz="1300" b="1" dirty="0">
                <a:solidFill>
                  <a:srgbClr val="0E1A24"/>
                </a:solidFill>
                <a:latin typeface="Calibri" pitchFamily="34" charset="0"/>
                <a:ea typeface="Calibri" pitchFamily="34" charset="-122"/>
                <a:cs typeface="Calibri" pitchFamily="34" charset="-120"/>
              </a:rPr>
              <a:t>LANGFUSE</a:t>
            </a:r>
            <a:endParaRPr lang="en-US" sz="1300" dirty="0"/>
          </a:p>
        </p:txBody>
      </p:sp>
      <p:sp>
        <p:nvSpPr>
          <p:cNvPr id="35" name="Text 33"/>
          <p:cNvSpPr/>
          <p:nvPr/>
        </p:nvSpPr>
        <p:spPr>
          <a:xfrm>
            <a:off x="8302752" y="3483864"/>
            <a:ext cx="3493008" cy="1207008"/>
          </a:xfrm>
          <a:prstGeom prst="rect">
            <a:avLst/>
          </a:prstGeom>
          <a:noFill/>
          <a:ln/>
        </p:spPr>
        <p:txBody>
          <a:bodyPr wrap="square" lIns="0" tIns="0" rIns="0" bIns="0" rtlCol="0" anchor="ctr"/>
          <a:lstStyle/>
          <a:p>
            <a:pPr indent="0" marL="0">
              <a:buNone/>
            </a:pPr>
            <a:r>
              <a:rPr lang="en-US" sz="1200" dirty="0">
                <a:solidFill>
                  <a:srgbClr val="141416"/>
                </a:solidFill>
                <a:latin typeface="Calibri" pitchFamily="34" charset="0"/>
                <a:ea typeface="Calibri" pitchFamily="34" charset="-122"/>
                <a:cs typeface="Calibri" pitchFamily="34" charset="-120"/>
              </a:rPr>
              <a:t>Generation approval-agents. Trace dealflow.approval. Spans: two specialists, orchestrator, guardrail. Scores: label_match and note_ignored. Keys stay server-side.</a:t>
            </a:r>
            <a:endParaRPr lang="en-US" sz="1200" dirty="0"/>
          </a:p>
        </p:txBody>
      </p:sp>
      <p:sp>
        <p:nvSpPr>
          <p:cNvPr id="36" name="Shape 34"/>
          <p:cNvSpPr/>
          <p:nvPr/>
        </p:nvSpPr>
        <p:spPr>
          <a:xfrm>
            <a:off x="292608" y="4956048"/>
            <a:ext cx="11594592" cy="1481328"/>
          </a:xfrm>
          <a:prstGeom prst="roundRect">
            <a:avLst>
              <a:gd name="adj" fmla="val 3704"/>
            </a:avLst>
          </a:prstGeom>
          <a:solidFill>
            <a:srgbClr val="0E1A24"/>
          </a:solidFill>
          <a:ln/>
        </p:spPr>
      </p:sp>
      <p:sp>
        <p:nvSpPr>
          <p:cNvPr id="37" name="Text 35"/>
          <p:cNvSpPr/>
          <p:nvPr/>
        </p:nvSpPr>
        <p:spPr>
          <a:xfrm>
            <a:off x="457200" y="5047488"/>
            <a:ext cx="10972800" cy="201168"/>
          </a:xfrm>
          <a:prstGeom prst="rect">
            <a:avLst/>
          </a:prstGeom>
          <a:noFill/>
          <a:ln/>
        </p:spPr>
        <p:txBody>
          <a:bodyPr wrap="square" lIns="0" tIns="0" rIns="0" bIns="0" rtlCol="0" anchor="ctr"/>
          <a:lstStyle/>
          <a:p>
            <a:pPr indent="0" marL="0">
              <a:buNone/>
            </a:pPr>
            <a:r>
              <a:rPr lang="en-US" sz="1100" b="1" dirty="0">
                <a:solidFill>
                  <a:srgbClr val="8FD0C8"/>
                </a:solidFill>
                <a:latin typeface="Calibri" pitchFamily="34" charset="0"/>
                <a:ea typeface="Calibri" pitchFamily="34" charset="-122"/>
                <a:cs typeface="Calibri" pitchFamily="34" charset="-120"/>
              </a:rPr>
              <a:t>THE BOUNDARY</a:t>
            </a:r>
            <a:endParaRPr lang="en-US" sz="1100" dirty="0"/>
          </a:p>
        </p:txBody>
      </p:sp>
      <p:sp>
        <p:nvSpPr>
          <p:cNvPr id="38" name="Text 36"/>
          <p:cNvSpPr/>
          <p:nvPr/>
        </p:nvSpPr>
        <p:spPr>
          <a:xfrm>
            <a:off x="457200" y="5285232"/>
            <a:ext cx="11228832" cy="1024128"/>
          </a:xfrm>
          <a:prstGeom prst="rect">
            <a:avLst/>
          </a:prstGeom>
          <a:noFill/>
          <a:ln/>
        </p:spPr>
        <p:txBody>
          <a:bodyPr wrap="square" lIns="0" tIns="0" rIns="0" bIns="0" rtlCol="0" anchor="ctr"/>
          <a:lstStyle/>
          <a:p>
            <a:pPr indent="0" marL="0">
              <a:buNone/>
            </a:pPr>
            <a:r>
              <a:rPr lang="en-US" sz="1300" dirty="0">
                <a:solidFill>
                  <a:srgbClr val="F4F0E8"/>
                </a:solidFill>
                <a:latin typeface="Calibri" pitchFamily="34" charset="0"/>
                <a:ea typeface="Calibri" pitchFamily="34" charset="-122"/>
                <a:cs typeface="Calibri" pitchFamily="34" charset="-120"/>
              </a:rPr>
              <a:t>The graph runs in a container beside the CPQ, not inside it. Submit is the only inbound event. Write-back is one stage or one named assignment. Helio and Northstar are separate policy packs. Switching the live pack changes what the next hop reads. It does not rewrite closed decisions. Salesforce CPQ, Revenue Cloud, DealHub, Conga, and Zuora stay the system of record. GitHub publishes python/dealflow_graph.py and python/requirements.txt. The older Streamlit crew is not the live hop.</a:t>
            </a:r>
            <a:endParaRPr lang="en-US" sz="1300" dirty="0"/>
          </a:p>
        </p:txBody>
      </p:sp>
      <p:sp>
        <p:nvSpPr>
          <p:cNvPr id="39" name="Shape 37"/>
          <p:cNvSpPr/>
          <p:nvPr/>
        </p:nvSpPr>
        <p:spPr>
          <a:xfrm>
            <a:off x="0" y="6601968"/>
            <a:ext cx="12191695" cy="256032"/>
          </a:xfrm>
          <a:prstGeom prst="rect">
            <a:avLst/>
          </a:prstGeom>
          <a:solidFill>
            <a:srgbClr val="0E1A24"/>
          </a:solidFill>
          <a:ln/>
        </p:spPr>
      </p:sp>
      <p:sp>
        <p:nvSpPr>
          <p:cNvPr id="40" name="Text 38"/>
          <p:cNvSpPr/>
          <p:nvPr/>
        </p:nvSpPr>
        <p:spPr>
          <a:xfrm>
            <a:off x="292608" y="6620256"/>
            <a:ext cx="9144000" cy="201168"/>
          </a:xfrm>
          <a:prstGeom prst="rect">
            <a:avLst/>
          </a:prstGeom>
          <a:noFill/>
          <a:ln/>
        </p:spPr>
        <p:txBody>
          <a:bodyPr wrap="square" lIns="0" tIns="0" rIns="0" bIns="0" rtlCol="0" anchor="ctr"/>
          <a:lstStyle/>
          <a:p>
            <a:pPr indent="0" marL="0">
              <a:buNone/>
            </a:pPr>
            <a:r>
              <a:rPr lang="en-US" sz="1000" dirty="0">
                <a:solidFill>
                  <a:srgbClr val="F4F0E8"/>
                </a:solidFill>
                <a:latin typeface="Calibri" pitchFamily="34" charset="0"/>
                <a:ea typeface="Calibri" pitchFamily="34" charset="-122"/>
                <a:cs typeface="Calibri" pitchFamily="34" charset="-120"/>
              </a:rPr>
              <a:t>DealFlow Approval Agents  ·  github.com/shashankjasra-afk/bird-lunar-falcon-timber</a:t>
            </a:r>
            <a:endParaRPr lang="en-US" sz="1000" dirty="0"/>
          </a:p>
        </p:txBody>
      </p:sp>
      <p:sp>
        <p:nvSpPr>
          <p:cNvPr id="41" name="Text 39"/>
          <p:cNvSpPr/>
          <p:nvPr/>
        </p:nvSpPr>
        <p:spPr>
          <a:xfrm>
            <a:off x="10607040" y="6620256"/>
            <a:ext cx="1280160" cy="201168"/>
          </a:xfrm>
          <a:prstGeom prst="rect">
            <a:avLst/>
          </a:prstGeom>
          <a:noFill/>
          <a:ln/>
        </p:spPr>
        <p:txBody>
          <a:bodyPr wrap="square" lIns="0" tIns="0" rIns="0" bIns="0" rtlCol="0" anchor="ctr"/>
          <a:lstStyle/>
          <a:p>
            <a:pPr algn="r" indent="0" marL="0">
              <a:buNone/>
            </a:pPr>
            <a:r>
              <a:rPr lang="en-US" sz="1000" dirty="0">
                <a:solidFill>
                  <a:srgbClr val="F4F0E8"/>
                </a:solidFill>
                <a:latin typeface="Calibri" pitchFamily="34" charset="0"/>
                <a:ea typeface="Calibri" pitchFamily="34" charset="-122"/>
                <a:cs typeface="Calibri" pitchFamily="34" charset="-120"/>
              </a:rPr>
              <a:t>4 / 4</a:t>
            </a:r>
            <a:endParaRPr lang="en-US" sz="10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4</Slides>
  <Notes>4</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4</vt:i4>
      </vt:variant>
    </vt:vector>
  </HeadingPairs>
  <TitlesOfParts>
    <vt:vector size="7" baseType="lpstr">
      <vt:lpstr>Arial</vt:lpstr>
      <vt:lpstr>Calibri</vt:lpstr>
      <vt:lpstr>Office Theme</vt:lpstr>
      <vt:lpstr>Slide 1</vt:lpstr>
      <vt:lpstr>Slide 2</vt:lpstr>
      <vt:lpstr>Slide 3</vt:lpstr>
      <vt:lpstr>Slide 4</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Agentic AI Design and Workflow</dc:title>
  <dc:subject>Reconstructed from dealflow_graph.py, the TypeScript hop, and GitHub main</dc:subject>
  <dc:creator>DealFlow Approval Agents</dc:creator>
  <cp:lastModifiedBy>DealFlow Approval Agents</cp:lastModifiedBy>
  <cp:revision>1</cp:revision>
  <dcterms:created xsi:type="dcterms:W3CDTF">2026-10-30T17:39:24Z</dcterms:created>
  <dcterms:modified xsi:type="dcterms:W3CDTF">2026-10-30T17:39:24Z</dcterms:modified>
</cp:coreProperties>
</file>