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4" r:id="rId2"/>
    <p:sldId id="285" r:id="rId3"/>
    <p:sldId id="286" r:id="rId4"/>
    <p:sldId id="287" r:id="rId5"/>
    <p:sldId id="288" r:id="rId6"/>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76" autoAdjust="0"/>
    <p:restoredTop sz="94610"/>
  </p:normalViewPr>
  <p:slideViewPr>
    <p:cSldViewPr snapToGrid="0" snapToObjects="1">
      <p:cViewPr varScale="1">
        <p:scale>
          <a:sx n="113" d="100"/>
          <a:sy n="113" d="100"/>
        </p:scale>
        <p:origin x="936"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52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82c132c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82c132c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6c791b6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56c791b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with picture border">
  <p:cSld name="Section Divider with picture border">
    <p:bg>
      <p:bgPr>
        <a:solidFill>
          <a:schemeClr val="dk1"/>
        </a:solidFill>
        <a:effectLst/>
      </p:bgPr>
    </p:bg>
    <p:spTree>
      <p:nvGrpSpPr>
        <p:cNvPr id="1" name="Shape 162"/>
        <p:cNvGrpSpPr/>
        <p:nvPr/>
      </p:nvGrpSpPr>
      <p:grpSpPr>
        <a:xfrm>
          <a:off x="0" y="0"/>
          <a:ext cx="0" cy="0"/>
          <a:chOff x="0" y="0"/>
          <a:chExt cx="0" cy="0"/>
        </a:xfrm>
      </p:grpSpPr>
      <p:sp>
        <p:nvSpPr>
          <p:cNvPr id="163" name="Google Shape;163;p14"/>
          <p:cNvSpPr/>
          <p:nvPr/>
        </p:nvSpPr>
        <p:spPr>
          <a:xfrm>
            <a:off x="63973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4" name="Google Shape;164;p14"/>
          <p:cNvSpPr/>
          <p:nvPr/>
        </p:nvSpPr>
        <p:spPr>
          <a:xfrm>
            <a:off x="-206496" y="708051"/>
            <a:ext cx="888569" cy="861200"/>
          </a:xfrm>
          <a:prstGeom prst="homePlate">
            <a:avLst>
              <a:gd name="adj" fmla="val 50000"/>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3A3A3A"/>
              </a:solidFill>
              <a:latin typeface="Oswald"/>
              <a:ea typeface="Oswald"/>
              <a:cs typeface="Oswald"/>
              <a:sym typeface="Oswald"/>
            </a:endParaRPr>
          </a:p>
        </p:txBody>
      </p:sp>
      <p:sp>
        <p:nvSpPr>
          <p:cNvPr id="165" name="Google Shape;165;p14"/>
          <p:cNvSpPr/>
          <p:nvPr/>
        </p:nvSpPr>
        <p:spPr>
          <a:xfrm rot="-8790304" flipH="1">
            <a:off x="10504659" y="-910561"/>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6" name="Google Shape;166;p14"/>
          <p:cNvSpPr/>
          <p:nvPr/>
        </p:nvSpPr>
        <p:spPr>
          <a:xfrm>
            <a:off x="68217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7" name="Google Shape;167;p14"/>
          <p:cNvSpPr/>
          <p:nvPr/>
        </p:nvSpPr>
        <p:spPr>
          <a:xfrm rot="-8790304" flipH="1">
            <a:off x="6094" y="3850165"/>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8" name="Google Shape;168;p14"/>
          <p:cNvSpPr txBox="1">
            <a:spLocks noGrp="1"/>
          </p:cNvSpPr>
          <p:nvPr>
            <p:ph type="sldNum" idx="12"/>
          </p:nvPr>
        </p:nvSpPr>
        <p:spPr>
          <a:xfrm>
            <a:off x="11390907" y="65266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pic>
        <p:nvPicPr>
          <p:cNvPr id="169" name="Google Shape;169;p14"/>
          <p:cNvPicPr preferRelativeResize="0"/>
          <p:nvPr/>
        </p:nvPicPr>
        <p:blipFill rotWithShape="1">
          <a:blip r:embed="rId2">
            <a:alphaModFix/>
          </a:blip>
          <a:srcRect l="219" r="219"/>
          <a:stretch/>
        </p:blipFill>
        <p:spPr>
          <a:xfrm>
            <a:off x="3523732" y="857650"/>
            <a:ext cx="5141361" cy="5142703"/>
          </a:xfrm>
          <a:prstGeom prst="rect">
            <a:avLst/>
          </a:prstGeom>
          <a:noFill/>
          <a:ln>
            <a:noFill/>
          </a:ln>
        </p:spPr>
      </p:pic>
      <p:sp>
        <p:nvSpPr>
          <p:cNvPr id="170" name="Google Shape;170;p14"/>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171" name="Google Shape;171;p14"/>
          <p:cNvSpPr txBox="1">
            <a:spLocks noGrp="1"/>
          </p:cNvSpPr>
          <p:nvPr>
            <p:ph type="title"/>
          </p:nvPr>
        </p:nvSpPr>
        <p:spPr>
          <a:xfrm>
            <a:off x="1083751" y="2445433"/>
            <a:ext cx="6115607" cy="1702000"/>
          </a:xfrm>
          <a:prstGeom prst="rect">
            <a:avLst/>
          </a:prstGeom>
          <a:noFill/>
          <a:ln>
            <a:noFill/>
          </a:ln>
        </p:spPr>
        <p:txBody>
          <a:bodyPr spcFirstLastPara="1" wrap="square" lIns="68575" tIns="68575" rIns="68575" bIns="68575" anchor="t" anchorCtr="0">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2" name="Google Shape;172;p14"/>
          <p:cNvSpPr txBox="1">
            <a:spLocks noGrp="1"/>
          </p:cNvSpPr>
          <p:nvPr>
            <p:ph type="subTitle" idx="1"/>
          </p:nvPr>
        </p:nvSpPr>
        <p:spPr>
          <a:xfrm>
            <a:off x="1083743" y="4230500"/>
            <a:ext cx="8595361" cy="909200"/>
          </a:xfrm>
          <a:prstGeom prst="rect">
            <a:avLst/>
          </a:prstGeom>
          <a:noFill/>
          <a:ln>
            <a:noFill/>
          </a:ln>
        </p:spPr>
        <p:txBody>
          <a:bodyPr spcFirstLastPara="1" wrap="square" lIns="68575" tIns="68575" rIns="68575" bIns="68575" anchor="t" anchorCtr="0">
            <a:noAutofit/>
          </a:bodyPr>
          <a:lstStyle>
            <a:lvl1pPr lvl="0" algn="l">
              <a:lnSpc>
                <a:spcPct val="115000"/>
              </a:lnSpc>
              <a:spcBef>
                <a:spcPts val="0"/>
              </a:spcBef>
              <a:spcAft>
                <a:spcPts val="0"/>
              </a:spcAft>
              <a:buSzPts val="1600"/>
              <a:buFont typeface="Poppins SemiBold"/>
              <a:buNone/>
              <a:defRPr sz="2133" b="1">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a:endParaRPr/>
          </a:p>
        </p:txBody>
      </p:sp>
      <p:sp>
        <p:nvSpPr>
          <p:cNvPr id="173" name="Google Shape;173;p14"/>
          <p:cNvSpPr>
            <a:spLocks noGrp="1"/>
          </p:cNvSpPr>
          <p:nvPr>
            <p:ph type="pic" idx="2"/>
          </p:nvPr>
        </p:nvSpPr>
        <p:spPr>
          <a:xfrm>
            <a:off x="6577953" y="538767"/>
            <a:ext cx="5013894" cy="5780800"/>
          </a:xfrm>
          <a:prstGeom prst="rect">
            <a:avLst/>
          </a:prstGeom>
          <a:noFill/>
          <a:ln>
            <a:noFill/>
          </a:ln>
        </p:spPr>
      </p:sp>
    </p:spTree>
    <p:extLst>
      <p:ext uri="{BB962C8B-B14F-4D97-AF65-F5344CB8AC3E}">
        <p14:creationId xmlns:p14="http://schemas.microsoft.com/office/powerpoint/2010/main" val="401587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single column">
  <p:cSld name="Title and Content with single column">
    <p:bg>
      <p:bgPr>
        <a:solidFill>
          <a:srgbClr val="FFFFFF"/>
        </a:solidFill>
        <a:effectLst/>
      </p:bgPr>
    </p:bg>
    <p:spTree>
      <p:nvGrpSpPr>
        <p:cNvPr id="1"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l="217" r="219"/>
          <a:stretch/>
        </p:blipFill>
        <p:spPr>
          <a:xfrm>
            <a:off x="3523732" y="857650"/>
            <a:ext cx="5141361" cy="5142703"/>
          </a:xfrm>
          <a:prstGeom prst="rect">
            <a:avLst/>
          </a:prstGeom>
          <a:noFill/>
          <a:ln>
            <a:noFill/>
          </a:ln>
        </p:spPr>
      </p:pic>
      <p:sp>
        <p:nvSpPr>
          <p:cNvPr id="45" name="Google Shape;45;p5"/>
          <p:cNvSpPr/>
          <p:nvPr/>
        </p:nvSpPr>
        <p:spPr>
          <a:xfrm>
            <a:off x="8177495" y="-50161"/>
            <a:ext cx="4088935"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6" name="Google Shape;46;p5"/>
          <p:cNvSpPr/>
          <p:nvPr/>
        </p:nvSpPr>
        <p:spPr>
          <a:xfrm rot="10800000" flipH="1">
            <a:off x="8713893" y="-46063"/>
            <a:ext cx="309119" cy="391600"/>
          </a:xfrm>
          <a:prstGeom prst="rtTriangle">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7" name="Google Shape;47;p5"/>
          <p:cNvSpPr/>
          <p:nvPr/>
        </p:nvSpPr>
        <p:spPr>
          <a:xfrm>
            <a:off x="-38864" y="-50161"/>
            <a:ext cx="8763317"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8" name="Google Shape;48;p5"/>
          <p:cNvSpPr/>
          <p:nvPr/>
        </p:nvSpPr>
        <p:spPr>
          <a:xfrm>
            <a:off x="2953930" y="6494051"/>
            <a:ext cx="9333169"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9" name="Google Shape;49;p5"/>
          <p:cNvSpPr/>
          <p:nvPr/>
        </p:nvSpPr>
        <p:spPr>
          <a:xfrm>
            <a:off x="-38865" y="6494051"/>
            <a:ext cx="3483493"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0" name="Google Shape;50;p5"/>
          <p:cNvSpPr/>
          <p:nvPr/>
        </p:nvSpPr>
        <p:spPr>
          <a:xfrm rot="10800000" flipH="1">
            <a:off x="3444766" y="6494251"/>
            <a:ext cx="309119" cy="391600"/>
          </a:xfrm>
          <a:prstGeom prst="rtTriangle">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1" name="Google Shape;51;p5"/>
          <p:cNvSpPr txBox="1">
            <a:spLocks noGrp="1"/>
          </p:cNvSpPr>
          <p:nvPr>
            <p:ph type="sldNum" idx="12"/>
          </p:nvPr>
        </p:nvSpPr>
        <p:spPr>
          <a:xfrm>
            <a:off x="11390933" y="65890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sp>
        <p:nvSpPr>
          <p:cNvPr id="52" name="Google Shape;52;p5"/>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53" name="Google Shape;53;p5"/>
          <p:cNvSpPr txBox="1">
            <a:spLocks noGrp="1"/>
          </p:cNvSpPr>
          <p:nvPr>
            <p:ph type="title"/>
          </p:nvPr>
        </p:nvSpPr>
        <p:spPr>
          <a:xfrm>
            <a:off x="641845" y="308941"/>
            <a:ext cx="9159614" cy="686000"/>
          </a:xfrm>
          <a:prstGeom prst="rect">
            <a:avLst/>
          </a:prstGeom>
          <a:noFill/>
          <a:ln>
            <a:noFill/>
          </a:ln>
        </p:spPr>
        <p:txBody>
          <a:bodyPr spcFirstLastPara="1" wrap="square" lIns="68575" tIns="68575" rIns="68575" bIns="68575" anchor="ctr" anchorCtr="0">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9pPr>
          </a:lstStyle>
          <a:p>
            <a:endParaRPr/>
          </a:p>
        </p:txBody>
      </p:sp>
      <p:sp>
        <p:nvSpPr>
          <p:cNvPr id="54" name="Google Shape;54;p5"/>
          <p:cNvSpPr txBox="1">
            <a:spLocks noGrp="1"/>
          </p:cNvSpPr>
          <p:nvPr>
            <p:ph type="subTitle" idx="1"/>
          </p:nvPr>
        </p:nvSpPr>
        <p:spPr>
          <a:xfrm>
            <a:off x="792397" y="1028700"/>
            <a:ext cx="11053521" cy="5012400"/>
          </a:xfrm>
          <a:prstGeom prst="rect">
            <a:avLst/>
          </a:prstGeom>
        </p:spPr>
        <p:txBody>
          <a:bodyPr spcFirstLastPara="1" wrap="square" lIns="68575" tIns="68575" rIns="68575" bIns="68575" anchor="t" anchorCtr="0">
            <a:noAutofit/>
          </a:bodyPr>
          <a:lstStyle>
            <a:lvl1pPr lvl="0">
              <a:spcBef>
                <a:spcPts val="0"/>
              </a:spcBef>
              <a:spcAft>
                <a:spcPts val="0"/>
              </a:spcAft>
              <a:buSzPts val="1600"/>
              <a:buNone/>
              <a:defRPr sz="2133"/>
            </a:lvl1pPr>
            <a:lvl2pPr lvl="1">
              <a:spcBef>
                <a:spcPts val="0"/>
              </a:spcBef>
              <a:spcAft>
                <a:spcPts val="0"/>
              </a:spcAft>
              <a:buSzPts val="1600"/>
              <a:buNone/>
              <a:defRPr sz="2133"/>
            </a:lvl2pPr>
            <a:lvl3pPr lvl="2">
              <a:spcBef>
                <a:spcPts val="0"/>
              </a:spcBef>
              <a:spcAft>
                <a:spcPts val="0"/>
              </a:spcAft>
              <a:buSzPts val="1600"/>
              <a:buNone/>
              <a:defRPr sz="2133"/>
            </a:lvl3pPr>
            <a:lvl4pPr lvl="3">
              <a:spcBef>
                <a:spcPts val="0"/>
              </a:spcBef>
              <a:spcAft>
                <a:spcPts val="0"/>
              </a:spcAft>
              <a:buSzPts val="1600"/>
              <a:buNone/>
              <a:defRPr sz="2133"/>
            </a:lvl4pPr>
            <a:lvl5pPr lvl="4">
              <a:spcBef>
                <a:spcPts val="0"/>
              </a:spcBef>
              <a:spcAft>
                <a:spcPts val="0"/>
              </a:spcAft>
              <a:buSzPts val="1600"/>
              <a:buNone/>
              <a:defRPr sz="2133"/>
            </a:lvl5pPr>
            <a:lvl6pPr lvl="5">
              <a:spcBef>
                <a:spcPts val="0"/>
              </a:spcBef>
              <a:spcAft>
                <a:spcPts val="0"/>
              </a:spcAft>
              <a:buSzPts val="1600"/>
              <a:buNone/>
              <a:defRPr sz="2133"/>
            </a:lvl6pPr>
            <a:lvl7pPr lvl="6">
              <a:spcBef>
                <a:spcPts val="0"/>
              </a:spcBef>
              <a:spcAft>
                <a:spcPts val="0"/>
              </a:spcAft>
              <a:buSzPts val="1600"/>
              <a:buNone/>
              <a:defRPr sz="2133"/>
            </a:lvl7pPr>
            <a:lvl8pPr lvl="7">
              <a:spcBef>
                <a:spcPts val="0"/>
              </a:spcBef>
              <a:spcAft>
                <a:spcPts val="0"/>
              </a:spcAft>
              <a:buSzPts val="1600"/>
              <a:buNone/>
              <a:defRPr sz="2133"/>
            </a:lvl8pPr>
            <a:lvl9pPr lvl="8">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6125314"/>
      </p:ext>
    </p:extLst>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083751" y="1728110"/>
            <a:ext cx="5343808" cy="2418970"/>
          </a:xfrm>
          <a:prstGeom prst="rect">
            <a:avLst/>
          </a:prstGeom>
        </p:spPr>
        <p:txBody>
          <a:bodyPr spcFirstLastPara="1" wrap="square" lIns="91410" tIns="91410" rIns="91410" bIns="91410" anchor="b" anchorCtr="0">
            <a:noAutofit/>
          </a:bodyPr>
          <a:lstStyle/>
          <a:p>
            <a:endParaRPr dirty="0"/>
          </a:p>
          <a:p>
            <a:endParaRPr dirty="0"/>
          </a:p>
          <a:p>
            <a:endParaRPr dirty="0"/>
          </a:p>
          <a:p>
            <a:endParaRPr dirty="0"/>
          </a:p>
          <a:p>
            <a:endParaRPr dirty="0"/>
          </a:p>
          <a:p>
            <a:endParaRPr dirty="0"/>
          </a:p>
          <a:p>
            <a:endParaRPr dirty="0"/>
          </a:p>
          <a:p>
            <a:endParaRPr dirty="0"/>
          </a:p>
          <a:p>
            <a:r>
              <a:rPr lang="en" dirty="0"/>
              <a:t>Agent-driven Automation in Products Capstone Project</a:t>
            </a:r>
            <a:endParaRPr dirty="0"/>
          </a:p>
        </p:txBody>
      </p:sp>
      <p:sp>
        <p:nvSpPr>
          <p:cNvPr id="241" name="Google Shape;241;p22"/>
          <p:cNvSpPr txBox="1">
            <a:spLocks noGrp="1"/>
          </p:cNvSpPr>
          <p:nvPr>
            <p:ph type="subTitle" idx="1"/>
          </p:nvPr>
        </p:nvSpPr>
        <p:spPr>
          <a:xfrm>
            <a:off x="1083748" y="4230291"/>
            <a:ext cx="5393795" cy="908963"/>
          </a:xfrm>
          <a:prstGeom prst="rect">
            <a:avLst/>
          </a:prstGeom>
        </p:spPr>
        <p:txBody>
          <a:bodyPr spcFirstLastPara="1" wrap="square" lIns="91410" tIns="91410" rIns="91410" bIns="91410" anchor="t" anchorCtr="0">
            <a:noAutofit/>
          </a:bodyPr>
          <a:lstStyle/>
          <a:p>
            <a:pPr marL="0" indent="0"/>
            <a:r>
              <a:rPr lang="en" b="0" dirty="0">
                <a:latin typeface="Poppins"/>
                <a:ea typeface="Poppins"/>
                <a:cs typeface="Poppins"/>
                <a:sym typeface="Poppins"/>
              </a:rPr>
              <a:t>Project Team – Ranjith, Sanjeev and Shashank</a:t>
            </a:r>
            <a:endParaRPr b="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3"/>
          <p:cNvSpPr txBox="1">
            <a:spLocks noGrp="1"/>
          </p:cNvSpPr>
          <p:nvPr>
            <p:ph type="subTitle" idx="1"/>
          </p:nvPr>
        </p:nvSpPr>
        <p:spPr>
          <a:xfrm>
            <a:off x="792397" y="1029325"/>
            <a:ext cx="11053521" cy="5316927"/>
          </a:xfrm>
          <a:prstGeom prst="rect">
            <a:avLst/>
          </a:prstGeom>
        </p:spPr>
        <p:txBody>
          <a:bodyPr spcFirstLastPara="1" wrap="square" lIns="91410" tIns="91410" rIns="91410" bIns="91410" anchor="t" anchorCtr="0">
            <a:noAutofit/>
          </a:bodyPr>
          <a:lstStyle/>
          <a:p>
            <a:pPr marL="609448" indent="-414763">
              <a:buSzPts val="1300"/>
              <a:buAutoNum type="arabicPeriod"/>
            </a:pPr>
            <a:r>
              <a:rPr lang="en" sz="1733" dirty="0"/>
              <a:t>Problem Statement</a:t>
            </a:r>
          </a:p>
          <a:p>
            <a:pPr marL="609448" indent="-414763">
              <a:buSzPts val="1300"/>
              <a:buFont typeface="Arial" pitchFamily="34" charset="0"/>
              <a:buAutoNum type="arabicPeriod"/>
            </a:pPr>
            <a:r>
              <a:rPr lang="en" sz="1733" dirty="0"/>
              <a:t>Product Idea: The Agentic Opportunity</a:t>
            </a:r>
            <a:endParaRPr sz="1733" dirty="0"/>
          </a:p>
          <a:p>
            <a:pPr marL="609448" indent="-414763">
              <a:buSzPts val="1300"/>
              <a:buAutoNum type="arabicPeriod"/>
            </a:pPr>
            <a:r>
              <a:rPr lang="en" sz="1733" dirty="0"/>
              <a:t>Target Persona</a:t>
            </a:r>
            <a:endParaRPr sz="1733" dirty="0"/>
          </a:p>
          <a:p>
            <a:pPr marL="609448" indent="-414763">
              <a:buSzPts val="1300"/>
              <a:buAutoNum type="arabicPeriod"/>
            </a:pPr>
            <a:r>
              <a:rPr lang="en" sz="1733" dirty="0"/>
              <a:t>Unmet Needs Analysis</a:t>
            </a:r>
            <a:endParaRPr sz="1733" dirty="0"/>
          </a:p>
          <a:p>
            <a:pPr marL="609448" indent="-414763">
              <a:buSzPts val="1300"/>
              <a:buAutoNum type="arabicPeriod"/>
            </a:pPr>
            <a:r>
              <a:rPr lang="en" sz="1733" dirty="0"/>
              <a:t>Value Proposition</a:t>
            </a:r>
            <a:endParaRPr sz="1733" dirty="0"/>
          </a:p>
          <a:p>
            <a:pPr marL="609448" indent="-414763">
              <a:buSzPts val="1300"/>
              <a:buAutoNum type="arabicPeriod"/>
            </a:pPr>
            <a:r>
              <a:rPr lang="en" sz="1733" dirty="0"/>
              <a:t>Business Strategy Alignment</a:t>
            </a:r>
            <a:endParaRPr sz="1733" dirty="0"/>
          </a:p>
          <a:p>
            <a:pPr marL="609448" indent="-414763">
              <a:buSzPts val="1300"/>
              <a:buAutoNum type="arabicPeriod"/>
            </a:pPr>
            <a:r>
              <a:rPr lang="en" sz="1733" dirty="0"/>
              <a:t>Agentic AI Design &amp; Workflow</a:t>
            </a:r>
            <a:endParaRPr sz="1733" dirty="0"/>
          </a:p>
          <a:p>
            <a:pPr marL="609448" indent="-414763">
              <a:buSzPts val="1300"/>
              <a:buAutoNum type="arabicPeriod"/>
            </a:pPr>
            <a:r>
              <a:rPr lang="en" sz="1733" dirty="0"/>
              <a:t>Agent Workflow &amp; Collaboration</a:t>
            </a:r>
            <a:endParaRPr sz="1733" dirty="0"/>
          </a:p>
          <a:p>
            <a:pPr marL="609448" indent="-414763">
              <a:buSzPts val="1300"/>
              <a:buAutoNum type="arabicPeriod"/>
            </a:pPr>
            <a:r>
              <a:rPr lang="en" sz="1733" dirty="0"/>
              <a:t>Agent Workflow Simulation &amp; Validation</a:t>
            </a:r>
            <a:endParaRPr sz="1733" dirty="0"/>
          </a:p>
          <a:p>
            <a:pPr marL="609448" indent="-414763">
              <a:buSzPts val="1300"/>
              <a:buAutoNum type="arabicPeriod"/>
            </a:pPr>
            <a:r>
              <a:rPr lang="en" sz="1733" dirty="0"/>
              <a:t>Deployment, Governance &amp; Scaling</a:t>
            </a:r>
            <a:endParaRPr sz="1733" dirty="0"/>
          </a:p>
          <a:p>
            <a:pPr marL="609448" indent="-414763">
              <a:buSzPts val="1300"/>
              <a:buAutoNum type="arabicPeriod"/>
            </a:pPr>
            <a:r>
              <a:rPr lang="en" sz="1733" dirty="0"/>
              <a:t>Deployment Considerations</a:t>
            </a:r>
            <a:endParaRPr sz="1733" dirty="0"/>
          </a:p>
          <a:p>
            <a:pPr marL="609448" indent="-414763">
              <a:buSzPts val="1300"/>
              <a:buAutoNum type="arabicPeriod"/>
            </a:pPr>
            <a:r>
              <a:rPr lang="en" sz="1733" dirty="0"/>
              <a:t>Agent Governance &amp; Monitoring Strategy</a:t>
            </a:r>
            <a:endParaRPr sz="1733" dirty="0"/>
          </a:p>
          <a:p>
            <a:pPr marL="609448" indent="-414763">
              <a:buSzPts val="1300"/>
              <a:buAutoNum type="arabicPeriod"/>
            </a:pPr>
            <a:r>
              <a:rPr lang="en" sz="1733" dirty="0"/>
              <a:t>Scaling &amp; Continuous Improvement</a:t>
            </a:r>
            <a:endParaRPr sz="1733" dirty="0"/>
          </a:p>
          <a:p>
            <a:pPr marL="609448" indent="-414763">
              <a:buSzPts val="1300"/>
              <a:buAutoNum type="arabicPeriod"/>
            </a:pPr>
            <a:r>
              <a:rPr lang="en" sz="1733" dirty="0"/>
              <a:t>Roadmap &amp; Ethical Considerations</a:t>
            </a:r>
            <a:endParaRPr sz="1733" dirty="0"/>
          </a:p>
          <a:p>
            <a:pPr marL="609448" indent="-414763">
              <a:buSzPts val="1300"/>
              <a:buAutoNum type="arabicPeriod"/>
            </a:pPr>
            <a:r>
              <a:rPr lang="en" sz="1733" dirty="0"/>
              <a:t>Ethical Oversight Plan</a:t>
            </a:r>
            <a:endParaRPr sz="1733" dirty="0"/>
          </a:p>
          <a:p>
            <a:pPr marL="609448" indent="-414763">
              <a:buSzPts val="1300"/>
              <a:buAutoNum type="arabicPeriod"/>
            </a:pPr>
            <a:r>
              <a:rPr lang="en" sz="1733" dirty="0"/>
              <a:t>Conclusion &amp; Business Implications</a:t>
            </a:r>
            <a:endParaRPr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6856214"/>
          </a:xfrm>
          <a:prstGeom prst="rect">
            <a:avLst/>
          </a:prstGeom>
          <a:solidFill>
            <a:srgbClr val="0E1A24"/>
          </a:solidFill>
          <a:ln/>
        </p:spPr>
      </p:sp>
      <p:sp>
        <p:nvSpPr>
          <p:cNvPr id="3" name="Text 1"/>
          <p:cNvSpPr/>
          <p:nvPr/>
        </p:nvSpPr>
        <p:spPr>
          <a:xfrm>
            <a:off x="383948" y="202008"/>
            <a:ext cx="11335607" cy="347382"/>
          </a:xfrm>
          <a:prstGeom prst="rect">
            <a:avLst/>
          </a:prstGeom>
          <a:noFill/>
          <a:ln/>
        </p:spPr>
        <p:txBody>
          <a:bodyPr wrap="square" lIns="0" tIns="0" rIns="0" bIns="0" rtlCol="0" anchor="ctr"/>
          <a:lstStyle/>
          <a:p>
            <a:r>
              <a:rPr lang="en-US" sz="2599" b="1" dirty="0">
                <a:solidFill>
                  <a:srgbClr val="F4F0E8"/>
                </a:solidFill>
                <a:latin typeface="Calibri" pitchFamily="34" charset="0"/>
                <a:ea typeface="Calibri" pitchFamily="34" charset="-122"/>
                <a:cs typeface="Calibri" pitchFamily="34" charset="-120"/>
              </a:rPr>
              <a:t>PROBLEM STATEMENT</a:t>
            </a:r>
            <a:endParaRPr lang="en-US" sz="2599" dirty="0"/>
          </a:p>
        </p:txBody>
      </p:sp>
      <p:sp>
        <p:nvSpPr>
          <p:cNvPr id="4" name="Text 2"/>
          <p:cNvSpPr/>
          <p:nvPr/>
        </p:nvSpPr>
        <p:spPr>
          <a:xfrm>
            <a:off x="383948" y="567673"/>
            <a:ext cx="11335607" cy="237682"/>
          </a:xfrm>
          <a:prstGeom prst="rect">
            <a:avLst/>
          </a:prstGeom>
          <a:noFill/>
          <a:ln/>
        </p:spPr>
        <p:txBody>
          <a:bodyPr wrap="square" lIns="0" tIns="0" rIns="0" bIns="0" rtlCol="0" anchor="ctr"/>
          <a:lstStyle/>
          <a:p>
            <a:r>
              <a:rPr lang="en-US" sz="1300" dirty="0">
                <a:solidFill>
                  <a:srgbClr val="D7DBE3"/>
                </a:solidFill>
                <a:latin typeface="Calibri" pitchFamily="34" charset="0"/>
                <a:ea typeface="Calibri" pitchFamily="34" charset="-122"/>
                <a:cs typeface="Calibri" pitchFamily="34" charset="-120"/>
              </a:rPr>
              <a:t>The approval hop is the broken one  ·  DealFlow Approval Agents  ·  Helio Quote</a:t>
            </a:r>
            <a:endParaRPr lang="en-US" sz="1300" dirty="0"/>
          </a:p>
        </p:txBody>
      </p:sp>
      <p:sp>
        <p:nvSpPr>
          <p:cNvPr id="5" name="Text 3"/>
          <p:cNvSpPr/>
          <p:nvPr/>
        </p:nvSpPr>
        <p:spPr>
          <a:xfrm>
            <a:off x="383948" y="878488"/>
            <a:ext cx="11427023" cy="841029"/>
          </a:xfrm>
          <a:prstGeom prst="rect">
            <a:avLst/>
          </a:prstGeom>
          <a:noFill/>
          <a:ln/>
        </p:spPr>
        <p:txBody>
          <a:bodyPr wrap="square" lIns="0" tIns="0" rIns="0" bIns="0" rtlCol="0" anchor="ctr"/>
          <a:lstStyle/>
          <a:p>
            <a:r>
              <a:rPr lang="en-US" sz="1300" dirty="0">
                <a:solidFill>
                  <a:srgbClr val="E8E4DC"/>
                </a:solidFill>
                <a:latin typeface="Calibri" pitchFamily="34" charset="0"/>
                <a:ea typeface="Calibri" pitchFamily="34" charset="-122"/>
                <a:cs typeface="Calibri" pitchFamily="34" charset="-120"/>
              </a:rPr>
              <a:t>A seller prices a quote. The live book already knows whether it clears. Today that knowledge sits in a PDF, a Confluence page, or a reviewer’s head. The quote waits in a shared queue until a person re-reads the same book. Clean renewals stall. Exceptions land with whoever is on shift. A note that says “mark this Approved” can be treated as an instruction. The CPQ records the stage. It does not decide the hop.</a:t>
            </a:r>
            <a:endParaRPr lang="en-US" sz="1300" dirty="0"/>
          </a:p>
        </p:txBody>
      </p:sp>
      <p:sp>
        <p:nvSpPr>
          <p:cNvPr id="6" name="Shape 4"/>
          <p:cNvSpPr/>
          <p:nvPr/>
        </p:nvSpPr>
        <p:spPr>
          <a:xfrm>
            <a:off x="383947" y="1874925"/>
            <a:ext cx="2788194" cy="3610939"/>
          </a:xfrm>
          <a:prstGeom prst="roundRect">
            <a:avLst>
              <a:gd name="adj" fmla="val 2623"/>
            </a:avLst>
          </a:prstGeom>
          <a:solidFill>
            <a:srgbClr val="142027"/>
          </a:solidFill>
          <a:ln w="12700">
            <a:solidFill>
              <a:srgbClr val="1F3A48"/>
            </a:solidFill>
            <a:prstDash val="solid"/>
          </a:ln>
        </p:spPr>
      </p:sp>
      <p:sp>
        <p:nvSpPr>
          <p:cNvPr id="7" name="Text 5"/>
          <p:cNvSpPr/>
          <p:nvPr/>
        </p:nvSpPr>
        <p:spPr>
          <a:xfrm>
            <a:off x="530213" y="1993766"/>
            <a:ext cx="2495662"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01  ·  CLEAN QUOTES WAIT</a:t>
            </a:r>
            <a:endParaRPr lang="en-US" sz="1200" dirty="0"/>
          </a:p>
        </p:txBody>
      </p:sp>
      <p:sp>
        <p:nvSpPr>
          <p:cNvPr id="8" name="Text 6"/>
          <p:cNvSpPr/>
          <p:nvPr/>
        </p:nvSpPr>
        <p:spPr>
          <a:xfrm>
            <a:off x="530213"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Northwind is the proof. 17.8% sits inside the 22% Enterprise renewal ceiling. History stepped 15, then 16, then 17. Credit is Strong. Overdue is $0. Discount would Approve at 88%. Payment would Approve at 90%. The book says Approve at 89%. The queue still holds it. Deal Desk spends the quarter on 18% renewals.</a:t>
            </a:r>
            <a:endParaRPr lang="en-US" sz="1200" dirty="0"/>
          </a:p>
        </p:txBody>
      </p:sp>
      <p:sp>
        <p:nvSpPr>
          <p:cNvPr id="9" name="Shape 7"/>
          <p:cNvSpPr/>
          <p:nvPr/>
        </p:nvSpPr>
        <p:spPr>
          <a:xfrm>
            <a:off x="3309265" y="1874925"/>
            <a:ext cx="2788194" cy="3610939"/>
          </a:xfrm>
          <a:prstGeom prst="roundRect">
            <a:avLst>
              <a:gd name="adj" fmla="val 2623"/>
            </a:avLst>
          </a:prstGeom>
          <a:solidFill>
            <a:srgbClr val="142027"/>
          </a:solidFill>
          <a:ln w="12700">
            <a:solidFill>
              <a:srgbClr val="1F3A48"/>
            </a:solidFill>
            <a:prstDash val="solid"/>
          </a:ln>
        </p:spPr>
      </p:sp>
      <p:sp>
        <p:nvSpPr>
          <p:cNvPr id="10" name="Text 8"/>
          <p:cNvSpPr/>
          <p:nvPr/>
        </p:nvSpPr>
        <p:spPr>
          <a:xfrm>
            <a:off x="3455531" y="1993766"/>
            <a:ext cx="2495662" cy="255965"/>
          </a:xfrm>
          <a:prstGeom prst="rect">
            <a:avLst/>
          </a:prstGeom>
          <a:noFill/>
          <a:ln/>
        </p:spPr>
        <p:txBody>
          <a:bodyPr wrap="square" lIns="0" tIns="0" rIns="0" bIns="0" rtlCol="0" anchor="ctr"/>
          <a:lstStyle/>
          <a:p>
            <a:r>
              <a:rPr lang="en-US" sz="1200" b="1" dirty="0">
                <a:solidFill>
                  <a:srgbClr val="2F6A4F"/>
                </a:solidFill>
                <a:latin typeface="Calibri" pitchFamily="34" charset="0"/>
                <a:ea typeface="Calibri" pitchFamily="34" charset="-122"/>
                <a:cs typeface="Calibri" pitchFamily="34" charset="-120"/>
              </a:rPr>
              <a:t>02  ·  SAME BOOK, TWO LABELS</a:t>
            </a:r>
            <a:endParaRPr lang="en-US" sz="1200" dirty="0"/>
          </a:p>
        </p:txBody>
      </p:sp>
      <p:sp>
        <p:nvSpPr>
          <p:cNvPr id="11" name="Text 9"/>
          <p:cNvSpPr/>
          <p:nvPr/>
        </p:nvSpPr>
        <p:spPr>
          <a:xfrm>
            <a:off x="3455531"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Pinnacle is past the exception ceiling. Closed years were 18, 20, 22. Credit is clean. Price is why it fails. Today the label depends on who is on shift. Tuesday it clears. Thursday it holds. A 42% expansion should fail the same way at 9 a.m. and at quarter-end. A static chain cannot do that.</a:t>
            </a:r>
            <a:endParaRPr lang="en-US" sz="1200" dirty="0"/>
          </a:p>
        </p:txBody>
      </p:sp>
      <p:sp>
        <p:nvSpPr>
          <p:cNvPr id="12" name="Shape 10"/>
          <p:cNvSpPr/>
          <p:nvPr/>
        </p:nvSpPr>
        <p:spPr>
          <a:xfrm>
            <a:off x="6234583" y="1874925"/>
            <a:ext cx="2788194" cy="3610939"/>
          </a:xfrm>
          <a:prstGeom prst="roundRect">
            <a:avLst>
              <a:gd name="adj" fmla="val 2623"/>
            </a:avLst>
          </a:prstGeom>
          <a:solidFill>
            <a:srgbClr val="142027"/>
          </a:solidFill>
          <a:ln w="12700">
            <a:solidFill>
              <a:srgbClr val="1F3A48"/>
            </a:solidFill>
            <a:prstDash val="solid"/>
          </a:ln>
        </p:spPr>
      </p:sp>
      <p:sp>
        <p:nvSpPr>
          <p:cNvPr id="13" name="Text 11"/>
          <p:cNvSpPr/>
          <p:nvPr/>
        </p:nvSpPr>
        <p:spPr>
          <a:xfrm>
            <a:off x="6380849" y="1993766"/>
            <a:ext cx="2495662" cy="255965"/>
          </a:xfrm>
          <a:prstGeom prst="rect">
            <a:avLst/>
          </a:prstGeom>
          <a:noFill/>
          <a:ln/>
        </p:spPr>
        <p:txBody>
          <a:bodyPr wrap="square" lIns="0" tIns="0" rIns="0" bIns="0" rtlCol="0" anchor="ctr"/>
          <a:lstStyle/>
          <a:p>
            <a:r>
              <a:rPr lang="en-US" sz="1200" b="1" dirty="0">
                <a:solidFill>
                  <a:srgbClr val="1D5C68"/>
                </a:solidFill>
                <a:latin typeface="Calibri" pitchFamily="34" charset="0"/>
                <a:ea typeface="Calibri" pitchFamily="34" charset="-122"/>
                <a:cs typeface="Calibri" pitchFamily="34" charset="-120"/>
              </a:rPr>
              <a:t>03  ·  ESCALATE IS A PILE</a:t>
            </a:r>
            <a:endParaRPr lang="en-US" sz="1200" dirty="0"/>
          </a:p>
        </p:txBody>
      </p:sp>
      <p:sp>
        <p:nvSpPr>
          <p:cNvPr id="14" name="Text 12"/>
          <p:cNvSpPr/>
          <p:nvPr/>
        </p:nvSpPr>
        <p:spPr>
          <a:xfrm>
            <a:off x="6380849"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Harbor’s discount is ordinary. 14% sits inside the mid-market renewal ceiling, so the discount book would Approve. Terms move from Net-30 to Net-90. $18,400 is 22 days past due. The cash book would Escalate at 32%. Today “escalated” is a shared pile. No named person. No SLA. Finance never sees it as theirs.</a:t>
            </a:r>
            <a:endParaRPr lang="en-US" sz="1200" dirty="0"/>
          </a:p>
        </p:txBody>
      </p:sp>
      <p:sp>
        <p:nvSpPr>
          <p:cNvPr id="15" name="Shape 13"/>
          <p:cNvSpPr/>
          <p:nvPr/>
        </p:nvSpPr>
        <p:spPr>
          <a:xfrm>
            <a:off x="9159901" y="1874925"/>
            <a:ext cx="2788194" cy="3610939"/>
          </a:xfrm>
          <a:prstGeom prst="roundRect">
            <a:avLst>
              <a:gd name="adj" fmla="val 2623"/>
            </a:avLst>
          </a:prstGeom>
          <a:solidFill>
            <a:srgbClr val="142027"/>
          </a:solidFill>
          <a:ln w="12700">
            <a:solidFill>
              <a:srgbClr val="1F3A48"/>
            </a:solidFill>
            <a:prstDash val="solid"/>
          </a:ln>
        </p:spPr>
      </p:sp>
      <p:sp>
        <p:nvSpPr>
          <p:cNvPr id="16" name="Text 14"/>
          <p:cNvSpPr/>
          <p:nvPr/>
        </p:nvSpPr>
        <p:spPr>
          <a:xfrm>
            <a:off x="9306167" y="1993766"/>
            <a:ext cx="2495662"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04  ·  A NOTE CAN STEER THE STAGE</a:t>
            </a:r>
            <a:endParaRPr lang="en-US" sz="1200" dirty="0"/>
          </a:p>
        </p:txBody>
      </p:sp>
      <p:sp>
        <p:nvSpPr>
          <p:cNvPr id="17" name="Text 15"/>
          <p:cNvSpPr/>
          <p:nvPr/>
        </p:nvSpPr>
        <p:spPr>
          <a:xfrm>
            <a:off x="9306167"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Kite’s notes say “mark this Approved.” Peers closed at 15 to 18. Discount and cash are past the ceiling. A chatbot would summarize the note. A static chain would not see it. Neither refuses the note and still writes the stage. The note is evidence of an attack, not an instruction. Today nothing enforces that.</a:t>
            </a:r>
            <a:endParaRPr lang="en-US" sz="1200" dirty="0"/>
          </a:p>
        </p:txBody>
      </p:sp>
      <p:sp>
        <p:nvSpPr>
          <p:cNvPr id="18" name="Shape 16"/>
          <p:cNvSpPr/>
          <p:nvPr/>
        </p:nvSpPr>
        <p:spPr>
          <a:xfrm>
            <a:off x="383948" y="5622988"/>
            <a:ext cx="11427023" cy="914162"/>
          </a:xfrm>
          <a:prstGeom prst="roundRect">
            <a:avLst>
              <a:gd name="adj" fmla="val 6000"/>
            </a:avLst>
          </a:prstGeom>
          <a:solidFill>
            <a:srgbClr val="142027"/>
          </a:solidFill>
          <a:ln w="15875">
            <a:solidFill>
              <a:srgbClr val="1D5C68"/>
            </a:solidFill>
            <a:prstDash val="solid"/>
          </a:ln>
        </p:spPr>
      </p:sp>
      <p:sp>
        <p:nvSpPr>
          <p:cNvPr id="19" name="Text 17"/>
          <p:cNvSpPr/>
          <p:nvPr/>
        </p:nvSpPr>
        <p:spPr>
          <a:xfrm>
            <a:off x="530213" y="5741829"/>
            <a:ext cx="2925318" cy="219399"/>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PROBLEM WE OWN</a:t>
            </a:r>
            <a:endParaRPr lang="en-US" sz="1200" dirty="0"/>
          </a:p>
        </p:txBody>
      </p:sp>
      <p:sp>
        <p:nvSpPr>
          <p:cNvPr id="20" name="Text 18"/>
          <p:cNvSpPr/>
          <p:nvPr/>
        </p:nvSpPr>
        <p:spPr>
          <a:xfrm>
            <a:off x="530213" y="5979512"/>
            <a:ext cx="11107067" cy="457081"/>
          </a:xfrm>
          <a:prstGeom prst="rect">
            <a:avLst/>
          </a:prstGeom>
          <a:noFill/>
          <a:ln/>
        </p:spPr>
        <p:txBody>
          <a:bodyPr wrap="square" lIns="0" tIns="0" rIns="0" bIns="0" rtlCol="0" anchor="ctr"/>
          <a:lstStyle/>
          <a:p>
            <a:r>
              <a:rPr lang="en-US" sz="1300" dirty="0">
                <a:solidFill>
                  <a:srgbClr val="E8E4DC"/>
                </a:solidFill>
                <a:latin typeface="Calibri" pitchFamily="34" charset="0"/>
                <a:ea typeface="Calibri" pitchFamily="34" charset="-122"/>
                <a:cs typeface="Calibri" pitchFamily="34" charset="-120"/>
              </a:rPr>
              <a:t>One hop. Submit for approval → Approved / Escalated / Rejected. Sent, Signed, and Converted stay with the seller. The product is a specialist the CPQ can call. It is not a CPQ replacement. Salesforce CPQ, Revenue Cloud, DealHub, Conga, and Zuora stay the system of record.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6856214"/>
          </a:xfrm>
          <a:prstGeom prst="rect">
            <a:avLst/>
          </a:prstGeom>
          <a:solidFill>
            <a:srgbClr val="0E1A24"/>
          </a:solidFill>
          <a:ln/>
        </p:spPr>
      </p:sp>
      <p:sp>
        <p:nvSpPr>
          <p:cNvPr id="3" name="Text 1"/>
          <p:cNvSpPr/>
          <p:nvPr/>
        </p:nvSpPr>
        <p:spPr>
          <a:xfrm>
            <a:off x="383948" y="202009"/>
            <a:ext cx="11335607" cy="329098"/>
          </a:xfrm>
          <a:prstGeom prst="rect">
            <a:avLst/>
          </a:prstGeom>
          <a:noFill/>
          <a:ln/>
        </p:spPr>
        <p:txBody>
          <a:bodyPr wrap="square" lIns="0" tIns="0" rIns="0" bIns="0" rtlCol="0" anchor="ctr"/>
          <a:lstStyle/>
          <a:p>
            <a:r>
              <a:rPr lang="en-US" sz="2599" b="1" dirty="0">
                <a:solidFill>
                  <a:srgbClr val="F4F0E8"/>
                </a:solidFill>
                <a:latin typeface="Calibri" pitchFamily="34" charset="0"/>
                <a:ea typeface="Calibri" pitchFamily="34" charset="-122"/>
                <a:cs typeface="Calibri" pitchFamily="34" charset="-120"/>
              </a:rPr>
              <a:t>WHAT THE PROBLEM COSTS</a:t>
            </a:r>
            <a:endParaRPr lang="en-US" sz="2599" dirty="0"/>
          </a:p>
        </p:txBody>
      </p:sp>
      <p:sp>
        <p:nvSpPr>
          <p:cNvPr id="4" name="Text 2"/>
          <p:cNvSpPr/>
          <p:nvPr/>
        </p:nvSpPr>
        <p:spPr>
          <a:xfrm>
            <a:off x="383948" y="549390"/>
            <a:ext cx="11335607" cy="219399"/>
          </a:xfrm>
          <a:prstGeom prst="rect">
            <a:avLst/>
          </a:prstGeom>
          <a:noFill/>
          <a:ln/>
        </p:spPr>
        <p:txBody>
          <a:bodyPr wrap="square" lIns="0" tIns="0" rIns="0" bIns="0" rtlCol="0" anchor="ctr"/>
          <a:lstStyle/>
          <a:p>
            <a:r>
              <a:rPr lang="en-US" sz="1300" dirty="0">
                <a:solidFill>
                  <a:srgbClr val="D7DBE3"/>
                </a:solidFill>
                <a:latin typeface="Calibri" pitchFamily="34" charset="0"/>
                <a:ea typeface="Calibri" pitchFamily="34" charset="-122"/>
                <a:cs typeface="Calibri" pitchFamily="34" charset="-120"/>
              </a:rPr>
              <a:t>Four costs a Product Leader can underwrite  ·  and the boundary we will not cross</a:t>
            </a:r>
            <a:endParaRPr lang="en-US" sz="1300" dirty="0"/>
          </a:p>
        </p:txBody>
      </p:sp>
      <p:sp>
        <p:nvSpPr>
          <p:cNvPr id="5" name="Shape 3"/>
          <p:cNvSpPr/>
          <p:nvPr/>
        </p:nvSpPr>
        <p:spPr>
          <a:xfrm>
            <a:off x="2440812" y="974609"/>
            <a:ext cx="3839480" cy="1572358"/>
          </a:xfrm>
          <a:prstGeom prst="roundRect">
            <a:avLst>
              <a:gd name="adj" fmla="val 4651"/>
            </a:avLst>
          </a:prstGeom>
          <a:solidFill>
            <a:srgbClr val="142027"/>
          </a:solidFill>
          <a:ln w="12700">
            <a:solidFill>
              <a:srgbClr val="1F3A48"/>
            </a:solidFill>
            <a:prstDash val="solid"/>
          </a:ln>
        </p:spPr>
      </p:sp>
      <p:sp>
        <p:nvSpPr>
          <p:cNvPr id="6" name="Text 4"/>
          <p:cNvSpPr/>
          <p:nvPr/>
        </p:nvSpPr>
        <p:spPr>
          <a:xfrm>
            <a:off x="2587078" y="1084309"/>
            <a:ext cx="354694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CYCLE TIME</a:t>
            </a:r>
            <a:endParaRPr lang="en-US" sz="1200" dirty="0"/>
          </a:p>
        </p:txBody>
      </p:sp>
      <p:sp>
        <p:nvSpPr>
          <p:cNvPr id="7" name="Text 5"/>
          <p:cNvSpPr/>
          <p:nvPr/>
        </p:nvSpPr>
        <p:spPr>
          <a:xfrm>
            <a:off x="2587078" y="1358557"/>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A Northwind-class renewal — 17.8% inside 22%, credit Strong, $0 overdue — should clear without a desk touch. Today it waits for a person. Deal Desk spends the quarter on quotes the book already cleared.</a:t>
            </a:r>
            <a:endParaRPr lang="en-US" sz="1200" dirty="0"/>
          </a:p>
        </p:txBody>
      </p:sp>
      <p:sp>
        <p:nvSpPr>
          <p:cNvPr id="8" name="Shape 6"/>
          <p:cNvSpPr/>
          <p:nvPr/>
        </p:nvSpPr>
        <p:spPr>
          <a:xfrm>
            <a:off x="6417417" y="974609"/>
            <a:ext cx="3839480" cy="1572358"/>
          </a:xfrm>
          <a:prstGeom prst="roundRect">
            <a:avLst>
              <a:gd name="adj" fmla="val 4651"/>
            </a:avLst>
          </a:prstGeom>
          <a:solidFill>
            <a:srgbClr val="142027"/>
          </a:solidFill>
          <a:ln w="12700">
            <a:solidFill>
              <a:srgbClr val="1F3A48"/>
            </a:solidFill>
            <a:prstDash val="solid"/>
          </a:ln>
        </p:spPr>
      </p:sp>
      <p:sp>
        <p:nvSpPr>
          <p:cNvPr id="9" name="Text 7"/>
          <p:cNvSpPr/>
          <p:nvPr/>
        </p:nvSpPr>
        <p:spPr>
          <a:xfrm>
            <a:off x="6563683" y="1084309"/>
            <a:ext cx="3546948" cy="255965"/>
          </a:xfrm>
          <a:prstGeom prst="rect">
            <a:avLst/>
          </a:prstGeom>
          <a:noFill/>
          <a:ln/>
        </p:spPr>
        <p:txBody>
          <a:bodyPr wrap="square" lIns="0" tIns="0" rIns="0" bIns="0" rtlCol="0" anchor="ctr"/>
          <a:lstStyle/>
          <a:p>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10" name="Text 8"/>
          <p:cNvSpPr/>
          <p:nvPr/>
        </p:nvSpPr>
        <p:spPr>
          <a:xfrm>
            <a:off x="6563683" y="1358557"/>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Pinnacle is Reject at 13% because the ask is past the exception ceiling, not because of who was on shift. Without a callable book, a 42% expansion clears when the reviewer is generous and holds when they are not.</a:t>
            </a:r>
            <a:endParaRPr lang="en-US" sz="1200" dirty="0"/>
          </a:p>
        </p:txBody>
      </p:sp>
      <p:sp>
        <p:nvSpPr>
          <p:cNvPr id="11" name="Shape 9"/>
          <p:cNvSpPr/>
          <p:nvPr/>
        </p:nvSpPr>
        <p:spPr>
          <a:xfrm>
            <a:off x="2440812" y="2665809"/>
            <a:ext cx="3839480" cy="1572358"/>
          </a:xfrm>
          <a:prstGeom prst="roundRect">
            <a:avLst>
              <a:gd name="adj" fmla="val 4651"/>
            </a:avLst>
          </a:prstGeom>
          <a:solidFill>
            <a:srgbClr val="142027"/>
          </a:solidFill>
          <a:ln w="12700">
            <a:solidFill>
              <a:srgbClr val="1F3A48"/>
            </a:solidFill>
            <a:prstDash val="solid"/>
          </a:ln>
        </p:spPr>
      </p:sp>
      <p:sp>
        <p:nvSpPr>
          <p:cNvPr id="12" name="Text 10"/>
          <p:cNvSpPr/>
          <p:nvPr/>
        </p:nvSpPr>
        <p:spPr>
          <a:xfrm>
            <a:off x="2587078" y="2775508"/>
            <a:ext cx="3546948" cy="255965"/>
          </a:xfrm>
          <a:prstGeom prst="rect">
            <a:avLst/>
          </a:prstGeom>
          <a:noFill/>
          <a:ln/>
        </p:spPr>
        <p:txBody>
          <a:bodyPr wrap="square" lIns="0" tIns="0" rIns="0" bIns="0" rtlCol="0" anchor="ctr"/>
          <a:lstStyle/>
          <a:p>
            <a:r>
              <a:rPr lang="en-US" sz="1200" b="1" dirty="0">
                <a:solidFill>
                  <a:srgbClr val="1D5C68"/>
                </a:solidFill>
                <a:latin typeface="Calibri" pitchFamily="34" charset="0"/>
                <a:ea typeface="Calibri" pitchFamily="34" charset="-122"/>
                <a:cs typeface="Calibri" pitchFamily="34" charset="-120"/>
              </a:rPr>
              <a:t>AUDIT</a:t>
            </a:r>
            <a:endParaRPr lang="en-US" sz="1200" dirty="0"/>
          </a:p>
        </p:txBody>
      </p:sp>
      <p:sp>
        <p:nvSpPr>
          <p:cNvPr id="13" name="Text 11"/>
          <p:cNvSpPr/>
          <p:nvPr/>
        </p:nvSpPr>
        <p:spPr>
          <a:xfrm>
            <a:off x="2587078" y="3049756"/>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Finance cannot replay why a 20% cleared Tuesday and held Thursday. There is no cited rule, no confidence formula, and no versioned book on the decision. DISC-POL-2026-01 and PAY-POL-2026-01 are not on the record.</a:t>
            </a:r>
            <a:endParaRPr lang="en-US" sz="1200" dirty="0"/>
          </a:p>
        </p:txBody>
      </p:sp>
      <p:sp>
        <p:nvSpPr>
          <p:cNvPr id="14" name="Shape 12"/>
          <p:cNvSpPr/>
          <p:nvPr/>
        </p:nvSpPr>
        <p:spPr>
          <a:xfrm>
            <a:off x="6417417" y="2665809"/>
            <a:ext cx="3839480" cy="1572358"/>
          </a:xfrm>
          <a:prstGeom prst="roundRect">
            <a:avLst>
              <a:gd name="adj" fmla="val 4651"/>
            </a:avLst>
          </a:prstGeom>
          <a:solidFill>
            <a:srgbClr val="142027"/>
          </a:solidFill>
          <a:ln w="12700">
            <a:solidFill>
              <a:srgbClr val="1F3A48"/>
            </a:solidFill>
            <a:prstDash val="solid"/>
          </a:ln>
        </p:spPr>
      </p:sp>
      <p:sp>
        <p:nvSpPr>
          <p:cNvPr id="15" name="Text 13"/>
          <p:cNvSpPr/>
          <p:nvPr/>
        </p:nvSpPr>
        <p:spPr>
          <a:xfrm>
            <a:off x="6563683" y="2775508"/>
            <a:ext cx="354694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OWNERSHIP</a:t>
            </a:r>
            <a:endParaRPr lang="en-US" sz="1200" dirty="0"/>
          </a:p>
        </p:txBody>
      </p:sp>
      <p:sp>
        <p:nvSpPr>
          <p:cNvPr id="16" name="Text 14"/>
          <p:cNvSpPr/>
          <p:nvPr/>
        </p:nvSpPr>
        <p:spPr>
          <a:xfrm>
            <a:off x="6563683" y="3049756"/>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Harbor should land with Finance, 24h — only cash failed. A large deal with weak terms should land with VP Sales + Finance. A pure quarter-end flag should land with Deal Desk Lead, 12h. Today none of these resolve.</a:t>
            </a:r>
            <a:endParaRPr lang="en-US" sz="1200" dirty="0"/>
          </a:p>
        </p:txBody>
      </p:sp>
      <p:sp>
        <p:nvSpPr>
          <p:cNvPr id="21" name="Shape 19"/>
          <p:cNvSpPr/>
          <p:nvPr/>
        </p:nvSpPr>
        <p:spPr>
          <a:xfrm>
            <a:off x="383948" y="4480286"/>
            <a:ext cx="11408740" cy="2011156"/>
          </a:xfrm>
          <a:prstGeom prst="roundRect">
            <a:avLst>
              <a:gd name="adj" fmla="val 2727"/>
            </a:avLst>
          </a:prstGeom>
          <a:solidFill>
            <a:srgbClr val="142027"/>
          </a:solidFill>
          <a:ln w="15875">
            <a:solidFill>
              <a:srgbClr val="1D5C68"/>
            </a:solidFill>
            <a:prstDash val="solid"/>
          </a:ln>
        </p:spPr>
      </p:sp>
      <p:sp>
        <p:nvSpPr>
          <p:cNvPr id="22" name="Text 20"/>
          <p:cNvSpPr/>
          <p:nvPr/>
        </p:nvSpPr>
        <p:spPr>
          <a:xfrm>
            <a:off x="530213" y="4608269"/>
            <a:ext cx="2742486"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ASK</a:t>
            </a:r>
            <a:endParaRPr lang="en-US" sz="1200" dirty="0"/>
          </a:p>
        </p:txBody>
      </p:sp>
      <p:sp>
        <p:nvSpPr>
          <p:cNvPr id="23" name="Text 21"/>
          <p:cNvSpPr/>
          <p:nvPr/>
        </p:nvSpPr>
        <p:spPr>
          <a:xfrm>
            <a:off x="530213" y="4864234"/>
            <a:ext cx="11061359" cy="255965"/>
          </a:xfrm>
          <a:prstGeom prst="rect">
            <a:avLst/>
          </a:prstGeom>
          <a:noFill/>
          <a:ln/>
        </p:spPr>
        <p:txBody>
          <a:bodyPr wrap="square" lIns="0" tIns="0" rIns="0" bIns="0" rtlCol="0" anchor="ctr"/>
          <a:lstStyle/>
          <a:p>
            <a:r>
              <a:rPr lang="en-US" sz="1600" b="1" dirty="0">
                <a:solidFill>
                  <a:srgbClr val="F4F0E8"/>
                </a:solidFill>
                <a:latin typeface="Calibri" pitchFamily="34" charset="0"/>
                <a:ea typeface="Calibri" pitchFamily="34" charset="-122"/>
                <a:cs typeface="Calibri" pitchFamily="34" charset="-120"/>
              </a:rPr>
              <a:t>Own the hop. Keep the CPQ. Make the live book the decision.</a:t>
            </a:r>
            <a:endParaRPr lang="en-US" sz="1600" dirty="0"/>
          </a:p>
        </p:txBody>
      </p:sp>
      <p:sp>
        <p:nvSpPr>
          <p:cNvPr id="24" name="Text 22"/>
          <p:cNvSpPr/>
          <p:nvPr/>
        </p:nvSpPr>
        <p:spPr>
          <a:xfrm>
            <a:off x="530213" y="5175049"/>
            <a:ext cx="11061359" cy="1096994"/>
          </a:xfrm>
          <a:prstGeom prst="rect">
            <a:avLst/>
          </a:prstGeom>
          <a:noFill/>
          <a:ln/>
        </p:spPr>
        <p:txBody>
          <a:bodyPr wrap="square" lIns="0" tIns="0" rIns="0" bIns="0" rtlCol="0" anchor="ctr"/>
          <a:lstStyle/>
          <a:p>
            <a:r>
              <a:rPr lang="en-US" sz="1400" dirty="0">
                <a:solidFill>
                  <a:srgbClr val="E8E4DC"/>
                </a:solidFill>
                <a:latin typeface="Calibri" pitchFamily="34" charset="0"/>
                <a:ea typeface="Calibri" pitchFamily="34" charset="-122"/>
                <a:cs typeface="Calibri" pitchFamily="34" charset="-120"/>
              </a:rPr>
              <a:t>Three agents read DISC-POL-2026-01 and PAY-POL-2026-01 through tools, open the commercial file, and write one cited label. The golden set is the release gate — currently 9 of 9. A note that demands Approve still fails. An exception lands with a named person and an SLA that resolves to a Salesforce queue or a DealHub group. Everything after Approved stays with the seller.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7" y="893"/>
            <a:ext cx="12185778" cy="959870"/>
          </a:xfrm>
          <a:prstGeom prst="rect">
            <a:avLst/>
          </a:prstGeom>
          <a:solidFill>
            <a:srgbClr val="1D5C68"/>
          </a:solidFill>
          <a:ln/>
        </p:spPr>
      </p:sp>
      <p:sp>
        <p:nvSpPr>
          <p:cNvPr id="3" name="Text 1"/>
          <p:cNvSpPr/>
          <p:nvPr/>
        </p:nvSpPr>
        <p:spPr>
          <a:xfrm>
            <a:off x="412960" y="165442"/>
            <a:ext cx="9141619" cy="383948"/>
          </a:xfrm>
          <a:prstGeom prst="rect">
            <a:avLst/>
          </a:prstGeom>
          <a:noFill/>
          <a:ln/>
        </p:spPr>
        <p:txBody>
          <a:bodyPr wrap="square" rtlCol="0" anchor="ctr"/>
          <a:lstStyle/>
          <a:p>
            <a:r>
              <a:rPr lang="en-US" sz="2599" b="1" dirty="0">
                <a:solidFill>
                  <a:srgbClr val="F4F0E8"/>
                </a:solidFill>
                <a:latin typeface="Calibri" pitchFamily="34" charset="0"/>
                <a:ea typeface="Calibri" pitchFamily="34" charset="-122"/>
                <a:cs typeface="Calibri" pitchFamily="34" charset="-120"/>
              </a:rPr>
              <a:t>DETAILED PRODUCT IDEA</a:t>
            </a:r>
            <a:endParaRPr lang="en-US" sz="2599" dirty="0"/>
          </a:p>
        </p:txBody>
      </p:sp>
      <p:sp>
        <p:nvSpPr>
          <p:cNvPr id="4" name="Text 2"/>
          <p:cNvSpPr/>
          <p:nvPr/>
        </p:nvSpPr>
        <p:spPr>
          <a:xfrm>
            <a:off x="412960" y="567673"/>
            <a:ext cx="10969943" cy="255965"/>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Given a structured quote and the live books, write one cited label and assign the right owner  ·  DealFlow</a:t>
            </a:r>
            <a:endParaRPr lang="en-US" sz="1200" dirty="0"/>
          </a:p>
        </p:txBody>
      </p:sp>
      <p:sp>
        <p:nvSpPr>
          <p:cNvPr id="5" name="Shape 3"/>
          <p:cNvSpPr/>
          <p:nvPr/>
        </p:nvSpPr>
        <p:spPr>
          <a:xfrm>
            <a:off x="275835" y="1143595"/>
            <a:ext cx="11637281" cy="1462659"/>
          </a:xfrm>
          <a:prstGeom prst="roundRect">
            <a:avLst>
              <a:gd name="adj" fmla="val 6250"/>
            </a:avLst>
          </a:prstGeom>
          <a:solidFill>
            <a:srgbClr val="1A2530"/>
          </a:solidFill>
          <a:ln/>
        </p:spPr>
      </p:sp>
      <p:sp>
        <p:nvSpPr>
          <p:cNvPr id="6" name="Text 4"/>
          <p:cNvSpPr/>
          <p:nvPr/>
        </p:nvSpPr>
        <p:spPr>
          <a:xfrm>
            <a:off x="458668" y="1280719"/>
            <a:ext cx="10969943" cy="274249"/>
          </a:xfrm>
          <a:prstGeom prst="rect">
            <a:avLst/>
          </a:prstGeom>
          <a:noFill/>
          <a:ln/>
        </p:spPr>
        <p:txBody>
          <a:bodyPr wrap="square" rtlCol="0" anchor="ctr"/>
          <a:lstStyle/>
          <a:p>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8668" y="1600676"/>
            <a:ext cx="11244191" cy="822746"/>
          </a:xfrm>
          <a:prstGeom prst="rect">
            <a:avLst/>
          </a:prstGeom>
          <a:noFill/>
          <a:ln/>
        </p:spPr>
        <p:txBody>
          <a:bodyPr wrap="square" rtlCol="0" anchor="ctr"/>
          <a:lstStyle/>
          <a:p>
            <a:r>
              <a:rPr lang="en-US" sz="1300" dirty="0">
                <a:solidFill>
                  <a:srgbClr val="E8E4DC"/>
                </a:solidFill>
                <a:latin typeface="Calibri" pitchFamily="34" charset="0"/>
                <a:ea typeface="Calibri" pitchFamily="34" charset="-122"/>
                <a:cs typeface="Calibri" pitchFamily="34" charset="-120"/>
              </a:rPr>
              <a:t>A policy-grounded crew that auto-approves routine quotes and assigns exceptions to the right human. Multi-agents read the live discount book and the cash book through tools, open the commercial file, and write one cited label: Approve, Escalate, or Reject. Everything after Approved stays with the seller. Not a Deal Desk replacement. Not a CPQ.</a:t>
            </a:r>
            <a:endParaRPr lang="en-US" sz="1300" dirty="0"/>
          </a:p>
        </p:txBody>
      </p:sp>
      <p:sp>
        <p:nvSpPr>
          <p:cNvPr id="8" name="Shape 6"/>
          <p:cNvSpPr/>
          <p:nvPr/>
        </p:nvSpPr>
        <p:spPr>
          <a:xfrm>
            <a:off x="275835" y="2789087"/>
            <a:ext cx="3748064" cy="2742486"/>
          </a:xfrm>
          <a:prstGeom prst="roundRect">
            <a:avLst>
              <a:gd name="adj" fmla="val 3333"/>
            </a:avLst>
          </a:prstGeom>
          <a:solidFill>
            <a:srgbClr val="141416"/>
          </a:solidFill>
          <a:ln/>
        </p:spPr>
      </p:sp>
      <p:sp>
        <p:nvSpPr>
          <p:cNvPr id="9" name="Shape 7"/>
          <p:cNvSpPr/>
          <p:nvPr/>
        </p:nvSpPr>
        <p:spPr>
          <a:xfrm>
            <a:off x="275836" y="2789087"/>
            <a:ext cx="109699" cy="2742486"/>
          </a:xfrm>
          <a:prstGeom prst="rect">
            <a:avLst/>
          </a:prstGeom>
          <a:solidFill>
            <a:srgbClr val="1D5C68"/>
          </a:solidFill>
          <a:ln/>
        </p:spPr>
      </p:sp>
      <p:sp>
        <p:nvSpPr>
          <p:cNvPr id="10" name="Text 8"/>
          <p:cNvSpPr/>
          <p:nvPr/>
        </p:nvSpPr>
        <p:spPr>
          <a:xfrm>
            <a:off x="550084" y="2926211"/>
            <a:ext cx="3290983" cy="319957"/>
          </a:xfrm>
          <a:prstGeom prst="rect">
            <a:avLst/>
          </a:prstGeom>
          <a:noFill/>
          <a:ln/>
        </p:spPr>
        <p:txBody>
          <a:bodyPr wrap="square" rtlCol="0" anchor="ctr"/>
          <a:lstStyle/>
          <a:p>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50084" y="3337584"/>
            <a:ext cx="3290983" cy="1965448"/>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Non-goals: no judgment on complex or high-value strategic deals, no continuous learning from overrides in the MVP, no legal redlining. The live Quotes tab makes this boundary visible.</a:t>
            </a:r>
            <a:endParaRPr lang="en-US" sz="1200" dirty="0"/>
          </a:p>
        </p:txBody>
      </p:sp>
      <p:sp>
        <p:nvSpPr>
          <p:cNvPr id="12" name="Shape 10"/>
          <p:cNvSpPr/>
          <p:nvPr/>
        </p:nvSpPr>
        <p:spPr>
          <a:xfrm>
            <a:off x="4161023" y="2789087"/>
            <a:ext cx="3748064" cy="2742486"/>
          </a:xfrm>
          <a:prstGeom prst="roundRect">
            <a:avLst>
              <a:gd name="adj" fmla="val 3333"/>
            </a:avLst>
          </a:prstGeom>
          <a:solidFill>
            <a:srgbClr val="141416"/>
          </a:solidFill>
          <a:ln/>
        </p:spPr>
      </p:sp>
      <p:sp>
        <p:nvSpPr>
          <p:cNvPr id="13" name="Shape 11"/>
          <p:cNvSpPr/>
          <p:nvPr/>
        </p:nvSpPr>
        <p:spPr>
          <a:xfrm>
            <a:off x="4161024" y="2789087"/>
            <a:ext cx="109699" cy="2742486"/>
          </a:xfrm>
          <a:prstGeom prst="rect">
            <a:avLst/>
          </a:prstGeom>
          <a:solidFill>
            <a:srgbClr val="2F6A4F"/>
          </a:solidFill>
          <a:ln/>
        </p:spPr>
      </p:sp>
      <p:sp>
        <p:nvSpPr>
          <p:cNvPr id="14" name="Text 12"/>
          <p:cNvSpPr/>
          <p:nvPr/>
        </p:nvSpPr>
        <p:spPr>
          <a:xfrm>
            <a:off x="4435272" y="2926211"/>
            <a:ext cx="3290983" cy="319957"/>
          </a:xfrm>
          <a:prstGeom prst="rect">
            <a:avLst/>
          </a:prstGeom>
          <a:noFill/>
          <a:ln/>
        </p:spPr>
        <p:txBody>
          <a:bodyPr wrap="square" rtlCol="0" anchor="ctr"/>
          <a:lstStyle/>
          <a:p>
            <a:r>
              <a:rPr lang="en-US" sz="1400" b="1" dirty="0">
                <a:solidFill>
                  <a:srgbClr val="2F6A4F"/>
                </a:solidFill>
                <a:latin typeface="Calibri" pitchFamily="34" charset="0"/>
                <a:ea typeface="Calibri" pitchFamily="34" charset="-122"/>
                <a:cs typeface="Calibri" pitchFamily="34" charset="-120"/>
              </a:rPr>
              <a:t>MULTI AGENTS</a:t>
            </a:r>
            <a:endParaRPr lang="en-US" sz="1400" dirty="0"/>
          </a:p>
        </p:txBody>
      </p:sp>
      <p:sp>
        <p:nvSpPr>
          <p:cNvPr id="15" name="Text 13"/>
          <p:cNvSpPr/>
          <p:nvPr/>
        </p:nvSpPr>
        <p:spPr>
          <a:xfrm>
            <a:off x="4435272" y="3337584"/>
            <a:ext cx="3290983" cy="1965448"/>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Orchestrator holds the threshold and the assignment matrix. Discount agent holds the matrix by segment and quote type — knowledge no other agent has. Payment agent holds preferred, elevated, and high-risk terms, owned by Finance. LangGraph orders them. Pydantic checks each node. None can be a tool call.</a:t>
            </a:r>
            <a:endParaRPr lang="en-US" sz="1200" dirty="0"/>
          </a:p>
        </p:txBody>
      </p:sp>
      <p:sp>
        <p:nvSpPr>
          <p:cNvPr id="16" name="Shape 14"/>
          <p:cNvSpPr/>
          <p:nvPr/>
        </p:nvSpPr>
        <p:spPr>
          <a:xfrm>
            <a:off x="8046211" y="2789087"/>
            <a:ext cx="3748064" cy="2742486"/>
          </a:xfrm>
          <a:prstGeom prst="roundRect">
            <a:avLst>
              <a:gd name="adj" fmla="val 3333"/>
            </a:avLst>
          </a:prstGeom>
          <a:solidFill>
            <a:srgbClr val="141416"/>
          </a:solidFill>
          <a:ln/>
        </p:spPr>
      </p:sp>
      <p:sp>
        <p:nvSpPr>
          <p:cNvPr id="17" name="Shape 15"/>
          <p:cNvSpPr/>
          <p:nvPr/>
        </p:nvSpPr>
        <p:spPr>
          <a:xfrm>
            <a:off x="8046212" y="2789087"/>
            <a:ext cx="109699" cy="2742486"/>
          </a:xfrm>
          <a:prstGeom prst="rect">
            <a:avLst/>
          </a:prstGeom>
          <a:solidFill>
            <a:srgbClr val="00D4AA"/>
          </a:solidFill>
          <a:ln/>
        </p:spPr>
      </p:sp>
      <p:sp>
        <p:nvSpPr>
          <p:cNvPr id="18" name="Text 16"/>
          <p:cNvSpPr/>
          <p:nvPr/>
        </p:nvSpPr>
        <p:spPr>
          <a:xfrm>
            <a:off x="8320460" y="2926211"/>
            <a:ext cx="3290983" cy="319957"/>
          </a:xfrm>
          <a:prstGeom prst="rect">
            <a:avLst/>
          </a:prstGeom>
          <a:noFill/>
          <a:ln/>
        </p:spPr>
        <p:txBody>
          <a:bodyPr wrap="square" rtlCol="0" anchor="ctr"/>
          <a:lstStyle/>
          <a:p>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0460" y="3337584"/>
            <a:ext cx="3290983" cy="1965448"/>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Every decision cites DISC-POL-2026-01 or PAY-POL-2026-01. Quality bar: 0 false auto-approves on a specialist Reject. 100% of decisions cite a rule. At least 95% of Escalate and Reject land with the matrix-correct role. Golden set is the release gate — currently 9 of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E1A24"/>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TARGET PERSONAS  &amp;  JOBS TO BE DONE</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DealFlow Approval Agents  ·  Helio Quote  ·  https://bird-lunar-falcon-timber.grok.me/</a:t>
            </a:r>
            <a:endParaRPr lang="en-US" sz="1200" dirty="0"/>
          </a:p>
        </p:txBody>
      </p:sp>
      <p:sp>
        <p:nvSpPr>
          <p:cNvPr id="5" name="Shape 3"/>
          <p:cNvSpPr/>
          <p:nvPr/>
        </p:nvSpPr>
        <p:spPr>
          <a:xfrm>
            <a:off x="320040" y="1143000"/>
            <a:ext cx="3749040" cy="5440680"/>
          </a:xfrm>
          <a:prstGeom prst="roundRect">
            <a:avLst>
              <a:gd name="adj" fmla="val 2927"/>
            </a:avLst>
          </a:prstGeom>
          <a:solidFill>
            <a:srgbClr val="141416"/>
          </a:solidFill>
          <a:ln/>
        </p:spPr>
      </p:sp>
      <p:pic>
        <p:nvPicPr>
          <p:cNvPr id="6" name="Image 0" descr="/workspace/artifacts/searched_images/ixZgH.jpg"/>
          <p:cNvPicPr>
            <a:picLocks noChangeAspect="1"/>
          </p:cNvPicPr>
          <p:nvPr/>
        </p:nvPicPr>
        <p:blipFill>
          <a:blip r:embed="rId3"/>
          <a:stretch>
            <a:fillRect/>
          </a:stretch>
        </p:blipFill>
        <p:spPr>
          <a:xfrm>
            <a:off x="438785" y="1176697"/>
            <a:ext cx="1415627" cy="1415627"/>
          </a:xfrm>
          <a:prstGeom prst="ellipse">
            <a:avLst/>
          </a:prstGeom>
        </p:spPr>
      </p:pic>
      <p:sp>
        <p:nvSpPr>
          <p:cNvPr id="7" name="Text 4"/>
          <p:cNvSpPr/>
          <p:nvPr/>
        </p:nvSpPr>
        <p:spPr>
          <a:xfrm>
            <a:off x="45720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Jordan Lee</a:t>
            </a:r>
            <a:endParaRPr lang="en-US" sz="1600" dirty="0"/>
          </a:p>
        </p:txBody>
      </p:sp>
      <p:sp>
        <p:nvSpPr>
          <p:cNvPr id="8" name="Text 5"/>
          <p:cNvSpPr/>
          <p:nvPr/>
        </p:nvSpPr>
        <p:spPr>
          <a:xfrm>
            <a:off x="45720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Account Executive  ·  Helio Quote</a:t>
            </a:r>
            <a:endParaRPr lang="en-US" sz="1000" dirty="0"/>
          </a:p>
        </p:txBody>
      </p:sp>
      <p:sp>
        <p:nvSpPr>
          <p:cNvPr id="9" name="Text 6"/>
          <p:cNvSpPr/>
          <p:nvPr/>
        </p:nvSpPr>
        <p:spPr>
          <a:xfrm>
            <a:off x="50292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10" name="Text 7"/>
          <p:cNvSpPr/>
          <p:nvPr/>
        </p:nvSpPr>
        <p:spPr>
          <a:xfrm>
            <a:off x="50292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Submit a quote and get a clean one written to Approved without waiting on Deal Desk</a:t>
            </a:r>
            <a:endParaRPr lang="en-US" sz="900" dirty="0"/>
          </a:p>
        </p:txBody>
      </p:sp>
      <p:sp>
        <p:nvSpPr>
          <p:cNvPr id="11" name="Text 8"/>
          <p:cNvSpPr/>
          <p:nvPr/>
        </p:nvSpPr>
        <p:spPr>
          <a:xfrm>
            <a:off x="50292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the cited rule and the confidence formula before I send the quote</a:t>
            </a:r>
            <a:endParaRPr lang="en-US" sz="900" dirty="0"/>
          </a:p>
        </p:txBody>
      </p:sp>
      <p:sp>
        <p:nvSpPr>
          <p:cNvPr id="12" name="Text 9"/>
          <p:cNvSpPr/>
          <p:nvPr/>
        </p:nvSpPr>
        <p:spPr>
          <a:xfrm>
            <a:off x="50292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Keep Sent, Signed, and Converted in my hands — agents write only the middle hop</a:t>
            </a:r>
            <a:endParaRPr lang="en-US" sz="900" dirty="0"/>
          </a:p>
        </p:txBody>
      </p:sp>
      <p:sp>
        <p:nvSpPr>
          <p:cNvPr id="13" name="Text 10"/>
          <p:cNvSpPr/>
          <p:nvPr/>
        </p:nvSpPr>
        <p:spPr>
          <a:xfrm>
            <a:off x="50292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14" name="Text 11"/>
          <p:cNvSpPr/>
          <p:nvPr/>
        </p:nvSpPr>
        <p:spPr>
          <a:xfrm>
            <a:off x="50292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Quarter-end queues stall deals I already priced</a:t>
            </a:r>
            <a:endParaRPr lang="en-US" sz="900" dirty="0"/>
          </a:p>
        </p:txBody>
      </p:sp>
      <p:sp>
        <p:nvSpPr>
          <p:cNvPr id="15" name="Text 12"/>
          <p:cNvSpPr/>
          <p:nvPr/>
        </p:nvSpPr>
        <p:spPr>
          <a:xfrm>
            <a:off x="50292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Inconsistent reviewers reject the same clean renewal</a:t>
            </a:r>
            <a:endParaRPr lang="en-US" sz="900" dirty="0"/>
          </a:p>
        </p:txBody>
      </p:sp>
      <p:sp>
        <p:nvSpPr>
          <p:cNvPr id="16" name="Text 13"/>
          <p:cNvSpPr/>
          <p:nvPr/>
        </p:nvSpPr>
        <p:spPr>
          <a:xfrm>
            <a:off x="50292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Notes I write are ignored or treated as instructions</a:t>
            </a:r>
            <a:endParaRPr lang="en-US" sz="900" dirty="0"/>
          </a:p>
        </p:txBody>
      </p:sp>
      <p:sp>
        <p:nvSpPr>
          <p:cNvPr id="17" name="Text 14"/>
          <p:cNvSpPr/>
          <p:nvPr/>
        </p:nvSpPr>
        <p:spPr>
          <a:xfrm>
            <a:off x="50292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18" name="Text 15"/>
          <p:cNvSpPr/>
          <p:nvPr/>
        </p:nvSpPr>
        <p:spPr>
          <a:xfrm>
            <a:off x="50292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Clean quotes Approved in under 30 sec</a:t>
            </a:r>
            <a:endParaRPr lang="en-US" sz="900" dirty="0"/>
          </a:p>
        </p:txBody>
      </p:sp>
      <p:sp>
        <p:nvSpPr>
          <p:cNvPr id="19" name="Text 16"/>
          <p:cNvSpPr/>
          <p:nvPr/>
        </p:nvSpPr>
        <p:spPr>
          <a:xfrm>
            <a:off x="50292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30% more time spent selling</a:t>
            </a:r>
            <a:endParaRPr lang="en-US" sz="900" dirty="0"/>
          </a:p>
        </p:txBody>
      </p:sp>
      <p:sp>
        <p:nvSpPr>
          <p:cNvPr id="20" name="Text 17"/>
          <p:cNvSpPr/>
          <p:nvPr/>
        </p:nvSpPr>
        <p:spPr>
          <a:xfrm>
            <a:off x="50292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Higher win rate on agent-approved deals</a:t>
            </a:r>
            <a:endParaRPr lang="en-US" sz="900" dirty="0"/>
          </a:p>
        </p:txBody>
      </p:sp>
      <p:sp>
        <p:nvSpPr>
          <p:cNvPr id="21" name="Shape 18"/>
          <p:cNvSpPr/>
          <p:nvPr/>
        </p:nvSpPr>
        <p:spPr>
          <a:xfrm>
            <a:off x="4160520" y="1143000"/>
            <a:ext cx="3749040" cy="5440680"/>
          </a:xfrm>
          <a:prstGeom prst="roundRect">
            <a:avLst>
              <a:gd name="adj" fmla="val 2927"/>
            </a:avLst>
          </a:prstGeom>
          <a:solidFill>
            <a:srgbClr val="141416"/>
          </a:solidFill>
          <a:ln/>
        </p:spPr>
      </p:sp>
      <p:pic>
        <p:nvPicPr>
          <p:cNvPr id="22" name="Image 1" descr="/workspace/artifacts/searched_images/yZlQX.jpg"/>
          <p:cNvPicPr>
            <a:picLocks noChangeAspect="1"/>
          </p:cNvPicPr>
          <p:nvPr/>
        </p:nvPicPr>
        <p:blipFill>
          <a:blip r:embed="rId4"/>
          <a:stretch>
            <a:fillRect/>
          </a:stretch>
        </p:blipFill>
        <p:spPr>
          <a:xfrm>
            <a:off x="4251960" y="1261872"/>
            <a:ext cx="1289304" cy="1289304"/>
          </a:xfrm>
          <a:prstGeom prst="ellipse">
            <a:avLst/>
          </a:prstGeom>
        </p:spPr>
      </p:pic>
      <p:sp>
        <p:nvSpPr>
          <p:cNvPr id="23" name="Text 19"/>
          <p:cNvSpPr/>
          <p:nvPr/>
        </p:nvSpPr>
        <p:spPr>
          <a:xfrm>
            <a:off x="429768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Alex Okonkwo</a:t>
            </a:r>
            <a:endParaRPr lang="en-US" sz="1600" dirty="0"/>
          </a:p>
        </p:txBody>
      </p:sp>
      <p:sp>
        <p:nvSpPr>
          <p:cNvPr id="24" name="Text 20"/>
          <p:cNvSpPr/>
          <p:nvPr/>
        </p:nvSpPr>
        <p:spPr>
          <a:xfrm>
            <a:off x="429768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Deal Desk Manager  ·  Helio Quote</a:t>
            </a:r>
            <a:endParaRPr lang="en-US" sz="1000" dirty="0"/>
          </a:p>
        </p:txBody>
      </p:sp>
      <p:sp>
        <p:nvSpPr>
          <p:cNvPr id="25" name="Text 21"/>
          <p:cNvSpPr/>
          <p:nvPr/>
        </p:nvSpPr>
        <p:spPr>
          <a:xfrm>
            <a:off x="434340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26" name="Text 22"/>
          <p:cNvSpPr/>
          <p:nvPr/>
        </p:nvSpPr>
        <p:spPr>
          <a:xfrm>
            <a:off x="434340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Open only the exceptions — auto-approvals never enter my queue</a:t>
            </a:r>
            <a:endParaRPr lang="en-US" sz="900" dirty="0"/>
          </a:p>
        </p:txBody>
      </p:sp>
      <p:sp>
        <p:nvSpPr>
          <p:cNvPr id="27" name="Text 23"/>
          <p:cNvSpPr/>
          <p:nvPr/>
        </p:nvSpPr>
        <p:spPr>
          <a:xfrm>
            <a:off x="434340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Assigned to, SLA, cited rule, and the exact formula before I act</a:t>
            </a:r>
            <a:endParaRPr lang="en-US" sz="900" dirty="0"/>
          </a:p>
        </p:txBody>
      </p:sp>
      <p:sp>
        <p:nvSpPr>
          <p:cNvPr id="28" name="Text 24"/>
          <p:cNvSpPr/>
          <p:nvPr/>
        </p:nvSpPr>
        <p:spPr>
          <a:xfrm>
            <a:off x="434340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Approve, reject, or return with a named reason that writes back to the CPQ</a:t>
            </a:r>
            <a:endParaRPr lang="en-US" sz="900" dirty="0"/>
          </a:p>
        </p:txBody>
      </p:sp>
      <p:sp>
        <p:nvSpPr>
          <p:cNvPr id="29" name="Text 25"/>
          <p:cNvSpPr/>
          <p:nvPr/>
        </p:nvSpPr>
        <p:spPr>
          <a:xfrm>
            <a:off x="434340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30" name="Text 26"/>
          <p:cNvSpPr/>
          <p:nvPr/>
        </p:nvSpPr>
        <p:spPr>
          <a:xfrm>
            <a:off x="434340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Buried in routine reviews that should have cleared</a:t>
            </a:r>
            <a:endParaRPr lang="en-US" sz="900" dirty="0"/>
          </a:p>
        </p:txBody>
      </p:sp>
      <p:sp>
        <p:nvSpPr>
          <p:cNvPr id="31" name="Text 27"/>
          <p:cNvSpPr/>
          <p:nvPr/>
        </p:nvSpPr>
        <p:spPr>
          <a:xfrm>
            <a:off x="434340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Adversarial notes try to force Approved</a:t>
            </a:r>
            <a:endParaRPr lang="en-US" sz="900" dirty="0"/>
          </a:p>
        </p:txBody>
      </p:sp>
      <p:sp>
        <p:nvSpPr>
          <p:cNvPr id="32" name="Text 28"/>
          <p:cNvSpPr/>
          <p:nvPr/>
        </p:nvSpPr>
        <p:spPr>
          <a:xfrm>
            <a:off x="434340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audit trail when a score was cut</a:t>
            </a:r>
            <a:endParaRPr lang="en-US" sz="900" dirty="0"/>
          </a:p>
        </p:txBody>
      </p:sp>
      <p:sp>
        <p:nvSpPr>
          <p:cNvPr id="33" name="Text 29"/>
          <p:cNvSpPr/>
          <p:nvPr/>
        </p:nvSpPr>
        <p:spPr>
          <a:xfrm>
            <a:off x="434340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34" name="Text 30"/>
          <p:cNvSpPr/>
          <p:nvPr/>
        </p:nvSpPr>
        <p:spPr>
          <a:xfrm>
            <a:off x="434340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≥70% of policy-compliant quotes auto-approved</a:t>
            </a:r>
            <a:endParaRPr lang="en-US" sz="900" dirty="0"/>
          </a:p>
        </p:txBody>
      </p:sp>
      <p:sp>
        <p:nvSpPr>
          <p:cNvPr id="35" name="Text 31"/>
          <p:cNvSpPr/>
          <p:nvPr/>
        </p:nvSpPr>
        <p:spPr>
          <a:xfrm>
            <a:off x="434340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Escalations meet the stated SLA</a:t>
            </a:r>
            <a:endParaRPr lang="en-US" sz="900" dirty="0"/>
          </a:p>
        </p:txBody>
      </p:sp>
      <p:sp>
        <p:nvSpPr>
          <p:cNvPr id="36" name="Text 32"/>
          <p:cNvSpPr/>
          <p:nvPr/>
        </p:nvSpPr>
        <p:spPr>
          <a:xfrm>
            <a:off x="434340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Zero successful note attacks</a:t>
            </a:r>
            <a:endParaRPr lang="en-US" sz="900" dirty="0"/>
          </a:p>
        </p:txBody>
      </p:sp>
      <p:sp>
        <p:nvSpPr>
          <p:cNvPr id="37" name="Shape 33"/>
          <p:cNvSpPr/>
          <p:nvPr/>
        </p:nvSpPr>
        <p:spPr>
          <a:xfrm>
            <a:off x="8001000" y="1143000"/>
            <a:ext cx="3749040" cy="5440680"/>
          </a:xfrm>
          <a:prstGeom prst="roundRect">
            <a:avLst>
              <a:gd name="adj" fmla="val 2927"/>
            </a:avLst>
          </a:prstGeom>
          <a:solidFill>
            <a:srgbClr val="141416"/>
          </a:solidFill>
          <a:ln/>
        </p:spPr>
      </p:sp>
      <p:pic>
        <p:nvPicPr>
          <p:cNvPr id="38" name="Image 2" descr="/workspace/artifacts/searched_images/ttmxi.jpg"/>
          <p:cNvPicPr>
            <a:picLocks noChangeAspect="1"/>
          </p:cNvPicPr>
          <p:nvPr/>
        </p:nvPicPr>
        <p:blipFill>
          <a:blip r:embed="rId5"/>
          <a:stretch>
            <a:fillRect/>
          </a:stretch>
        </p:blipFill>
        <p:spPr>
          <a:xfrm>
            <a:off x="8138160" y="1216152"/>
            <a:ext cx="1298448" cy="1298448"/>
          </a:xfrm>
          <a:prstGeom prst="ellipse">
            <a:avLst/>
          </a:prstGeom>
        </p:spPr>
      </p:pic>
      <p:sp>
        <p:nvSpPr>
          <p:cNvPr id="39" name="Text 34"/>
          <p:cNvSpPr/>
          <p:nvPr/>
        </p:nvSpPr>
        <p:spPr>
          <a:xfrm>
            <a:off x="813816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Priya Sharma</a:t>
            </a:r>
            <a:endParaRPr lang="en-US" sz="1600" dirty="0"/>
          </a:p>
        </p:txBody>
      </p:sp>
      <p:sp>
        <p:nvSpPr>
          <p:cNvPr id="40" name="Text 35"/>
          <p:cNvSpPr/>
          <p:nvPr/>
        </p:nvSpPr>
        <p:spPr>
          <a:xfrm>
            <a:off x="813816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RevOps / Policy Owner  ·  Helio Quote</a:t>
            </a:r>
            <a:endParaRPr lang="en-US" sz="1000" dirty="0"/>
          </a:p>
        </p:txBody>
      </p:sp>
      <p:sp>
        <p:nvSpPr>
          <p:cNvPr id="41" name="Text 36"/>
          <p:cNvSpPr/>
          <p:nvPr/>
        </p:nvSpPr>
        <p:spPr>
          <a:xfrm>
            <a:off x="818388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42" name="Text 37"/>
          <p:cNvSpPr/>
          <p:nvPr/>
        </p:nvSpPr>
        <p:spPr>
          <a:xfrm>
            <a:off x="818388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Keep the live discount and payment books versioned and owned by RevOps</a:t>
            </a:r>
            <a:endParaRPr lang="en-US" sz="900" dirty="0"/>
          </a:p>
        </p:txBody>
      </p:sp>
      <p:sp>
        <p:nvSpPr>
          <p:cNvPr id="43" name="Text 38"/>
          <p:cNvSpPr/>
          <p:nvPr/>
        </p:nvSpPr>
        <p:spPr>
          <a:xfrm>
            <a:off x="818388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Confirm a new policy pack before agents use it — upload, extract, review</a:t>
            </a:r>
            <a:endParaRPr lang="en-US" sz="900" dirty="0"/>
          </a:p>
        </p:txBody>
      </p:sp>
      <p:sp>
        <p:nvSpPr>
          <p:cNvPr id="44" name="Text 39"/>
          <p:cNvSpPr/>
          <p:nvPr/>
        </p:nvSpPr>
        <p:spPr>
          <a:xfrm>
            <a:off x="818388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Hold the golden set at 9 of 9 and watch every hop in Langfuse</a:t>
            </a:r>
            <a:endParaRPr lang="en-US" sz="900" dirty="0"/>
          </a:p>
        </p:txBody>
      </p:sp>
      <p:sp>
        <p:nvSpPr>
          <p:cNvPr id="45" name="Text 40"/>
          <p:cNvSpPr/>
          <p:nvPr/>
        </p:nvSpPr>
        <p:spPr>
          <a:xfrm>
            <a:off x="818388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46" name="Text 41"/>
          <p:cNvSpPr/>
          <p:nvPr/>
        </p:nvSpPr>
        <p:spPr>
          <a:xfrm>
            <a:off x="818388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changes do not reach every reviewer the same day</a:t>
            </a:r>
            <a:endParaRPr lang="en-US" sz="900" dirty="0"/>
          </a:p>
        </p:txBody>
      </p:sp>
      <p:sp>
        <p:nvSpPr>
          <p:cNvPr id="47" name="Text 42"/>
          <p:cNvSpPr/>
          <p:nvPr/>
        </p:nvSpPr>
        <p:spPr>
          <a:xfrm>
            <a:off x="818388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visibility into why a confidence score moved</a:t>
            </a:r>
            <a:endParaRPr lang="en-US" sz="900" dirty="0"/>
          </a:p>
        </p:txBody>
      </p:sp>
      <p:sp>
        <p:nvSpPr>
          <p:cNvPr id="48" name="Text 43"/>
          <p:cNvSpPr/>
          <p:nvPr/>
        </p:nvSpPr>
        <p:spPr>
          <a:xfrm>
            <a:off x="818388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Golden-set health is hard to prove at audit</a:t>
            </a:r>
            <a:endParaRPr lang="en-US" sz="900" dirty="0"/>
          </a:p>
        </p:txBody>
      </p:sp>
      <p:sp>
        <p:nvSpPr>
          <p:cNvPr id="49" name="Text 44"/>
          <p:cNvSpPr/>
          <p:nvPr/>
        </p:nvSpPr>
        <p:spPr>
          <a:xfrm>
            <a:off x="818388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50" name="Text 45"/>
          <p:cNvSpPr/>
          <p:nvPr/>
        </p:nvSpPr>
        <p:spPr>
          <a:xfrm>
            <a:off x="818388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updates live in minutes</a:t>
            </a:r>
            <a:endParaRPr lang="en-US" sz="900" dirty="0"/>
          </a:p>
        </p:txBody>
      </p:sp>
      <p:sp>
        <p:nvSpPr>
          <p:cNvPr id="51" name="Text 46"/>
          <p:cNvSpPr/>
          <p:nvPr/>
        </p:nvSpPr>
        <p:spPr>
          <a:xfrm>
            <a:off x="818388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 set 9 of 9 always green</a:t>
            </a:r>
            <a:endParaRPr lang="en-US" sz="900" dirty="0"/>
          </a:p>
        </p:txBody>
      </p:sp>
      <p:sp>
        <p:nvSpPr>
          <p:cNvPr id="52" name="Text 47"/>
          <p:cNvSpPr/>
          <p:nvPr/>
        </p:nvSpPr>
        <p:spPr>
          <a:xfrm>
            <a:off x="818388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Full Langfuse trace on every hop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UNMET NEEDS ANALYSIS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current path cannot do  ·  DealFlow Approval Agents  ·  Helio Quote</a:t>
            </a:r>
            <a:endParaRPr lang="en-US" sz="1200" dirty="0"/>
          </a:p>
        </p:txBody>
      </p:sp>
      <p:sp>
        <p:nvSpPr>
          <p:cNvPr id="5" name="Shape 3"/>
          <p:cNvSpPr/>
          <p:nvPr/>
        </p:nvSpPr>
        <p:spPr>
          <a:xfrm>
            <a:off x="320040" y="1188720"/>
            <a:ext cx="3749040" cy="4160520"/>
          </a:xfrm>
          <a:prstGeom prst="roundRect">
            <a:avLst>
              <a:gd name="adj" fmla="val 2927"/>
            </a:avLst>
          </a:prstGeom>
          <a:solidFill>
            <a:srgbClr val="141416"/>
          </a:solidFill>
          <a:ln/>
        </p:spPr>
      </p:sp>
      <p:sp>
        <p:nvSpPr>
          <p:cNvPr id="6" name="Shape 4"/>
          <p:cNvSpPr/>
          <p:nvPr/>
        </p:nvSpPr>
        <p:spPr>
          <a:xfrm>
            <a:off x="320040" y="1188720"/>
            <a:ext cx="109728" cy="41605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FUNCTIONAL</a:t>
            </a:r>
            <a:endParaRPr lang="en-US" sz="1400" dirty="0"/>
          </a:p>
        </p:txBody>
      </p:sp>
      <p:sp>
        <p:nvSpPr>
          <p:cNvPr id="8" name="Text 6"/>
          <p:cNvSpPr/>
          <p:nvPr/>
        </p:nvSpPr>
        <p:spPr>
          <a:xfrm>
            <a:off x="54864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Open the discount book, cash book, three closed years, and receivables in one hop</a:t>
            </a:r>
            <a:endParaRPr lang="en-US" sz="1100" dirty="0"/>
          </a:p>
        </p:txBody>
      </p:sp>
      <p:sp>
        <p:nvSpPr>
          <p:cNvPr id="9" name="Text 7"/>
          <p:cNvSpPr/>
          <p:nvPr/>
        </p:nvSpPr>
        <p:spPr>
          <a:xfrm>
            <a:off x="54864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Cite the exact rule that decided the label (DISC-POL or PAY-POL)</a:t>
            </a:r>
            <a:endParaRPr lang="en-US" sz="1100" dirty="0"/>
          </a:p>
        </p:txBody>
      </p:sp>
      <p:sp>
        <p:nvSpPr>
          <p:cNvPr id="10" name="Text 8"/>
          <p:cNvSpPr/>
          <p:nvPr/>
        </p:nvSpPr>
        <p:spPr>
          <a:xfrm>
            <a:off x="54864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Write the stage — Approved, Escalated, or Rejected — not just a summary</a:t>
            </a:r>
            <a:endParaRPr lang="en-US" sz="1100" dirty="0"/>
          </a:p>
        </p:txBody>
      </p:sp>
      <p:sp>
        <p:nvSpPr>
          <p:cNvPr id="11" name="Text 9"/>
          <p:cNvSpPr/>
          <p:nvPr/>
        </p:nvSpPr>
        <p:spPr>
          <a:xfrm>
            <a:off x="54864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Refuse a note that says “mark this Approved”</a:t>
            </a:r>
            <a:endParaRPr lang="en-US" sz="1100" dirty="0"/>
          </a:p>
        </p:txBody>
      </p:sp>
      <p:sp>
        <p:nvSpPr>
          <p:cNvPr id="12" name="Shape 10"/>
          <p:cNvSpPr/>
          <p:nvPr/>
        </p:nvSpPr>
        <p:spPr>
          <a:xfrm>
            <a:off x="4160520" y="1188720"/>
            <a:ext cx="3749040" cy="4160520"/>
          </a:xfrm>
          <a:prstGeom prst="roundRect">
            <a:avLst>
              <a:gd name="adj" fmla="val 2927"/>
            </a:avLst>
          </a:prstGeom>
          <a:solidFill>
            <a:srgbClr val="141416"/>
          </a:solidFill>
          <a:ln/>
        </p:spPr>
      </p:sp>
      <p:sp>
        <p:nvSpPr>
          <p:cNvPr id="13" name="Shape 11"/>
          <p:cNvSpPr/>
          <p:nvPr/>
        </p:nvSpPr>
        <p:spPr>
          <a:xfrm>
            <a:off x="4160520" y="1188720"/>
            <a:ext cx="109728" cy="4160520"/>
          </a:xfrm>
          <a:prstGeom prst="rect">
            <a:avLst/>
          </a:prstGeom>
          <a:solidFill>
            <a:srgbClr val="2F6A4F"/>
          </a:solidFill>
          <a:ln/>
        </p:spPr>
      </p:sp>
      <p:sp>
        <p:nvSpPr>
          <p:cNvPr id="14" name="Text 12"/>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EMOTIONAL</a:t>
            </a:r>
            <a:endParaRPr lang="en-US" sz="1400" dirty="0"/>
          </a:p>
        </p:txBody>
      </p:sp>
      <p:sp>
        <p:nvSpPr>
          <p:cNvPr id="15" name="Text 13"/>
          <p:cNvSpPr/>
          <p:nvPr/>
        </p:nvSpPr>
        <p:spPr>
          <a:xfrm>
            <a:off x="438912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Seller wants to know the quote is fair and will clear before the quarter closes</a:t>
            </a:r>
            <a:endParaRPr lang="en-US" sz="1100" dirty="0"/>
          </a:p>
        </p:txBody>
      </p:sp>
      <p:sp>
        <p:nvSpPr>
          <p:cNvPr id="16" name="Text 14"/>
          <p:cNvSpPr/>
          <p:nvPr/>
        </p:nvSpPr>
        <p:spPr>
          <a:xfrm>
            <a:off x="438912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Deal Desk wants to stop defending why the same 20% was approved Tuesday and held Thursday</a:t>
            </a:r>
            <a:endParaRPr lang="en-US" sz="1100" dirty="0"/>
          </a:p>
        </p:txBody>
      </p:sp>
      <p:sp>
        <p:nvSpPr>
          <p:cNvPr id="17" name="Text 15"/>
          <p:cNvSpPr/>
          <p:nvPr/>
        </p:nvSpPr>
        <p:spPr>
          <a:xfrm>
            <a:off x="438912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Both want the reason on the record, not in someone’s head</a:t>
            </a:r>
            <a:endParaRPr lang="en-US" sz="1100" dirty="0"/>
          </a:p>
        </p:txBody>
      </p:sp>
      <p:sp>
        <p:nvSpPr>
          <p:cNvPr id="18" name="Text 16"/>
          <p:cNvSpPr/>
          <p:nvPr/>
        </p:nvSpPr>
        <p:spPr>
          <a:xfrm>
            <a:off x="438912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RevOps wants confidence that the live book is the one the agents actually read</a:t>
            </a:r>
            <a:endParaRPr lang="en-US" sz="1100" dirty="0"/>
          </a:p>
        </p:txBody>
      </p:sp>
      <p:sp>
        <p:nvSpPr>
          <p:cNvPr id="19" name="Shape 17"/>
          <p:cNvSpPr/>
          <p:nvPr/>
        </p:nvSpPr>
        <p:spPr>
          <a:xfrm>
            <a:off x="8001000" y="1188720"/>
            <a:ext cx="3749040" cy="4160520"/>
          </a:xfrm>
          <a:prstGeom prst="roundRect">
            <a:avLst>
              <a:gd name="adj" fmla="val 2927"/>
            </a:avLst>
          </a:prstGeom>
          <a:solidFill>
            <a:srgbClr val="141416"/>
          </a:solidFill>
          <a:ln/>
        </p:spPr>
      </p:sp>
      <p:sp>
        <p:nvSpPr>
          <p:cNvPr id="20" name="Shape 18"/>
          <p:cNvSpPr/>
          <p:nvPr/>
        </p:nvSpPr>
        <p:spPr>
          <a:xfrm>
            <a:off x="8001000" y="1188720"/>
            <a:ext cx="109728" cy="4160520"/>
          </a:xfrm>
          <a:prstGeom prst="rect">
            <a:avLst/>
          </a:prstGeom>
          <a:solidFill>
            <a:srgbClr val="00D4AA"/>
          </a:solidFill>
          <a:ln/>
        </p:spPr>
      </p:sp>
      <p:sp>
        <p:nvSpPr>
          <p:cNvPr id="21" name="Text 19"/>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SOCIAL</a:t>
            </a:r>
            <a:endParaRPr lang="en-US" sz="1400" dirty="0"/>
          </a:p>
        </p:txBody>
      </p:sp>
      <p:sp>
        <p:nvSpPr>
          <p:cNvPr id="22" name="Text 20"/>
          <p:cNvSpPr/>
          <p:nvPr/>
        </p:nvSpPr>
        <p:spPr>
          <a:xfrm>
            <a:off x="822960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 named person and an SLA, not a shared “escalated” pile</a:t>
            </a:r>
            <a:endParaRPr lang="en-US" sz="1100" dirty="0"/>
          </a:p>
        </p:txBody>
      </p:sp>
      <p:sp>
        <p:nvSpPr>
          <p:cNvPr id="23" name="Text 21"/>
          <p:cNvSpPr/>
          <p:nvPr/>
        </p:nvSpPr>
        <p:spPr>
          <a:xfrm>
            <a:off x="822960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VP Sales and Finance see only the cases that actually need them</a:t>
            </a:r>
            <a:endParaRPr lang="en-US" sz="1100" dirty="0"/>
          </a:p>
        </p:txBody>
      </p:sp>
      <p:sp>
        <p:nvSpPr>
          <p:cNvPr id="24" name="Text 22"/>
          <p:cNvSpPr/>
          <p:nvPr/>
        </p:nvSpPr>
        <p:spPr>
          <a:xfrm>
            <a:off x="822960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Assignment resolves to a real Salesforce queue or DealHub group</a:t>
            </a:r>
            <a:endParaRPr lang="en-US" sz="1100" dirty="0"/>
          </a:p>
        </p:txBody>
      </p:sp>
      <p:sp>
        <p:nvSpPr>
          <p:cNvPr id="25" name="Text 23"/>
          <p:cNvSpPr/>
          <p:nvPr/>
        </p:nvSpPr>
        <p:spPr>
          <a:xfrm>
            <a:off x="822960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Audit trail that Finance can replay without asking who was on shift</a:t>
            </a:r>
            <a:endParaRPr lang="en-US" sz="1100" dirty="0"/>
          </a:p>
        </p:txBody>
      </p:sp>
      <p:sp>
        <p:nvSpPr>
          <p:cNvPr id="26" name="Shape 24"/>
          <p:cNvSpPr/>
          <p:nvPr/>
        </p:nvSpPr>
        <p:spPr>
          <a:xfrm>
            <a:off x="320040" y="5486400"/>
            <a:ext cx="11548872" cy="1097280"/>
          </a:xfrm>
          <a:prstGeom prst="roundRect">
            <a:avLst>
              <a:gd name="adj" fmla="val 8333"/>
            </a:avLst>
          </a:prstGeom>
          <a:solidFill>
            <a:srgbClr val="1A2530"/>
          </a:solidFill>
          <a:ln/>
        </p:spPr>
      </p:sp>
      <p:sp>
        <p:nvSpPr>
          <p:cNvPr id="27" name="Text 25"/>
          <p:cNvSpPr/>
          <p:nvPr/>
        </p:nvSpPr>
        <p:spPr>
          <a:xfrm>
            <a:off x="502920" y="5596128"/>
            <a:ext cx="10972800" cy="256032"/>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WHERE TOOLS FAIL TODAY</a:t>
            </a:r>
            <a:endParaRPr lang="en-US" sz="1100" dirty="0"/>
          </a:p>
        </p:txBody>
      </p:sp>
      <p:sp>
        <p:nvSpPr>
          <p:cNvPr id="28" name="Text 26"/>
          <p:cNvSpPr/>
          <p:nvPr/>
        </p:nvSpPr>
        <p:spPr>
          <a:xfrm>
            <a:off x="502920" y="5870448"/>
            <a:ext cx="11155680" cy="566928"/>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Median today is 2.1 days. 50–70% of quotes are routine. CPQ chains are static. A PDF is not callable. A chatbot can summarize the book. None of them write the stage, refuse a forged note, and name a person with an SLA.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VALUE PROPOSITION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Same book. Same label. A person only when the book says so.  ·  DealFlow Approval Agents</a:t>
            </a:r>
            <a:endParaRPr lang="en-US" sz="1200" dirty="0"/>
          </a:p>
        </p:txBody>
      </p:sp>
      <p:sp>
        <p:nvSpPr>
          <p:cNvPr id="5" name="Shape 3"/>
          <p:cNvSpPr/>
          <p:nvPr/>
        </p:nvSpPr>
        <p:spPr>
          <a:xfrm>
            <a:off x="274320" y="1143000"/>
            <a:ext cx="2834640" cy="2148840"/>
          </a:xfrm>
          <a:prstGeom prst="roundRect">
            <a:avLst>
              <a:gd name="adj" fmla="val 4255"/>
            </a:avLst>
          </a:prstGeom>
          <a:solidFill>
            <a:srgbClr val="141416"/>
          </a:solidFill>
          <a:ln/>
        </p:spPr>
      </p:sp>
      <p:sp>
        <p:nvSpPr>
          <p:cNvPr id="6" name="Text 4"/>
          <p:cNvSpPr/>
          <p:nvPr/>
        </p:nvSpPr>
        <p:spPr>
          <a:xfrm>
            <a:off x="4114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ONE HOP</a:t>
            </a:r>
            <a:endParaRPr lang="en-US" sz="1200" dirty="0"/>
          </a:p>
        </p:txBody>
      </p:sp>
      <p:sp>
        <p:nvSpPr>
          <p:cNvPr id="7" name="Text 5"/>
          <p:cNvSpPr/>
          <p:nvPr/>
        </p:nvSpPr>
        <p:spPr>
          <a:xfrm>
            <a:off x="4114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Agents write only Submit → Approved / Escalated / Rejected. Sent, signed, and converted stay with the seller. The CPQ remains the system of record.</a:t>
            </a:r>
            <a:endParaRPr lang="en-US" sz="1000" dirty="0"/>
          </a:p>
        </p:txBody>
      </p:sp>
      <p:sp>
        <p:nvSpPr>
          <p:cNvPr id="8" name="Shape 6"/>
          <p:cNvSpPr/>
          <p:nvPr/>
        </p:nvSpPr>
        <p:spPr>
          <a:xfrm>
            <a:off x="3246120" y="1143000"/>
            <a:ext cx="2834640" cy="2148840"/>
          </a:xfrm>
          <a:prstGeom prst="roundRect">
            <a:avLst>
              <a:gd name="adj" fmla="val 4255"/>
            </a:avLst>
          </a:prstGeom>
          <a:solidFill>
            <a:srgbClr val="141416"/>
          </a:solidFill>
          <a:ln/>
        </p:spPr>
      </p:sp>
      <p:sp>
        <p:nvSpPr>
          <p:cNvPr id="9" name="Text 7"/>
          <p:cNvSpPr/>
          <p:nvPr/>
        </p:nvSpPr>
        <p:spPr>
          <a:xfrm>
            <a:off x="33832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CITED</a:t>
            </a:r>
            <a:endParaRPr lang="en-US" sz="1200" dirty="0"/>
          </a:p>
        </p:txBody>
      </p:sp>
      <p:sp>
        <p:nvSpPr>
          <p:cNvPr id="10" name="Text 8"/>
          <p:cNvSpPr/>
          <p:nvPr/>
        </p:nvSpPr>
        <p:spPr>
          <a:xfrm>
            <a:off x="33832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label names the policy rule and the file it opened. DISC-POL-2026-01 and PAY-POL-2026-01 are visible. The confidence formula is arithmetic, not a label.</a:t>
            </a:r>
            <a:endParaRPr lang="en-US" sz="1000" dirty="0"/>
          </a:p>
        </p:txBody>
      </p:sp>
      <p:sp>
        <p:nvSpPr>
          <p:cNvPr id="11" name="Shape 9"/>
          <p:cNvSpPr/>
          <p:nvPr/>
        </p:nvSpPr>
        <p:spPr>
          <a:xfrm>
            <a:off x="6217920" y="1143000"/>
            <a:ext cx="2834640" cy="2148840"/>
          </a:xfrm>
          <a:prstGeom prst="roundRect">
            <a:avLst>
              <a:gd name="adj" fmla="val 4255"/>
            </a:avLst>
          </a:prstGeom>
          <a:solidFill>
            <a:srgbClr val="141416"/>
          </a:solidFill>
          <a:ln/>
        </p:spPr>
      </p:sp>
      <p:sp>
        <p:nvSpPr>
          <p:cNvPr id="12" name="Text 10"/>
          <p:cNvSpPr/>
          <p:nvPr/>
        </p:nvSpPr>
        <p:spPr>
          <a:xfrm>
            <a:off x="63550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NAMED QUEUE</a:t>
            </a:r>
            <a:endParaRPr lang="en-US" sz="1200" dirty="0"/>
          </a:p>
        </p:txBody>
      </p:sp>
      <p:sp>
        <p:nvSpPr>
          <p:cNvPr id="13" name="Text 11"/>
          <p:cNvSpPr/>
          <p:nvPr/>
        </p:nvSpPr>
        <p:spPr>
          <a:xfrm>
            <a:off x="63550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Escalate is a person, an SLA, and a reason — not a bucket. “Assigned to: Finance | SLA: 24 h | Reason: …” resolves to a real Salesforce or DealHub queue.</a:t>
            </a:r>
            <a:endParaRPr lang="en-US" sz="1000" dirty="0"/>
          </a:p>
        </p:txBody>
      </p:sp>
      <p:sp>
        <p:nvSpPr>
          <p:cNvPr id="14" name="Shape 12"/>
          <p:cNvSpPr/>
          <p:nvPr/>
        </p:nvSpPr>
        <p:spPr>
          <a:xfrm>
            <a:off x="9189720" y="1143000"/>
            <a:ext cx="2834640" cy="2148840"/>
          </a:xfrm>
          <a:prstGeom prst="roundRect">
            <a:avLst>
              <a:gd name="adj" fmla="val 4255"/>
            </a:avLst>
          </a:prstGeom>
          <a:solidFill>
            <a:srgbClr val="141416"/>
          </a:solidFill>
          <a:ln/>
        </p:spPr>
      </p:sp>
      <p:sp>
        <p:nvSpPr>
          <p:cNvPr id="15" name="Text 13"/>
          <p:cNvSpPr/>
          <p:nvPr/>
        </p:nvSpPr>
        <p:spPr>
          <a:xfrm>
            <a:off x="93268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9 / 9</a:t>
            </a:r>
            <a:endParaRPr lang="en-US" sz="1200" dirty="0"/>
          </a:p>
        </p:txBody>
      </p:sp>
      <p:sp>
        <p:nvSpPr>
          <p:cNvPr id="16" name="Text 14"/>
          <p:cNvSpPr/>
          <p:nvPr/>
        </p:nvSpPr>
        <p:spPr>
          <a:xfrm>
            <a:off x="93268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Golden set passes. A note that demands Approve still fails. RevOps owns the set. Langfuse traces every hop: plan, specialists, combine, guardrail.</a:t>
            </a:r>
            <a:endParaRPr lang="en-US" sz="1000" dirty="0"/>
          </a:p>
        </p:txBody>
      </p:sp>
      <p:sp>
        <p:nvSpPr>
          <p:cNvPr id="17" name="Text 15"/>
          <p:cNvSpPr/>
          <p:nvPr/>
        </p:nvSpPr>
        <p:spPr>
          <a:xfrm>
            <a:off x="411480" y="3429000"/>
            <a:ext cx="10972800" cy="256032"/>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BUSINESS IMPACT THE BUYER CAN UNDERWRITE</a:t>
            </a:r>
            <a:endParaRPr lang="en-US" sz="1100" dirty="0"/>
          </a:p>
        </p:txBody>
      </p:sp>
      <p:sp>
        <p:nvSpPr>
          <p:cNvPr id="18" name="Shape 16"/>
          <p:cNvSpPr/>
          <p:nvPr/>
        </p:nvSpPr>
        <p:spPr>
          <a:xfrm>
            <a:off x="274320" y="3749040"/>
            <a:ext cx="3749040" cy="1828800"/>
          </a:xfrm>
          <a:prstGeom prst="roundRect">
            <a:avLst>
              <a:gd name="adj" fmla="val 5000"/>
            </a:avLst>
          </a:prstGeom>
          <a:solidFill>
            <a:srgbClr val="141416"/>
          </a:solidFill>
          <a:ln/>
        </p:spPr>
      </p:sp>
      <p:sp>
        <p:nvSpPr>
          <p:cNvPr id="19" name="Shape 17"/>
          <p:cNvSpPr/>
          <p:nvPr/>
        </p:nvSpPr>
        <p:spPr>
          <a:xfrm>
            <a:off x="274320" y="3749040"/>
            <a:ext cx="91440" cy="1828800"/>
          </a:xfrm>
          <a:prstGeom prst="rect">
            <a:avLst/>
          </a:prstGeom>
          <a:solidFill>
            <a:srgbClr val="1D5C68"/>
          </a:solidFill>
          <a:ln/>
        </p:spPr>
      </p:sp>
      <p:sp>
        <p:nvSpPr>
          <p:cNvPr id="20" name="Text 18"/>
          <p:cNvSpPr/>
          <p:nvPr/>
        </p:nvSpPr>
        <p:spPr>
          <a:xfrm>
            <a:off x="502920" y="3840480"/>
            <a:ext cx="338328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CYCLE TIME</a:t>
            </a:r>
            <a:endParaRPr lang="en-US" sz="1200" dirty="0"/>
          </a:p>
        </p:txBody>
      </p:sp>
      <p:sp>
        <p:nvSpPr>
          <p:cNvPr id="21" name="Text 19"/>
          <p:cNvSpPr/>
          <p:nvPr/>
        </p:nvSpPr>
        <p:spPr>
          <a:xfrm>
            <a:off x="5029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Baseline is 2.1 days. A clean renewal (Northwind: 17.8% inside 22%, credit Strong, $0 overdue) clears in under 30 seconds. Harbor lands with Finance and a 24-hour SLA.</a:t>
            </a:r>
            <a:endParaRPr lang="en-US" sz="1000" dirty="0"/>
          </a:p>
        </p:txBody>
      </p:sp>
      <p:sp>
        <p:nvSpPr>
          <p:cNvPr id="22" name="Shape 20"/>
          <p:cNvSpPr/>
          <p:nvPr/>
        </p:nvSpPr>
        <p:spPr>
          <a:xfrm>
            <a:off x="4160520" y="3749040"/>
            <a:ext cx="3749040" cy="1828800"/>
          </a:xfrm>
          <a:prstGeom prst="roundRect">
            <a:avLst>
              <a:gd name="adj" fmla="val 5000"/>
            </a:avLst>
          </a:prstGeom>
          <a:solidFill>
            <a:srgbClr val="141416"/>
          </a:solidFill>
          <a:ln/>
        </p:spPr>
      </p:sp>
      <p:sp>
        <p:nvSpPr>
          <p:cNvPr id="23" name="Shape 21"/>
          <p:cNvSpPr/>
          <p:nvPr/>
        </p:nvSpPr>
        <p:spPr>
          <a:xfrm>
            <a:off x="4160520" y="3749040"/>
            <a:ext cx="91440" cy="1828800"/>
          </a:xfrm>
          <a:prstGeom prst="rect">
            <a:avLst/>
          </a:prstGeom>
          <a:solidFill>
            <a:srgbClr val="2F6A4F"/>
          </a:solidFill>
          <a:ln/>
        </p:spPr>
      </p:sp>
      <p:sp>
        <p:nvSpPr>
          <p:cNvPr id="24" name="Text 22"/>
          <p:cNvSpPr/>
          <p:nvPr/>
        </p:nvSpPr>
        <p:spPr>
          <a:xfrm>
            <a:off x="4389120" y="3840480"/>
            <a:ext cx="3383280" cy="27432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25" name="Text 23"/>
          <p:cNvSpPr/>
          <p:nvPr/>
        </p:nvSpPr>
        <p:spPr>
          <a:xfrm>
            <a:off x="43891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42% expansion no longer depends on who is on shift. The exception ceiling is the same at 9 a.m. and at quarter-end. Pinnacle fails on price, not on who reviewed it.</a:t>
            </a:r>
            <a:endParaRPr lang="en-US" sz="1000" dirty="0"/>
          </a:p>
        </p:txBody>
      </p:sp>
      <p:sp>
        <p:nvSpPr>
          <p:cNvPr id="26" name="Shape 24"/>
          <p:cNvSpPr/>
          <p:nvPr/>
        </p:nvSpPr>
        <p:spPr>
          <a:xfrm>
            <a:off x="8046720" y="3749040"/>
            <a:ext cx="3749040" cy="1828800"/>
          </a:xfrm>
          <a:prstGeom prst="roundRect">
            <a:avLst>
              <a:gd name="adj" fmla="val 5000"/>
            </a:avLst>
          </a:prstGeom>
          <a:solidFill>
            <a:srgbClr val="141416"/>
          </a:solidFill>
          <a:ln/>
        </p:spPr>
      </p:sp>
      <p:sp>
        <p:nvSpPr>
          <p:cNvPr id="27" name="Shape 25"/>
          <p:cNvSpPr/>
          <p:nvPr/>
        </p:nvSpPr>
        <p:spPr>
          <a:xfrm>
            <a:off x="8046720" y="3749040"/>
            <a:ext cx="91440" cy="1828800"/>
          </a:xfrm>
          <a:prstGeom prst="rect">
            <a:avLst/>
          </a:prstGeom>
          <a:solidFill>
            <a:srgbClr val="00D4AA"/>
          </a:solidFill>
          <a:ln/>
        </p:spPr>
      </p:sp>
      <p:sp>
        <p:nvSpPr>
          <p:cNvPr id="28" name="Text 26"/>
          <p:cNvSpPr/>
          <p:nvPr/>
        </p:nvSpPr>
        <p:spPr>
          <a:xfrm>
            <a:off x="8275320" y="3840480"/>
            <a:ext cx="338328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AUDIT</a:t>
            </a:r>
            <a:endParaRPr lang="en-US" sz="1200" dirty="0"/>
          </a:p>
        </p:txBody>
      </p:sp>
      <p:sp>
        <p:nvSpPr>
          <p:cNvPr id="29" name="Text 27"/>
          <p:cNvSpPr/>
          <p:nvPr/>
        </p:nvSpPr>
        <p:spPr>
          <a:xfrm>
            <a:off x="82753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hop is a Langfuse trace: plan, two specialists, combine, guardrail. Finance can replay why a label was written, including the exact cuts that produced 88% or 50%.</a:t>
            </a:r>
            <a:endParaRPr lang="en-US" sz="1000" dirty="0"/>
          </a:p>
        </p:txBody>
      </p:sp>
      <p:sp>
        <p:nvSpPr>
          <p:cNvPr id="30" name="Shape 28"/>
          <p:cNvSpPr/>
          <p:nvPr/>
        </p:nvSpPr>
        <p:spPr>
          <a:xfrm>
            <a:off x="0" y="5715000"/>
            <a:ext cx="12188952" cy="1143000"/>
          </a:xfrm>
          <a:prstGeom prst="rect">
            <a:avLst/>
          </a:prstGeom>
          <a:solidFill>
            <a:srgbClr val="1A2530"/>
          </a:solidFill>
          <a:ln/>
        </p:spPr>
      </p:sp>
      <p:sp>
        <p:nvSpPr>
          <p:cNvPr id="31" name="Text 29"/>
          <p:cNvSpPr/>
          <p:nvPr/>
        </p:nvSpPr>
        <p:spPr>
          <a:xfrm>
            <a:off x="411480" y="5833872"/>
            <a:ext cx="10972800" cy="228600"/>
          </a:xfrm>
          <a:prstGeom prst="rect">
            <a:avLst/>
          </a:prstGeom>
          <a:noFill/>
          <a:ln/>
        </p:spPr>
        <p:txBody>
          <a:bodyPr wrap="square" rtlCol="0" anchor="ctr"/>
          <a:lstStyle/>
          <a:p>
            <a:pPr marL="0" indent="0">
              <a:buNone/>
            </a:pPr>
            <a:r>
              <a:rPr lang="en-US" sz="1000" b="1" dirty="0">
                <a:solidFill>
                  <a:srgbClr val="FF3D6E"/>
                </a:solidFill>
                <a:latin typeface="Calibri" pitchFamily="34" charset="0"/>
                <a:ea typeface="Calibri" pitchFamily="34" charset="-122"/>
                <a:cs typeface="Calibri" pitchFamily="34" charset="-120"/>
              </a:rPr>
              <a:t>WHAT IT DOES NOT DO</a:t>
            </a:r>
            <a:endParaRPr lang="en-US" sz="1000" dirty="0"/>
          </a:p>
        </p:txBody>
      </p:sp>
      <p:sp>
        <p:nvSpPr>
          <p:cNvPr id="32" name="Text 30"/>
          <p:cNvSpPr/>
          <p:nvPr/>
        </p:nvSpPr>
        <p:spPr>
          <a:xfrm>
            <a:off x="411480" y="6108192"/>
            <a:ext cx="11338560" cy="54864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Does not replace quoting, pricing, or e-sign. No judgment on complex strategic deals. No learning from overrides in the MVP. No legal redlining. Agents cannot send, sign, or convert. Escalate always names a person and an SLA.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STRATEGY ALIGNMENT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Fits a quote-to-cash company. Does not replace it.  ·  DealFlow Approval Agents</a:t>
            </a:r>
            <a:endParaRPr lang="en-US" sz="1200" dirty="0"/>
          </a:p>
        </p:txBody>
      </p:sp>
      <p:sp>
        <p:nvSpPr>
          <p:cNvPr id="5" name="Shape 3"/>
          <p:cNvSpPr/>
          <p:nvPr/>
        </p:nvSpPr>
        <p:spPr>
          <a:xfrm>
            <a:off x="274320" y="1143000"/>
            <a:ext cx="2834640" cy="3108960"/>
          </a:xfrm>
          <a:prstGeom prst="roundRect">
            <a:avLst>
              <a:gd name="adj" fmla="val 3226"/>
            </a:avLst>
          </a:prstGeom>
          <a:solidFill>
            <a:srgbClr val="141416"/>
          </a:solidFill>
          <a:ln/>
        </p:spPr>
      </p:sp>
      <p:sp>
        <p:nvSpPr>
          <p:cNvPr id="6" name="Shape 4"/>
          <p:cNvSpPr/>
          <p:nvPr/>
        </p:nvSpPr>
        <p:spPr>
          <a:xfrm>
            <a:off x="274320" y="1143000"/>
            <a:ext cx="91440" cy="3108960"/>
          </a:xfrm>
          <a:prstGeom prst="rect">
            <a:avLst/>
          </a:prstGeom>
          <a:solidFill>
            <a:srgbClr val="1D5C68"/>
          </a:solidFill>
          <a:ln/>
        </p:spPr>
      </p:sp>
      <p:sp>
        <p:nvSpPr>
          <p:cNvPr id="7" name="Text 5"/>
          <p:cNvSpPr/>
          <p:nvPr/>
        </p:nvSpPr>
        <p:spPr>
          <a:xfrm>
            <a:off x="457200" y="1280160"/>
            <a:ext cx="2514600" cy="50292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REVENUE QUALITY</a:t>
            </a:r>
            <a:endParaRPr lang="en-US" sz="1100" dirty="0"/>
          </a:p>
        </p:txBody>
      </p:sp>
      <p:sp>
        <p:nvSpPr>
          <p:cNvPr id="8" name="Text 6"/>
          <p:cNvSpPr/>
          <p:nvPr/>
        </p:nvSpPr>
        <p:spPr>
          <a:xfrm>
            <a:off x="4572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Stops discount leakage and quarter-end gaming without slowing a clean renewal. Northwind (17.8% inside 22% ceiling) clears. Pinnacle (past exception ceiling) fails on price, not on who was on shift. The ceiling is the same at 9 a.m. and at quarter-end.</a:t>
            </a:r>
            <a:endParaRPr lang="en-US" sz="1000" dirty="0"/>
          </a:p>
        </p:txBody>
      </p:sp>
      <p:sp>
        <p:nvSpPr>
          <p:cNvPr id="9" name="Shape 7"/>
          <p:cNvSpPr/>
          <p:nvPr/>
        </p:nvSpPr>
        <p:spPr>
          <a:xfrm>
            <a:off x="3246120" y="1143000"/>
            <a:ext cx="2834640" cy="3108960"/>
          </a:xfrm>
          <a:prstGeom prst="roundRect">
            <a:avLst>
              <a:gd name="adj" fmla="val 3226"/>
            </a:avLst>
          </a:prstGeom>
          <a:solidFill>
            <a:srgbClr val="141416"/>
          </a:solidFill>
          <a:ln/>
        </p:spPr>
      </p:sp>
      <p:sp>
        <p:nvSpPr>
          <p:cNvPr id="10" name="Shape 8"/>
          <p:cNvSpPr/>
          <p:nvPr/>
        </p:nvSpPr>
        <p:spPr>
          <a:xfrm>
            <a:off x="3246120" y="1143000"/>
            <a:ext cx="91440" cy="3108960"/>
          </a:xfrm>
          <a:prstGeom prst="rect">
            <a:avLst/>
          </a:prstGeom>
          <a:solidFill>
            <a:srgbClr val="2F6A4F"/>
          </a:solidFill>
          <a:ln/>
        </p:spPr>
      </p:sp>
      <p:sp>
        <p:nvSpPr>
          <p:cNvPr id="11" name="Text 9"/>
          <p:cNvSpPr/>
          <p:nvPr/>
        </p:nvSpPr>
        <p:spPr>
          <a:xfrm>
            <a:off x="3429000" y="1280160"/>
            <a:ext cx="2514600" cy="502920"/>
          </a:xfrm>
          <a:prstGeom prst="rect">
            <a:avLst/>
          </a:prstGeom>
          <a:noFill/>
          <a:ln/>
        </p:spPr>
        <p:txBody>
          <a:bodyPr wrap="square" rtlCol="0" anchor="ctr"/>
          <a:lstStyle/>
          <a:p>
            <a:pPr marL="0" indent="0">
              <a:buNone/>
            </a:pPr>
            <a:r>
              <a:rPr lang="en-US" sz="1100" b="1" dirty="0">
                <a:solidFill>
                  <a:srgbClr val="2F6A4F"/>
                </a:solidFill>
                <a:latin typeface="Calibri" pitchFamily="34" charset="0"/>
                <a:ea typeface="Calibri" pitchFamily="34" charset="-122"/>
                <a:cs typeface="Calibri" pitchFamily="34" charset="-120"/>
              </a:rPr>
              <a:t>OPERATIONAL EFFICIENCY</a:t>
            </a:r>
            <a:endParaRPr lang="en-US" sz="1100" dirty="0"/>
          </a:p>
        </p:txBody>
      </p:sp>
      <p:sp>
        <p:nvSpPr>
          <p:cNvPr id="12" name="Text 10"/>
          <p:cNvSpPr/>
          <p:nvPr/>
        </p:nvSpPr>
        <p:spPr>
          <a:xfrm>
            <a:off x="34290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Deal Desk spends time on the cases the matrix assigns, not on the 18% renewals. Auto-approvals never enter the human queue. Harbor lands with Finance and a 24-hour SLA. Alex Okonkwo sees only exceptions.</a:t>
            </a:r>
            <a:endParaRPr lang="en-US" sz="1000" dirty="0"/>
          </a:p>
        </p:txBody>
      </p:sp>
      <p:sp>
        <p:nvSpPr>
          <p:cNvPr id="13" name="Shape 11"/>
          <p:cNvSpPr/>
          <p:nvPr/>
        </p:nvSpPr>
        <p:spPr>
          <a:xfrm>
            <a:off x="6217920" y="1143000"/>
            <a:ext cx="2834640" cy="3108960"/>
          </a:xfrm>
          <a:prstGeom prst="roundRect">
            <a:avLst>
              <a:gd name="adj" fmla="val 3226"/>
            </a:avLst>
          </a:prstGeom>
          <a:solidFill>
            <a:srgbClr val="141416"/>
          </a:solidFill>
          <a:ln/>
        </p:spPr>
      </p:sp>
      <p:sp>
        <p:nvSpPr>
          <p:cNvPr id="14" name="Shape 12"/>
          <p:cNvSpPr/>
          <p:nvPr/>
        </p:nvSpPr>
        <p:spPr>
          <a:xfrm>
            <a:off x="6217920" y="1143000"/>
            <a:ext cx="91440" cy="3108960"/>
          </a:xfrm>
          <a:prstGeom prst="rect">
            <a:avLst/>
          </a:prstGeom>
          <a:solidFill>
            <a:srgbClr val="00D4AA"/>
          </a:solidFill>
          <a:ln/>
        </p:spPr>
      </p:sp>
      <p:sp>
        <p:nvSpPr>
          <p:cNvPr id="15" name="Text 13"/>
          <p:cNvSpPr/>
          <p:nvPr/>
        </p:nvSpPr>
        <p:spPr>
          <a:xfrm>
            <a:off x="6400800" y="1280160"/>
            <a:ext cx="2514600" cy="50292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RISK AND AUDIT</a:t>
            </a:r>
            <a:endParaRPr lang="en-US" sz="1100" dirty="0"/>
          </a:p>
        </p:txBody>
      </p:sp>
      <p:sp>
        <p:nvSpPr>
          <p:cNvPr id="16" name="Text 14"/>
          <p:cNvSpPr/>
          <p:nvPr/>
        </p:nvSpPr>
        <p:spPr>
          <a:xfrm>
            <a:off x="64008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visible. Langfuse traces every hop. Finance can replay why a score moved from 90 to 50 without asking who was on shift.</a:t>
            </a:r>
            <a:endParaRPr lang="en-US" sz="1000" dirty="0"/>
          </a:p>
        </p:txBody>
      </p:sp>
      <p:sp>
        <p:nvSpPr>
          <p:cNvPr id="17" name="Shape 15"/>
          <p:cNvSpPr/>
          <p:nvPr/>
        </p:nvSpPr>
        <p:spPr>
          <a:xfrm>
            <a:off x="9189720" y="1143000"/>
            <a:ext cx="2834640" cy="3108960"/>
          </a:xfrm>
          <a:prstGeom prst="roundRect">
            <a:avLst>
              <a:gd name="adj" fmla="val 3226"/>
            </a:avLst>
          </a:prstGeom>
          <a:solidFill>
            <a:srgbClr val="141416"/>
          </a:solidFill>
          <a:ln/>
        </p:spPr>
      </p:sp>
      <p:sp>
        <p:nvSpPr>
          <p:cNvPr id="18" name="Shape 16"/>
          <p:cNvSpPr/>
          <p:nvPr/>
        </p:nvSpPr>
        <p:spPr>
          <a:xfrm>
            <a:off x="9189720" y="1143000"/>
            <a:ext cx="91440" cy="3108960"/>
          </a:xfrm>
          <a:prstGeom prst="rect">
            <a:avLst/>
          </a:prstGeom>
          <a:solidFill>
            <a:srgbClr val="FF3D6E"/>
          </a:solidFill>
          <a:ln/>
        </p:spPr>
      </p:sp>
      <p:sp>
        <p:nvSpPr>
          <p:cNvPr id="19" name="Text 17"/>
          <p:cNvSpPr/>
          <p:nvPr/>
        </p:nvSpPr>
        <p:spPr>
          <a:xfrm>
            <a:off x="9372600" y="1280160"/>
            <a:ext cx="2514600" cy="50292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PLATFORM, NOT A RIP-OUT</a:t>
            </a:r>
            <a:endParaRPr lang="en-US" sz="1100" dirty="0"/>
          </a:p>
        </p:txBody>
      </p:sp>
      <p:sp>
        <p:nvSpPr>
          <p:cNvPr id="20" name="Text 18"/>
          <p:cNvSpPr/>
          <p:nvPr/>
        </p:nvSpPr>
        <p:spPr>
          <a:xfrm>
            <a:off x="93726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Integrates beside Salesforce CPQ, Revenue Cloud, DealHub, Conga, Zuora. Submit is the only inbound event. Write-back is one stage or a named assignment that resolves to SFDC:Finance or a DealHub group. The CPQ remains the system of record.</a:t>
            </a:r>
            <a:endParaRPr lang="en-US" sz="1000" dirty="0"/>
          </a:p>
        </p:txBody>
      </p:sp>
      <p:sp>
        <p:nvSpPr>
          <p:cNvPr id="21" name="Shape 19"/>
          <p:cNvSpPr/>
          <p:nvPr/>
        </p:nvSpPr>
        <p:spPr>
          <a:xfrm>
            <a:off x="274320" y="4434840"/>
            <a:ext cx="11640312" cy="2103120"/>
          </a:xfrm>
          <a:prstGeom prst="roundRect">
            <a:avLst>
              <a:gd name="adj" fmla="val 4348"/>
            </a:avLst>
          </a:prstGeom>
          <a:solidFill>
            <a:srgbClr val="1A2530"/>
          </a:solidFill>
          <a:ln/>
        </p:spPr>
      </p:sp>
      <p:sp>
        <p:nvSpPr>
          <p:cNvPr id="22" name="Text 20"/>
          <p:cNvSpPr/>
          <p:nvPr/>
        </p:nvSpPr>
        <p:spPr>
          <a:xfrm>
            <a:off x="457200" y="45720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STRATEGIC FIT</a:t>
            </a:r>
            <a:endParaRPr lang="en-US" sz="1200" dirty="0"/>
          </a:p>
        </p:txBody>
      </p:sp>
      <p:sp>
        <p:nvSpPr>
          <p:cNvPr id="23" name="Text 21"/>
          <p:cNvSpPr/>
          <p:nvPr/>
        </p:nvSpPr>
        <p:spPr>
          <a:xfrm>
            <a:off x="457200" y="4892040"/>
            <a:ext cx="11247120" cy="1417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DealFlow owns one hop. It does not own the quote. A B2B SaaS company keeps its existing CPQ and approval hierarchy. Business owner (Head of Sales Ops / VP RevOps) remains accountable. The agents read the live books, write one cited label, and either clear the quote or name a person with an SLA. Helio and Northstar already ship. Switching the live pack changes the next hop. It does not rewrite closed decisions.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0040" y="1188720"/>
            <a:ext cx="3749040" cy="2560320"/>
          </a:xfrm>
          <a:prstGeom prst="roundRect">
            <a:avLst>
              <a:gd name="adj" fmla="val 3571"/>
            </a:avLst>
          </a:prstGeom>
          <a:solidFill>
            <a:srgbClr val="141416"/>
          </a:solidFill>
          <a:ln/>
        </p:spPr>
      </p:sp>
      <p:sp>
        <p:nvSpPr>
          <p:cNvPr id="6" name="Shape 4"/>
          <p:cNvSpPr/>
          <p:nvPr/>
        </p:nvSpPr>
        <p:spPr>
          <a:xfrm>
            <a:off x="320040" y="1188720"/>
            <a:ext cx="109728" cy="25603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436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436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0520" y="1188720"/>
            <a:ext cx="3749040" cy="2560320"/>
          </a:xfrm>
          <a:prstGeom prst="roundRect">
            <a:avLst>
              <a:gd name="adj" fmla="val 3571"/>
            </a:avLst>
          </a:prstGeom>
          <a:solidFill>
            <a:srgbClr val="141416"/>
          </a:solidFill>
          <a:ln/>
        </p:spPr>
      </p:sp>
      <p:sp>
        <p:nvSpPr>
          <p:cNvPr id="11" name="Shape 9"/>
          <p:cNvSpPr/>
          <p:nvPr/>
        </p:nvSpPr>
        <p:spPr>
          <a:xfrm>
            <a:off x="4160520" y="1188720"/>
            <a:ext cx="109728" cy="2560320"/>
          </a:xfrm>
          <a:prstGeom prst="rect">
            <a:avLst/>
          </a:prstGeom>
          <a:solidFill>
            <a:srgbClr val="2F6A4F"/>
          </a:solidFill>
          <a:ln/>
        </p:spPr>
      </p:sp>
      <p:sp>
        <p:nvSpPr>
          <p:cNvPr id="12" name="Text 10"/>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484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484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1000" y="1188720"/>
            <a:ext cx="3749040" cy="2560320"/>
          </a:xfrm>
          <a:prstGeom prst="roundRect">
            <a:avLst>
              <a:gd name="adj" fmla="val 3571"/>
            </a:avLst>
          </a:prstGeom>
          <a:solidFill>
            <a:srgbClr val="141416"/>
          </a:solidFill>
          <a:ln/>
        </p:spPr>
      </p:sp>
      <p:sp>
        <p:nvSpPr>
          <p:cNvPr id="16" name="Shape 14"/>
          <p:cNvSpPr/>
          <p:nvPr/>
        </p:nvSpPr>
        <p:spPr>
          <a:xfrm>
            <a:off x="8001000" y="1188720"/>
            <a:ext cx="109728" cy="2560320"/>
          </a:xfrm>
          <a:prstGeom prst="rect">
            <a:avLst/>
          </a:prstGeom>
          <a:solidFill>
            <a:srgbClr val="00D4AA"/>
          </a:solidFill>
          <a:ln/>
        </p:spPr>
      </p:sp>
      <p:sp>
        <p:nvSpPr>
          <p:cNvPr id="17" name="Text 15"/>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532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532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0040" y="3931920"/>
            <a:ext cx="11548872" cy="2606040"/>
          </a:xfrm>
          <a:prstGeom prst="roundRect">
            <a:avLst>
              <a:gd name="adj" fmla="val 3509"/>
            </a:avLst>
          </a:prstGeom>
          <a:solidFill>
            <a:srgbClr val="1A2530"/>
          </a:solidFill>
          <a:ln/>
        </p:spPr>
      </p:sp>
      <p:sp>
        <p:nvSpPr>
          <p:cNvPr id="21" name="Text 19"/>
          <p:cNvSpPr/>
          <p:nvPr/>
        </p:nvSpPr>
        <p:spPr>
          <a:xfrm>
            <a:off x="502920" y="406908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2920" y="4434840"/>
            <a:ext cx="11155680" cy="192024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Python 3.10 · LangGraph StateGraph · Pydantic. Plan → discount and payment in parallel → combine → guardrail. Each specialist holds knowledge the others do not; none can be a tool call. Loop limits: max steps 3, max tool calls 4. Done when the label and the assignment are written. A note cannot talk to either specialist as an instruction.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4320" y="1188720"/>
            <a:ext cx="2834640" cy="1828800"/>
          </a:xfrm>
          <a:prstGeom prst="roundRect">
            <a:avLst>
              <a:gd name="adj" fmla="val 4000"/>
            </a:avLst>
          </a:prstGeom>
          <a:solidFill>
            <a:srgbClr val="141416"/>
          </a:solidFill>
          <a:ln/>
        </p:spPr>
      </p:sp>
      <p:sp>
        <p:nvSpPr>
          <p:cNvPr id="6" name="Text 4"/>
          <p:cNvSpPr/>
          <p:nvPr/>
        </p:nvSpPr>
        <p:spPr>
          <a:xfrm>
            <a:off x="4114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14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6120" y="1188720"/>
            <a:ext cx="2834640" cy="1828800"/>
          </a:xfrm>
          <a:prstGeom prst="roundRect">
            <a:avLst>
              <a:gd name="adj" fmla="val 4000"/>
            </a:avLst>
          </a:prstGeom>
          <a:solidFill>
            <a:srgbClr val="141416"/>
          </a:solidFill>
          <a:ln/>
        </p:spPr>
      </p:sp>
      <p:sp>
        <p:nvSpPr>
          <p:cNvPr id="10" name="Text 8"/>
          <p:cNvSpPr/>
          <p:nvPr/>
        </p:nvSpPr>
        <p:spPr>
          <a:xfrm>
            <a:off x="33832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38862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32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7920" y="1188720"/>
            <a:ext cx="2834640" cy="1828800"/>
          </a:xfrm>
          <a:prstGeom prst="roundRect">
            <a:avLst>
              <a:gd name="adj" fmla="val 4000"/>
            </a:avLst>
          </a:prstGeom>
          <a:solidFill>
            <a:srgbClr val="141416"/>
          </a:solidFill>
          <a:ln/>
        </p:spPr>
      </p:sp>
      <p:sp>
        <p:nvSpPr>
          <p:cNvPr id="14" name="Text 12"/>
          <p:cNvSpPr/>
          <p:nvPr/>
        </p:nvSpPr>
        <p:spPr>
          <a:xfrm>
            <a:off x="63550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68580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50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89720" y="1188720"/>
            <a:ext cx="2834640" cy="1828800"/>
          </a:xfrm>
          <a:prstGeom prst="roundRect">
            <a:avLst>
              <a:gd name="adj" fmla="val 4000"/>
            </a:avLst>
          </a:prstGeom>
          <a:solidFill>
            <a:srgbClr val="141416"/>
          </a:solidFill>
          <a:ln/>
        </p:spPr>
      </p:sp>
      <p:sp>
        <p:nvSpPr>
          <p:cNvPr id="18" name="Text 16"/>
          <p:cNvSpPr/>
          <p:nvPr/>
        </p:nvSpPr>
        <p:spPr>
          <a:xfrm>
            <a:off x="93268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8298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68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4320" y="3200400"/>
            <a:ext cx="2834640" cy="1828800"/>
          </a:xfrm>
          <a:prstGeom prst="roundRect">
            <a:avLst>
              <a:gd name="adj" fmla="val 4000"/>
            </a:avLst>
          </a:prstGeom>
          <a:solidFill>
            <a:srgbClr val="141416"/>
          </a:solidFill>
          <a:ln/>
        </p:spPr>
      </p:sp>
      <p:sp>
        <p:nvSpPr>
          <p:cNvPr id="22" name="Text 20"/>
          <p:cNvSpPr/>
          <p:nvPr/>
        </p:nvSpPr>
        <p:spPr>
          <a:xfrm>
            <a:off x="4114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14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6120" y="3200400"/>
            <a:ext cx="2834640" cy="1828800"/>
          </a:xfrm>
          <a:prstGeom prst="roundRect">
            <a:avLst>
              <a:gd name="adj" fmla="val 4000"/>
            </a:avLst>
          </a:prstGeom>
          <a:solidFill>
            <a:srgbClr val="141416"/>
          </a:solidFill>
          <a:ln/>
        </p:spPr>
      </p:sp>
      <p:sp>
        <p:nvSpPr>
          <p:cNvPr id="26" name="Text 24"/>
          <p:cNvSpPr/>
          <p:nvPr/>
        </p:nvSpPr>
        <p:spPr>
          <a:xfrm>
            <a:off x="33832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38862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32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7920" y="3200400"/>
            <a:ext cx="2834640" cy="1828800"/>
          </a:xfrm>
          <a:prstGeom prst="roundRect">
            <a:avLst>
              <a:gd name="adj" fmla="val 4000"/>
            </a:avLst>
          </a:prstGeom>
          <a:solidFill>
            <a:srgbClr val="141416"/>
          </a:solidFill>
          <a:ln/>
        </p:spPr>
      </p:sp>
      <p:sp>
        <p:nvSpPr>
          <p:cNvPr id="30" name="Text 28"/>
          <p:cNvSpPr/>
          <p:nvPr/>
        </p:nvSpPr>
        <p:spPr>
          <a:xfrm>
            <a:off x="63550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7</a:t>
            </a:r>
            <a:endParaRPr lang="en-US" sz="1800" dirty="0"/>
          </a:p>
        </p:txBody>
      </p:sp>
      <p:sp>
        <p:nvSpPr>
          <p:cNvPr id="31" name="Text 29"/>
          <p:cNvSpPr/>
          <p:nvPr/>
        </p:nvSpPr>
        <p:spPr>
          <a:xfrm>
            <a:off x="68580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50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4320" y="5303520"/>
            <a:ext cx="11640312" cy="1280160"/>
          </a:xfrm>
          <a:prstGeom prst="roundRect">
            <a:avLst>
              <a:gd name="adj" fmla="val 5714"/>
            </a:avLst>
          </a:prstGeom>
          <a:solidFill>
            <a:srgbClr val="1A2530"/>
          </a:solidFill>
          <a:ln/>
        </p:spPr>
      </p:sp>
      <p:sp>
        <p:nvSpPr>
          <p:cNvPr id="34" name="Text 32"/>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7200" y="5715000"/>
            <a:ext cx="11247120" cy="7315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16%, assigned VP Sales + VP Finance, 24h. The note is evidence, not an instruction. Harbor (discount approves at 88%, payment escalates at 32%) → stricter label wins, assigned Finance, 24h.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approves at 88% (14% is inside the mid-market ceiling). Payment agent escalates at 32% because terms move to Net-90 and $18,400 is past due. Stricter label wins. Orchestrator assigns Finance, 24h. The person can approve, reject, or return. They do not sign.</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16%. Assigned to VP Sales + VP Finance, 24h. The note does not win.</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WORKFLOW SIMULATION &amp; VALIDATION</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golden set  ·  DealFlow Approval Agents</a:t>
            </a:r>
            <a:endParaRPr lang="en-US" sz="1200" dirty="0"/>
          </a:p>
        </p:txBody>
      </p:sp>
      <p:sp>
        <p:nvSpPr>
          <p:cNvPr id="5" name="Shape 3"/>
          <p:cNvSpPr/>
          <p:nvPr/>
        </p:nvSpPr>
        <p:spPr>
          <a:xfrm>
            <a:off x="228600" y="1143000"/>
            <a:ext cx="2880360" cy="4206240"/>
          </a:xfrm>
          <a:prstGeom prst="roundRect">
            <a:avLst>
              <a:gd name="adj" fmla="val 3175"/>
            </a:avLst>
          </a:prstGeom>
          <a:solidFill>
            <a:srgbClr val="141416"/>
          </a:solidFill>
          <a:ln/>
        </p:spPr>
      </p:sp>
      <p:sp>
        <p:nvSpPr>
          <p:cNvPr id="6" name="Shape 4"/>
          <p:cNvSpPr/>
          <p:nvPr/>
        </p:nvSpPr>
        <p:spPr>
          <a:xfrm>
            <a:off x="228600" y="1143000"/>
            <a:ext cx="109728" cy="4206240"/>
          </a:xfrm>
          <a:prstGeom prst="rect">
            <a:avLst/>
          </a:prstGeom>
          <a:solidFill>
            <a:srgbClr val="00D4AA"/>
          </a:solidFill>
          <a:ln/>
        </p:spPr>
      </p:sp>
      <p:sp>
        <p:nvSpPr>
          <p:cNvPr id="7" name="Text 5"/>
          <p:cNvSpPr/>
          <p:nvPr/>
        </p:nvSpPr>
        <p:spPr>
          <a:xfrm>
            <a:off x="457200" y="1280160"/>
            <a:ext cx="251460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APPROVE</a:t>
            </a:r>
            <a:endParaRPr lang="en-US" sz="1400" dirty="0"/>
          </a:p>
        </p:txBody>
      </p:sp>
      <p:sp>
        <p:nvSpPr>
          <p:cNvPr id="8" name="Text 6"/>
          <p:cNvSpPr/>
          <p:nvPr/>
        </p:nvSpPr>
        <p:spPr>
          <a:xfrm>
            <a:off x="45720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Northwind · Renewal</a:t>
            </a:r>
            <a:endParaRPr lang="en-US" sz="1100" dirty="0"/>
          </a:p>
        </p:txBody>
      </p:sp>
      <p:sp>
        <p:nvSpPr>
          <p:cNvPr id="9" name="Text 7"/>
          <p:cNvSpPr/>
          <p:nvPr/>
        </p:nvSpPr>
        <p:spPr>
          <a:xfrm>
            <a:off x="45720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10" name="Shape 8"/>
          <p:cNvSpPr/>
          <p:nvPr/>
        </p:nvSpPr>
        <p:spPr>
          <a:xfrm>
            <a:off x="3246120" y="1143000"/>
            <a:ext cx="2880360" cy="4206240"/>
          </a:xfrm>
          <a:prstGeom prst="roundRect">
            <a:avLst>
              <a:gd name="adj" fmla="val 3175"/>
            </a:avLst>
          </a:prstGeom>
          <a:solidFill>
            <a:srgbClr val="141416"/>
          </a:solidFill>
          <a:ln/>
        </p:spPr>
      </p:sp>
      <p:sp>
        <p:nvSpPr>
          <p:cNvPr id="11" name="Shape 9"/>
          <p:cNvSpPr/>
          <p:nvPr/>
        </p:nvSpPr>
        <p:spPr>
          <a:xfrm>
            <a:off x="3246120" y="1143000"/>
            <a:ext cx="109728" cy="4206240"/>
          </a:xfrm>
          <a:prstGeom prst="rect">
            <a:avLst/>
          </a:prstGeom>
          <a:solidFill>
            <a:srgbClr val="FF3D6E"/>
          </a:solidFill>
          <a:ln/>
        </p:spPr>
      </p:sp>
      <p:sp>
        <p:nvSpPr>
          <p:cNvPr id="12" name="Text 10"/>
          <p:cNvSpPr/>
          <p:nvPr/>
        </p:nvSpPr>
        <p:spPr>
          <a:xfrm>
            <a:off x="3474720" y="1280160"/>
            <a:ext cx="2514600" cy="32004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ESCALATE</a:t>
            </a:r>
            <a:endParaRPr lang="en-US" sz="1400" dirty="0"/>
          </a:p>
        </p:txBody>
      </p:sp>
      <p:sp>
        <p:nvSpPr>
          <p:cNvPr id="13" name="Text 11"/>
          <p:cNvSpPr/>
          <p:nvPr/>
        </p:nvSpPr>
        <p:spPr>
          <a:xfrm>
            <a:off x="347472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Harbor &amp; Co. · Renewal</a:t>
            </a:r>
            <a:endParaRPr lang="en-US" sz="1100" dirty="0"/>
          </a:p>
        </p:txBody>
      </p:sp>
      <p:sp>
        <p:nvSpPr>
          <p:cNvPr id="14" name="Text 12"/>
          <p:cNvSpPr/>
          <p:nvPr/>
        </p:nvSpPr>
        <p:spPr>
          <a:xfrm>
            <a:off x="347472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5" name="Shape 13"/>
          <p:cNvSpPr/>
          <p:nvPr/>
        </p:nvSpPr>
        <p:spPr>
          <a:xfrm>
            <a:off x="6263640" y="1143000"/>
            <a:ext cx="2880360" cy="4206240"/>
          </a:xfrm>
          <a:prstGeom prst="roundRect">
            <a:avLst>
              <a:gd name="adj" fmla="val 3175"/>
            </a:avLst>
          </a:prstGeom>
          <a:solidFill>
            <a:srgbClr val="141416"/>
          </a:solidFill>
          <a:ln/>
        </p:spPr>
      </p:sp>
      <p:sp>
        <p:nvSpPr>
          <p:cNvPr id="16" name="Shape 14"/>
          <p:cNvSpPr/>
          <p:nvPr/>
        </p:nvSpPr>
        <p:spPr>
          <a:xfrm>
            <a:off x="6263640" y="1143000"/>
            <a:ext cx="109728" cy="4206240"/>
          </a:xfrm>
          <a:prstGeom prst="rect">
            <a:avLst/>
          </a:prstGeom>
          <a:solidFill>
            <a:srgbClr val="1D5C68"/>
          </a:solidFill>
          <a:ln/>
        </p:spPr>
      </p:sp>
      <p:sp>
        <p:nvSpPr>
          <p:cNvPr id="17" name="Text 15"/>
          <p:cNvSpPr/>
          <p:nvPr/>
        </p:nvSpPr>
        <p:spPr>
          <a:xfrm>
            <a:off x="6492240" y="1280160"/>
            <a:ext cx="251460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REJECT</a:t>
            </a:r>
            <a:endParaRPr lang="en-US" sz="1400" dirty="0"/>
          </a:p>
        </p:txBody>
      </p:sp>
      <p:sp>
        <p:nvSpPr>
          <p:cNvPr id="18" name="Text 16"/>
          <p:cNvSpPr/>
          <p:nvPr/>
        </p:nvSpPr>
        <p:spPr>
          <a:xfrm>
            <a:off x="649224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Pinnacle Health · Expansion</a:t>
            </a:r>
            <a:endParaRPr lang="en-US" sz="1100" dirty="0"/>
          </a:p>
        </p:txBody>
      </p:sp>
      <p:sp>
        <p:nvSpPr>
          <p:cNvPr id="19" name="Text 17"/>
          <p:cNvSpPr/>
          <p:nvPr/>
        </p:nvSpPr>
        <p:spPr>
          <a:xfrm>
            <a:off x="649224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20" name="Shape 18"/>
          <p:cNvSpPr/>
          <p:nvPr/>
        </p:nvSpPr>
        <p:spPr>
          <a:xfrm>
            <a:off x="9281160" y="1143000"/>
            <a:ext cx="2880360" cy="4206240"/>
          </a:xfrm>
          <a:prstGeom prst="roundRect">
            <a:avLst>
              <a:gd name="adj" fmla="val 3175"/>
            </a:avLst>
          </a:prstGeom>
          <a:solidFill>
            <a:srgbClr val="141416"/>
          </a:solidFill>
          <a:ln/>
        </p:spPr>
      </p:sp>
      <p:sp>
        <p:nvSpPr>
          <p:cNvPr id="21" name="Shape 19"/>
          <p:cNvSpPr/>
          <p:nvPr/>
        </p:nvSpPr>
        <p:spPr>
          <a:xfrm>
            <a:off x="9281160" y="1143000"/>
            <a:ext cx="109728" cy="4206240"/>
          </a:xfrm>
          <a:prstGeom prst="rect">
            <a:avLst/>
          </a:prstGeom>
          <a:solidFill>
            <a:srgbClr val="2F6A4F"/>
          </a:solidFill>
          <a:ln/>
        </p:spPr>
      </p:sp>
      <p:sp>
        <p:nvSpPr>
          <p:cNvPr id="22" name="Text 20"/>
          <p:cNvSpPr/>
          <p:nvPr/>
        </p:nvSpPr>
        <p:spPr>
          <a:xfrm>
            <a:off x="9509760" y="1280160"/>
            <a:ext cx="251460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950976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Kite &amp; Harbor · New</a:t>
            </a:r>
            <a:endParaRPr lang="en-US" sz="1100" dirty="0"/>
          </a:p>
        </p:txBody>
      </p:sp>
      <p:sp>
        <p:nvSpPr>
          <p:cNvPr id="24" name="Text 22"/>
          <p:cNvSpPr/>
          <p:nvPr/>
        </p:nvSpPr>
        <p:spPr>
          <a:xfrm>
            <a:off x="950976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5" name="Shape 23"/>
          <p:cNvSpPr/>
          <p:nvPr/>
        </p:nvSpPr>
        <p:spPr>
          <a:xfrm>
            <a:off x="228600" y="5532120"/>
            <a:ext cx="11731752" cy="1051560"/>
          </a:xfrm>
          <a:prstGeom prst="roundRect">
            <a:avLst>
              <a:gd name="adj" fmla="val 6957"/>
            </a:avLst>
          </a:prstGeom>
          <a:solidFill>
            <a:srgbClr val="1A2530"/>
          </a:solidFill>
          <a:ln/>
        </p:spPr>
      </p:sp>
      <p:sp>
        <p:nvSpPr>
          <p:cNvPr id="26" name="Text 24"/>
          <p:cNvSpPr/>
          <p:nvPr/>
        </p:nvSpPr>
        <p:spPr>
          <a:xfrm>
            <a:off x="411480" y="5715000"/>
            <a:ext cx="11338560" cy="6858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All four are in the live golden set. Expected label and engine label match. RevOps owns the set. Currently 9 of 9.</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WE VALIDATE THE HOP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Golden set, harness, LLM-as-judge, and Langfuse scores  ·  DealFlow</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36576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GOLDEN SET</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9 of 9 currently match Helio’s live book. Includes clean approve, hard reject, term escalate, quarter-end flag, multi-year prepay threshold, and note-attack reject.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36576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EVAL HARNESS</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Quality bar: ≥85% exact label match on the golden set. ≥70% of policy-compliant quotes auto-approved. 0 false auto-approves on a specialist Reject. 100% of decisions cite a rule. ≥95% of Escalate and Reject land with the matrix-correct role. A miss becomes a new golden row.</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36576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LLM-AS-JUDGE + LANGFUSE</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Every live submit is a Langfuse trace named dealflow.approval. Scores on the trace: label_match and note_ignored. An approval that followed the notes scores zero on note_ignored.</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VALIDATION PROVES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Latency target is p95 under 15 seconds. The golden set is the release gate. Switching a policy pack changes the next hop. It does not rewrite closed decisions.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DEPLOYMENT, GOVERNANCE &amp; SCALING</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DEPLOYMENT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Python service beside the CPQ, not inside it. Submit is the only inbound event. The hop reads the quote, loads the books, writes the decision, and resolves the approver. Latency target is p95 under 15 seconds. Write-back is one stage or a named assignment that resolves to a Salesforce queue or a DealHub group.</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GOVERNANCE</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live submit is a Langfuse generation named approval-agents and a trace named dealflow.approval. Spans: two specialists, orchestrator, output guardrail. Scores: label_match and note_ignored. Judge and policy-extract are separate generations. Keys stay server-side.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CPQ remains the system of record. DealFlow owns only the hop. Salesforce CPQ, Revenue Cloud, DealHub, Conga, and Zuora stay the system of record.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SCALING AND HUMAN-IN-THE-LOOP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HITL MATRIX</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Mild exception → Deal Desk Manager, 24h. Material discount or payment-term change → RevOps or Finance, 24h. High discount + poor terms / large deal → VP Sales + Finance. Quarter-end gaming signal → Deal Desk Lead, 12h. Clear policy violation → appropriate executive tier. Assignment resolves to SFDC:Finance or a DealHub group.</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PER-CUSTOMER PACKS</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Helio and Northstar already ship. Switching the live pack changes what the next hop reads. It does not rewrite closed decisions. Threshold default is 75%. Prepay credit default is 5 points. Respect-reject default is on. A second customer gets a second policy pack without touching the first.</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SCALING PATH</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Pilot: one company, two books, three agents. Helio Quote is that pilot. Golden set is the release gate. Pack: second customer, second policy pack. More agents: a legal-terms or usage-commit agent joins the same graph. The orchestrator still writes one label. Misses become new golden rows.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ETHICAL AND OPERATIONAL BOUNDARIES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Bias in the book is a business choice, visible and versioned, owned by RevOps. Agents cite it; they do not invent it. Over-autonomy is blocked: the crew cannot send, sign, or convert. Prompt injection is blocked: a note that says “ignore the discount book” is detected and cannot produce Approve. Drift is caught by Langfuse plus the golden harness. A policy version change is a human confirm, not a silent extract.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HUMAN-IN-THE-LOOP ASSIGNMENT MATRIX</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Named person, SLA, and reason — not a shared pile  ·  DealFlow</a:t>
            </a:r>
            <a:endParaRPr lang="en-US" sz="1200" dirty="0"/>
          </a:p>
        </p:txBody>
      </p:sp>
      <p:sp>
        <p:nvSpPr>
          <p:cNvPr id="5" name="Shape 3"/>
          <p:cNvSpPr/>
          <p:nvPr/>
        </p:nvSpPr>
        <p:spPr>
          <a:xfrm>
            <a:off x="365760" y="1188720"/>
            <a:ext cx="11430000" cy="457200"/>
          </a:xfrm>
          <a:prstGeom prst="rect">
            <a:avLst/>
          </a:prstGeom>
          <a:solidFill>
            <a:srgbClr val="1D5C68"/>
          </a:solidFill>
          <a:ln/>
        </p:spPr>
      </p:sp>
      <p:sp>
        <p:nvSpPr>
          <p:cNvPr id="6" name="Text 4"/>
          <p:cNvSpPr/>
          <p:nvPr/>
        </p:nvSpPr>
        <p:spPr>
          <a:xfrm>
            <a:off x="457200" y="1280160"/>
            <a:ext cx="320040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Trigger</a:t>
            </a:r>
            <a:endParaRPr lang="en-US" sz="1200" dirty="0"/>
          </a:p>
        </p:txBody>
      </p:sp>
      <p:sp>
        <p:nvSpPr>
          <p:cNvPr id="7" name="Text 5"/>
          <p:cNvSpPr/>
          <p:nvPr/>
        </p:nvSpPr>
        <p:spPr>
          <a:xfrm>
            <a:off x="3840480" y="1280160"/>
            <a:ext cx="32918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Assigned to</a:t>
            </a:r>
            <a:endParaRPr lang="en-US" sz="1200" dirty="0"/>
          </a:p>
        </p:txBody>
      </p:sp>
      <p:sp>
        <p:nvSpPr>
          <p:cNvPr id="8" name="Text 6"/>
          <p:cNvSpPr/>
          <p:nvPr/>
        </p:nvSpPr>
        <p:spPr>
          <a:xfrm>
            <a:off x="7315200" y="1280160"/>
            <a:ext cx="128016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SLA</a:t>
            </a:r>
            <a:endParaRPr lang="en-US" sz="1200" dirty="0"/>
          </a:p>
        </p:txBody>
      </p:sp>
      <p:sp>
        <p:nvSpPr>
          <p:cNvPr id="9" name="Text 7"/>
          <p:cNvSpPr/>
          <p:nvPr/>
        </p:nvSpPr>
        <p:spPr>
          <a:xfrm>
            <a:off x="8778240" y="1280160"/>
            <a:ext cx="28346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Example</a:t>
            </a:r>
            <a:endParaRPr lang="en-US" sz="1200" dirty="0"/>
          </a:p>
        </p:txBody>
      </p:sp>
      <p:sp>
        <p:nvSpPr>
          <p:cNvPr id="10" name="Shape 8"/>
          <p:cNvSpPr/>
          <p:nvPr/>
        </p:nvSpPr>
        <p:spPr>
          <a:xfrm>
            <a:off x="365760" y="1737360"/>
            <a:ext cx="11430000" cy="731520"/>
          </a:xfrm>
          <a:prstGeom prst="rect">
            <a:avLst/>
          </a:prstGeom>
          <a:solidFill>
            <a:srgbClr val="141416"/>
          </a:solidFill>
          <a:ln/>
        </p:spPr>
      </p:sp>
      <p:sp>
        <p:nvSpPr>
          <p:cNvPr id="11" name="Text 9"/>
          <p:cNvSpPr/>
          <p:nvPr/>
        </p:nvSpPr>
        <p:spPr>
          <a:xfrm>
            <a:off x="457200" y="192024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discount or term exception</a:t>
            </a:r>
            <a:endParaRPr lang="en-US" sz="1100" dirty="0"/>
          </a:p>
        </p:txBody>
      </p:sp>
      <p:sp>
        <p:nvSpPr>
          <p:cNvPr id="12" name="Text 10"/>
          <p:cNvSpPr/>
          <p:nvPr/>
        </p:nvSpPr>
        <p:spPr>
          <a:xfrm>
            <a:off x="3840480" y="192024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Manager</a:t>
            </a:r>
            <a:endParaRPr lang="en-US" sz="1100" dirty="0"/>
          </a:p>
        </p:txBody>
      </p:sp>
      <p:sp>
        <p:nvSpPr>
          <p:cNvPr id="13" name="Text 11"/>
          <p:cNvSpPr/>
          <p:nvPr/>
        </p:nvSpPr>
        <p:spPr>
          <a:xfrm>
            <a:off x="7315200" y="192024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4" name="Text 12"/>
          <p:cNvSpPr/>
          <p:nvPr/>
        </p:nvSpPr>
        <p:spPr>
          <a:xfrm>
            <a:off x="8778240" y="192024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Net-45 acceptable term</a:t>
            </a:r>
            <a:endParaRPr lang="en-US" sz="1100" dirty="0"/>
          </a:p>
        </p:txBody>
      </p:sp>
      <p:sp>
        <p:nvSpPr>
          <p:cNvPr id="15" name="Shape 13"/>
          <p:cNvSpPr/>
          <p:nvPr/>
        </p:nvSpPr>
        <p:spPr>
          <a:xfrm>
            <a:off x="365760" y="2514600"/>
            <a:ext cx="11430000" cy="731520"/>
          </a:xfrm>
          <a:prstGeom prst="rect">
            <a:avLst/>
          </a:prstGeom>
          <a:solidFill>
            <a:srgbClr val="1A2530"/>
          </a:solidFill>
          <a:ln/>
        </p:spPr>
      </p:sp>
      <p:sp>
        <p:nvSpPr>
          <p:cNvPr id="16" name="Text 14"/>
          <p:cNvSpPr/>
          <p:nvPr/>
        </p:nvSpPr>
        <p:spPr>
          <a:xfrm>
            <a:off x="457200" y="269748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Material discount or payment-term change</a:t>
            </a:r>
            <a:endParaRPr lang="en-US" sz="1100" dirty="0"/>
          </a:p>
        </p:txBody>
      </p:sp>
      <p:sp>
        <p:nvSpPr>
          <p:cNvPr id="17" name="Text 15"/>
          <p:cNvSpPr/>
          <p:nvPr/>
        </p:nvSpPr>
        <p:spPr>
          <a:xfrm>
            <a:off x="3840480" y="269748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RevOps Manager or Finance</a:t>
            </a:r>
            <a:endParaRPr lang="en-US" sz="1100" dirty="0"/>
          </a:p>
        </p:txBody>
      </p:sp>
      <p:sp>
        <p:nvSpPr>
          <p:cNvPr id="18" name="Text 16"/>
          <p:cNvSpPr/>
          <p:nvPr/>
        </p:nvSpPr>
        <p:spPr>
          <a:xfrm>
            <a:off x="7315200" y="269748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9" name="Text 17"/>
          <p:cNvSpPr/>
          <p:nvPr/>
        </p:nvSpPr>
        <p:spPr>
          <a:xfrm>
            <a:off x="8778240" y="269748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Marlow Transit Net-60</a:t>
            </a:r>
            <a:endParaRPr lang="en-US" sz="1100" dirty="0"/>
          </a:p>
        </p:txBody>
      </p:sp>
      <p:sp>
        <p:nvSpPr>
          <p:cNvPr id="20" name="Shape 18"/>
          <p:cNvSpPr/>
          <p:nvPr/>
        </p:nvSpPr>
        <p:spPr>
          <a:xfrm>
            <a:off x="365760" y="3291840"/>
            <a:ext cx="11430000" cy="731520"/>
          </a:xfrm>
          <a:prstGeom prst="rect">
            <a:avLst/>
          </a:prstGeom>
          <a:solidFill>
            <a:srgbClr val="141416"/>
          </a:solidFill>
          <a:ln/>
        </p:spPr>
      </p:sp>
      <p:sp>
        <p:nvSpPr>
          <p:cNvPr id="21" name="Text 19"/>
          <p:cNvSpPr/>
          <p:nvPr/>
        </p:nvSpPr>
        <p:spPr>
          <a:xfrm>
            <a:off x="457200" y="347472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High discount + poor terms / large deal</a:t>
            </a:r>
            <a:endParaRPr lang="en-US" sz="1100" dirty="0"/>
          </a:p>
        </p:txBody>
      </p:sp>
      <p:sp>
        <p:nvSpPr>
          <p:cNvPr id="22" name="Text 20"/>
          <p:cNvSpPr/>
          <p:nvPr/>
        </p:nvSpPr>
        <p:spPr>
          <a:xfrm>
            <a:off x="3840480" y="347472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 Finance</a:t>
            </a:r>
            <a:endParaRPr lang="en-US" sz="1100" dirty="0"/>
          </a:p>
        </p:txBody>
      </p:sp>
      <p:sp>
        <p:nvSpPr>
          <p:cNvPr id="23" name="Text 21"/>
          <p:cNvSpPr/>
          <p:nvPr/>
        </p:nvSpPr>
        <p:spPr>
          <a:xfrm>
            <a:off x="7315200" y="347472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24" name="Text 22"/>
          <p:cNvSpPr/>
          <p:nvPr/>
        </p:nvSpPr>
        <p:spPr>
          <a:xfrm>
            <a:off x="8778240" y="347472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Vanta, both books fail</a:t>
            </a:r>
            <a:endParaRPr lang="en-US" sz="1100" dirty="0"/>
          </a:p>
        </p:txBody>
      </p:sp>
      <p:sp>
        <p:nvSpPr>
          <p:cNvPr id="25" name="Shape 23"/>
          <p:cNvSpPr/>
          <p:nvPr/>
        </p:nvSpPr>
        <p:spPr>
          <a:xfrm>
            <a:off x="365760" y="4069080"/>
            <a:ext cx="11430000" cy="731520"/>
          </a:xfrm>
          <a:prstGeom prst="rect">
            <a:avLst/>
          </a:prstGeom>
          <a:solidFill>
            <a:srgbClr val="1A2530"/>
          </a:solidFill>
          <a:ln/>
        </p:spPr>
      </p:sp>
      <p:sp>
        <p:nvSpPr>
          <p:cNvPr id="26" name="Text 24"/>
          <p:cNvSpPr/>
          <p:nvPr/>
        </p:nvSpPr>
        <p:spPr>
          <a:xfrm>
            <a:off x="457200" y="425196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Quarter-end gaming signal</a:t>
            </a:r>
            <a:endParaRPr lang="en-US" sz="1100" dirty="0"/>
          </a:p>
        </p:txBody>
      </p:sp>
      <p:sp>
        <p:nvSpPr>
          <p:cNvPr id="27" name="Text 25"/>
          <p:cNvSpPr/>
          <p:nvPr/>
        </p:nvSpPr>
        <p:spPr>
          <a:xfrm>
            <a:off x="3840480" y="425196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Lead</a:t>
            </a:r>
            <a:endParaRPr lang="en-US" sz="1100" dirty="0"/>
          </a:p>
        </p:txBody>
      </p:sp>
      <p:sp>
        <p:nvSpPr>
          <p:cNvPr id="28" name="Text 26"/>
          <p:cNvSpPr/>
          <p:nvPr/>
        </p:nvSpPr>
        <p:spPr>
          <a:xfrm>
            <a:off x="7315200" y="425196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12 h</a:t>
            </a:r>
            <a:endParaRPr lang="en-US" sz="1100" dirty="0"/>
          </a:p>
        </p:txBody>
      </p:sp>
      <p:sp>
        <p:nvSpPr>
          <p:cNvPr id="29" name="Text 27"/>
          <p:cNvSpPr/>
          <p:nvPr/>
        </p:nvSpPr>
        <p:spPr>
          <a:xfrm>
            <a:off x="8778240" y="425196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Pure flag, not Vanta</a:t>
            </a:r>
            <a:endParaRPr lang="en-US" sz="1100" dirty="0"/>
          </a:p>
        </p:txBody>
      </p:sp>
      <p:sp>
        <p:nvSpPr>
          <p:cNvPr id="30" name="Shape 28"/>
          <p:cNvSpPr/>
          <p:nvPr/>
        </p:nvSpPr>
        <p:spPr>
          <a:xfrm>
            <a:off x="365760" y="4846320"/>
            <a:ext cx="11430000" cy="731520"/>
          </a:xfrm>
          <a:prstGeom prst="rect">
            <a:avLst/>
          </a:prstGeom>
          <a:solidFill>
            <a:srgbClr val="141416"/>
          </a:solidFill>
          <a:ln/>
        </p:spPr>
      </p:sp>
      <p:sp>
        <p:nvSpPr>
          <p:cNvPr id="31" name="Text 29"/>
          <p:cNvSpPr/>
          <p:nvPr/>
        </p:nvSpPr>
        <p:spPr>
          <a:xfrm>
            <a:off x="457200" y="502920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Clear policy violation</a:t>
            </a:r>
            <a:endParaRPr lang="en-US" sz="1100" dirty="0"/>
          </a:p>
        </p:txBody>
      </p:sp>
      <p:sp>
        <p:nvSpPr>
          <p:cNvPr id="32" name="Text 30"/>
          <p:cNvSpPr/>
          <p:nvPr/>
        </p:nvSpPr>
        <p:spPr>
          <a:xfrm>
            <a:off x="3840480" y="502920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or VP Finance</a:t>
            </a:r>
            <a:endParaRPr lang="en-US" sz="1100" dirty="0"/>
          </a:p>
        </p:txBody>
      </p:sp>
      <p:sp>
        <p:nvSpPr>
          <p:cNvPr id="33" name="Text 31"/>
          <p:cNvSpPr/>
          <p:nvPr/>
        </p:nvSpPr>
        <p:spPr>
          <a:xfrm>
            <a:off x="7315200" y="502920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34" name="Text 32"/>
          <p:cNvSpPr/>
          <p:nvPr/>
        </p:nvSpPr>
        <p:spPr>
          <a:xfrm>
            <a:off x="8778240" y="502920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Pinnacle → VP Sales</a:t>
            </a:r>
            <a:endParaRPr lang="en-US" sz="1100" dirty="0"/>
          </a:p>
        </p:txBody>
      </p:sp>
      <p:sp>
        <p:nvSpPr>
          <p:cNvPr id="35" name="Shape 33"/>
          <p:cNvSpPr/>
          <p:nvPr/>
        </p:nvSpPr>
        <p:spPr>
          <a:xfrm>
            <a:off x="365760" y="5715000"/>
            <a:ext cx="11430000" cy="868680"/>
          </a:xfrm>
          <a:prstGeom prst="roundRect">
            <a:avLst>
              <a:gd name="adj" fmla="val 8421"/>
            </a:avLst>
          </a:prstGeom>
          <a:solidFill>
            <a:srgbClr val="1A2530"/>
          </a:solidFill>
          <a:ln/>
        </p:spPr>
      </p:sp>
      <p:sp>
        <p:nvSpPr>
          <p:cNvPr id="36" name="Text 34"/>
          <p:cNvSpPr/>
          <p:nvPr/>
        </p:nvSpPr>
        <p:spPr>
          <a:xfrm>
            <a:off x="502920" y="5897880"/>
            <a:ext cx="11155680" cy="5029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 production the assignment resolves to a real Salesforce queue, DealHub approver group, or CPQ approval hierarchy via API. DealFlow writes the decision back. It does not replace the CPQ.</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RISKS AND BOUNDARIES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crew cannot do, and how we know  ·  DealFlow</a:t>
            </a:r>
            <a:endParaRPr lang="en-US" sz="1200" dirty="0"/>
          </a:p>
        </p:txBody>
      </p:sp>
      <p:sp>
        <p:nvSpPr>
          <p:cNvPr id="5" name="Shape 3"/>
          <p:cNvSpPr/>
          <p:nvPr/>
        </p:nvSpPr>
        <p:spPr>
          <a:xfrm>
            <a:off x="274320" y="1188720"/>
            <a:ext cx="3749040" cy="3108960"/>
          </a:xfrm>
          <a:prstGeom prst="roundRect">
            <a:avLst>
              <a:gd name="adj" fmla="val 2941"/>
            </a:avLst>
          </a:prstGeom>
          <a:solidFill>
            <a:srgbClr val="141416"/>
          </a:solidFill>
          <a:ln/>
        </p:spPr>
      </p:sp>
      <p:sp>
        <p:nvSpPr>
          <p:cNvPr id="6" name="Shape 4"/>
          <p:cNvSpPr/>
          <p:nvPr/>
        </p:nvSpPr>
        <p:spPr>
          <a:xfrm>
            <a:off x="274320" y="1188720"/>
            <a:ext cx="109728" cy="31089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a:t>
            </a:r>
            <a:endParaRPr lang="en-US" sz="1200" dirty="0"/>
          </a:p>
        </p:txBody>
      </p:sp>
      <p:sp>
        <p:nvSpPr>
          <p:cNvPr id="9" name="Shape 7"/>
          <p:cNvSpPr/>
          <p:nvPr/>
        </p:nvSpPr>
        <p:spPr>
          <a:xfrm>
            <a:off x="4160520" y="1188720"/>
            <a:ext cx="3749040" cy="3108960"/>
          </a:xfrm>
          <a:prstGeom prst="roundRect">
            <a:avLst>
              <a:gd name="adj" fmla="val 2941"/>
            </a:avLst>
          </a:prstGeom>
          <a:solidFill>
            <a:srgbClr val="141416"/>
          </a:solidFill>
          <a:ln/>
        </p:spPr>
      </p:sp>
      <p:sp>
        <p:nvSpPr>
          <p:cNvPr id="10" name="Shape 8"/>
          <p:cNvSpPr/>
          <p:nvPr/>
        </p:nvSpPr>
        <p:spPr>
          <a:xfrm>
            <a:off x="4160520" y="1188720"/>
            <a:ext cx="109728" cy="3108960"/>
          </a:xfrm>
          <a:prstGeom prst="rect">
            <a:avLst/>
          </a:prstGeom>
          <a:solidFill>
            <a:srgbClr val="FF3D6E"/>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OVER-AUTONOMY</a:t>
            </a:r>
            <a:endParaRPr lang="en-US" sz="1300" dirty="0"/>
          </a:p>
        </p:txBody>
      </p:sp>
      <p:sp>
        <p:nvSpPr>
          <p:cNvPr id="12" name="Text 10"/>
          <p:cNvSpPr/>
          <p:nvPr/>
        </p:nvSpPr>
        <p:spPr>
          <a:xfrm>
            <a:off x="44348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crew cannot send, sign, or convert. It cannot invent policy, auto-approve on a Reject, or change commercial terms. Escalate always names a person and an SLA. Reject returns the quote to the seller. Approved clears the hop and stops. The seller keeps everything after Approved.</a:t>
            </a:r>
            <a:endParaRPr lang="en-US" sz="1200" dirty="0"/>
          </a:p>
        </p:txBody>
      </p:sp>
      <p:sp>
        <p:nvSpPr>
          <p:cNvPr id="13" name="Shape 11"/>
          <p:cNvSpPr/>
          <p:nvPr/>
        </p:nvSpPr>
        <p:spPr>
          <a:xfrm>
            <a:off x="8046720" y="1188720"/>
            <a:ext cx="3749040" cy="3108960"/>
          </a:xfrm>
          <a:prstGeom prst="roundRect">
            <a:avLst>
              <a:gd name="adj" fmla="val 2941"/>
            </a:avLst>
          </a:prstGeom>
          <a:solidFill>
            <a:srgbClr val="141416"/>
          </a:solidFill>
          <a:ln/>
        </p:spPr>
      </p:sp>
      <p:sp>
        <p:nvSpPr>
          <p:cNvPr id="14" name="Shape 12"/>
          <p:cNvSpPr/>
          <p:nvPr/>
        </p:nvSpPr>
        <p:spPr>
          <a:xfrm>
            <a:off x="8046720" y="1188720"/>
            <a:ext cx="109728" cy="3108960"/>
          </a:xfrm>
          <a:prstGeom prst="rect">
            <a:avLst/>
          </a:prstGeom>
          <a:solidFill>
            <a:srgbClr val="2F6A4F"/>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PROMPT INJECTION</a:t>
            </a:r>
            <a:endParaRPr lang="en-US" sz="1300" dirty="0"/>
          </a:p>
        </p:txBody>
      </p:sp>
      <p:sp>
        <p:nvSpPr>
          <p:cNvPr id="16" name="Text 14"/>
          <p:cNvSpPr/>
          <p:nvPr/>
        </p:nvSpPr>
        <p:spPr>
          <a:xfrm>
            <a:off x="83210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The note is evidence of an attack, not an instruction. Kite &amp; Harbor is the live example. The guardrail scores note_ignored.</a:t>
            </a:r>
            <a:endParaRPr lang="en-US" sz="1200" dirty="0"/>
          </a:p>
        </p:txBody>
      </p:sp>
      <p:sp>
        <p:nvSpPr>
          <p:cNvPr id="17" name="Shape 15"/>
          <p:cNvSpPr/>
          <p:nvPr/>
        </p:nvSpPr>
        <p:spPr>
          <a:xfrm>
            <a:off x="274320" y="4480560"/>
            <a:ext cx="11640312" cy="2057400"/>
          </a:xfrm>
          <a:prstGeom prst="roundRect">
            <a:avLst>
              <a:gd name="adj" fmla="val 4444"/>
            </a:avLst>
          </a:prstGeom>
          <a:solidFill>
            <a:srgbClr val="1A2530"/>
          </a:solidFill>
          <a:ln/>
        </p:spPr>
      </p:sp>
      <p:sp>
        <p:nvSpPr>
          <p:cNvPr id="18" name="Text 16"/>
          <p:cNvSpPr/>
          <p:nvPr/>
        </p:nvSpPr>
        <p:spPr>
          <a:xfrm>
            <a:off x="457200" y="46177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HOW WE KNOW THE BOUNDARIES HOLD</a:t>
            </a:r>
            <a:endParaRPr lang="en-US" sz="1200" dirty="0"/>
          </a:p>
        </p:txBody>
      </p:sp>
      <p:sp>
        <p:nvSpPr>
          <p:cNvPr id="19" name="Text 17"/>
          <p:cNvSpPr/>
          <p:nvPr/>
        </p:nvSpPr>
        <p:spPr>
          <a:xfrm>
            <a:off x="457200" y="4983480"/>
            <a:ext cx="11247120" cy="13716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Langfuse traces every hop: plan, two specialists, combine, guardrail. Scores on the trace include label_match and note_ignored. An approval that followed the notes scores zero. The golden set is the release gate — 9 of 9 currently match. A policy version change is a human confirm, not a silent extract. Switching a policy pack changes what the next hop reads. It does not rewrite closed decisions.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In production the graph runs in a container beside the CPQ. GET /health and POST /hop on port 8091. Biggest risk is customer trust and clean CPQ field mapping. Cost today without the agent is 1–3 FTE of Deal Desk time on routine reviews.</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Business owner (Head of Sales Ops / VP RevOps) remains accountable. The agent is decision-support, not final authority on exceptions.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Scope is 30–60 days: shadow mode first, then auto-approve on high confidence only. Books DISC-POL-2026-01 and PAY-POL-2026-01, version 2026.Q3, confirmed 2026-07-15. Golden set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Misses from the harness become new golden rows. Overrides are logged for future learning — continuous learning is not in the MVP. Threshold and assignment stay config. Kill criteria: material margin leakage, trust collapse, or integration instability.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Pilot is 30–60 days, shadow mode first, then auto-approve on high confidence. Nine-quote golden set owned by RevOps — currently 9 of 9. Langfuse traces every hop. Escalate names a person and an SLA. Seller keeps Sent, Signed, and Converted.</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OVERSIGHT PLAN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BIAS IN THE BOOK</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OPAQUE DECISIONS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OVER-AUTONOMY</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PROMPT INJECTION</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That is the ethical control, not a filter on tone. Kite &amp; Harbor is the live example. The guardrail scores note_ignored. An approval that followed the notes scores zero.</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Privacy: the hop reads commercial fields only — discount, terms, ACV, receivables. It does not need personal data beyond the seller and the account name.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OVERSIGHT IS ENFORCED</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human confirm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SCORES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 A miss becomes a new golden row.</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HUMAN CONFIRM</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policy version change is a human confirm, not a silent extract. Upload → AI extract → human confirm → live version. Ceiling edits apply to the next hop only. Publishing archives the previous version and stamps ownership. Reset demo book restores the loaded extract. Switching a policy pack changes what the next hop reads. It does not rewrite closed decisions.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OVERSIGHT CATCHES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Non-goals: no judgment on complex strategic deals, no continuous learning from overrides in the MVP, no legal redlining. A missing citation forces a hold. Over-autonomy is blocked. Prompt injection is blocked.</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Baseline is 2.1 days. A clean renewal clears in under 30 seconds. Northwind (17.8% inside 22%, credit Strong) is Approved at 89% and the seller sends. Harbor lands with Finance and a 24-hour SLA.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Both books fail, so the assignee is VP Sales + Finance, 24h.</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7726</Words>
  <Application>Microsoft Office PowerPoint</Application>
  <PresentationFormat>Custom</PresentationFormat>
  <Paragraphs>446</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Oswald</vt:lpstr>
      <vt:lpstr>Oswald SemiBold</vt:lpstr>
      <vt:lpstr>Poppins</vt:lpstr>
      <vt:lpstr>Poppins SemiBold</vt:lpstr>
      <vt:lpstr>Office Theme</vt:lpstr>
      <vt:lpstr>        Agent-driven Automation in Products 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Target Personas &amp; Jobs to be Done</dc:title>
  <dc:subject>PptxGenJS Presentation</dc:subject>
  <dc:creator>Shashank Jasra</dc:creator>
  <cp:lastModifiedBy>Sarthak Jasra</cp:lastModifiedBy>
  <cp:revision>13</cp:revision>
  <dcterms:created xsi:type="dcterms:W3CDTF">2026-10-30T14:41:01Z</dcterms:created>
  <dcterms:modified xsi:type="dcterms:W3CDTF">2026-10-30T16:53:11Z</dcterms:modified>
</cp:coreProperties>
</file>