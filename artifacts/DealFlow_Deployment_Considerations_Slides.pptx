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DEPLOYMENT CONSIDERATIONS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INFRASTRUCTURE</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Python service on a private port. LangGraph compiles the crew. The product UI is the seller and admin console. In production the graph runs in a container beside the CPQ, not inside it. GET /health and POST /hop on port 8091. The UI calls the hop on Submit.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indent="0" marL="0">
              <a:buNone/>
            </a:pPr>
            <a:r>
              <a:rPr lang="en-US" sz="1400" b="1" dirty="0">
                <a:solidFill>
                  <a:srgbClr val="2F6A4F"/>
                </a:solidFill>
                <a:latin typeface="Calibri" pitchFamily="34" charset="0"/>
                <a:ea typeface="Calibri" pitchFamily="34" charset="-122"/>
                <a:cs typeface="Calibri" pitchFamily="34" charset="-120"/>
              </a:rPr>
              <a:t>INTEGRATION</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Submit for approval is the only inbound event. Write-back is one stage, or an assignment that resolves to a Salesforce queue, a DealHub group, or a Zuora approval hierarchy. The quote book is a closed extract in the same shape a Salesforce CPQ webhook would send. Agents do not train on these rows.</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SYSTEM OF RECORD</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Salesforce CPQ, Revenue Cloud, DealHub, Conga, and Zuora stay the system of record. DealFlow owns only the hop. Approved clears the quote. Escalate names a person and an SLA. The seller keeps Sent, Signed, and Converted. The CPQ remains the authority.</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indent="0" marL="0">
              <a:buNone/>
            </a:pPr>
            <a:r>
              <a:rPr lang="en-US" sz="1200" b="1" dirty="0">
                <a:solidFill>
                  <a:srgbClr val="1D5C68"/>
                </a:solidFill>
                <a:latin typeface="Calibri" pitchFamily="34" charset="0"/>
                <a:ea typeface="Calibri" pitchFamily="34" charset="-122"/>
                <a:cs typeface="Calibri" pitchFamily="34" charset="-120"/>
              </a:rPr>
              <a:t>WHAT THE HOP READS AND WRITES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indent="0" marL="0">
              <a:buNone/>
            </a:pPr>
            <a:r>
              <a:rPr lang="en-US" sz="1300" dirty="0">
                <a:solidFill>
                  <a:srgbClr val="E8E4DC"/>
                </a:solidFill>
                <a:latin typeface="Calibri" pitchFamily="34" charset="0"/>
                <a:ea typeface="Calibri" pitchFamily="34" charset="-122"/>
                <a:cs typeface="Calibri" pitchFamily="34" charset="-120"/>
              </a:rPr>
              <a:t>On Submit the hop reads the live discount book (DISC-POL-2026-01), the cash book (PAY-POL-2026-01), and the commercial file (closed years, peers, receivables). It writes one cited label or one named assignment. It does not write Sent, Signed, or Converted. Ceiling edits apply to the next hop only and do not rewrite closed decisions.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SECURITY, COMPLIANCE, AND GUARDRAILS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What the deployment must enforce  ·  DealFlow</a:t>
            </a:r>
            <a:endParaRPr lang="en-US" sz="1200" dirty="0"/>
          </a:p>
        </p:txBody>
      </p:sp>
      <p:sp>
        <p:nvSpPr>
          <p:cNvPr id="5" name="Shape 3"/>
          <p:cNvSpPr/>
          <p:nvPr/>
        </p:nvSpPr>
        <p:spPr>
          <a:xfrm>
            <a:off x="274320" y="1188720"/>
            <a:ext cx="3749040" cy="3657600"/>
          </a:xfrm>
          <a:prstGeom prst="roundRect">
            <a:avLst>
              <a:gd name="adj" fmla="val 2500"/>
            </a:avLst>
          </a:prstGeom>
          <a:solidFill>
            <a:srgbClr val="141416"/>
          </a:solidFill>
          <a:ln/>
        </p:spPr>
      </p:sp>
      <p:sp>
        <p:nvSpPr>
          <p:cNvPr id="6" name="Shape 4"/>
          <p:cNvSpPr/>
          <p:nvPr/>
        </p:nvSpPr>
        <p:spPr>
          <a:xfrm>
            <a:off x="274320" y="1188720"/>
            <a:ext cx="109728" cy="365760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SECURITY</a:t>
            </a:r>
            <a:endParaRPr lang="en-US" sz="1400" dirty="0"/>
          </a:p>
        </p:txBody>
      </p:sp>
      <p:sp>
        <p:nvSpPr>
          <p:cNvPr id="8" name="Text 6"/>
          <p:cNvSpPr/>
          <p:nvPr/>
        </p:nvSpPr>
        <p:spPr>
          <a:xfrm>
            <a:off x="548640" y="1874520"/>
            <a:ext cx="3291840" cy="274320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Agents cannot read notes as instructions. Output guardrail blocks a looser label than the books. Policy versions are owned. No agent writes Sent, Signed, or Converted. Keys for Langfuse stay server-side. The hop reads commercial fields only: discount, terms, ACV, receivables.</a:t>
            </a:r>
            <a:endParaRPr lang="en-US" sz="1200" dirty="0"/>
          </a:p>
        </p:txBody>
      </p:sp>
      <p:sp>
        <p:nvSpPr>
          <p:cNvPr id="9" name="Shape 7"/>
          <p:cNvSpPr/>
          <p:nvPr/>
        </p:nvSpPr>
        <p:spPr>
          <a:xfrm>
            <a:off x="4160520" y="1188720"/>
            <a:ext cx="3749040" cy="3657600"/>
          </a:xfrm>
          <a:prstGeom prst="roundRect">
            <a:avLst>
              <a:gd name="adj" fmla="val 2500"/>
            </a:avLst>
          </a:prstGeom>
          <a:solidFill>
            <a:srgbClr val="141416"/>
          </a:solidFill>
          <a:ln/>
        </p:spPr>
      </p:sp>
      <p:sp>
        <p:nvSpPr>
          <p:cNvPr id="10" name="Shape 8"/>
          <p:cNvSpPr/>
          <p:nvPr/>
        </p:nvSpPr>
        <p:spPr>
          <a:xfrm>
            <a:off x="4160520" y="1188720"/>
            <a:ext cx="109728" cy="365760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indent="0" marL="0">
              <a:buNone/>
            </a:pPr>
            <a:r>
              <a:rPr lang="en-US" sz="1400" b="1" dirty="0">
                <a:solidFill>
                  <a:srgbClr val="2F6A4F"/>
                </a:solidFill>
                <a:latin typeface="Calibri" pitchFamily="34" charset="0"/>
                <a:ea typeface="Calibri" pitchFamily="34" charset="-122"/>
                <a:cs typeface="Calibri" pitchFamily="34" charset="-120"/>
              </a:rPr>
              <a:t>COMPLIANCE</a:t>
            </a:r>
            <a:endParaRPr lang="en-US" sz="1400" dirty="0"/>
          </a:p>
        </p:txBody>
      </p:sp>
      <p:sp>
        <p:nvSpPr>
          <p:cNvPr id="12" name="Text 10"/>
          <p:cNvSpPr/>
          <p:nvPr/>
        </p:nvSpPr>
        <p:spPr>
          <a:xfrm>
            <a:off x="4434840" y="1874520"/>
            <a:ext cx="3291840" cy="274320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Full audit trail. Versioned books with RevOps or Finance as owner. Per-customer policy packs so one tenant’s ceiling is not another’s. Helio and Northstar already ship. Switching the live pack changes what the next hop reads. It does not rewrite closed decisions. Golden set is the release gate.</a:t>
            </a:r>
            <a:endParaRPr lang="en-US" sz="1200" dirty="0"/>
          </a:p>
        </p:txBody>
      </p:sp>
      <p:sp>
        <p:nvSpPr>
          <p:cNvPr id="13" name="Shape 11"/>
          <p:cNvSpPr/>
          <p:nvPr/>
        </p:nvSpPr>
        <p:spPr>
          <a:xfrm>
            <a:off x="8046720" y="1188720"/>
            <a:ext cx="3749040" cy="3657600"/>
          </a:xfrm>
          <a:prstGeom prst="roundRect">
            <a:avLst>
              <a:gd name="adj" fmla="val 2500"/>
            </a:avLst>
          </a:prstGeom>
          <a:solidFill>
            <a:srgbClr val="141416"/>
          </a:solidFill>
          <a:ln/>
        </p:spPr>
      </p:sp>
      <p:sp>
        <p:nvSpPr>
          <p:cNvPr id="14" name="Shape 12"/>
          <p:cNvSpPr/>
          <p:nvPr/>
        </p:nvSpPr>
        <p:spPr>
          <a:xfrm>
            <a:off x="8046720" y="1188720"/>
            <a:ext cx="109728" cy="365760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indent="0" marL="0">
              <a:buNone/>
            </a:pPr>
            <a:r>
              <a:rPr lang="en-US" sz="1400" b="1" dirty="0">
                <a:solidFill>
                  <a:srgbClr val="FF3D6E"/>
                </a:solidFill>
                <a:latin typeface="Calibri" pitchFamily="34" charset="0"/>
                <a:ea typeface="Calibri" pitchFamily="34" charset="-122"/>
                <a:cs typeface="Calibri" pitchFamily="34" charset="-120"/>
              </a:rPr>
              <a:t>GUARDRAILS IN DEPLOYMENT</a:t>
            </a:r>
            <a:endParaRPr lang="en-US" sz="1400" dirty="0"/>
          </a:p>
        </p:txBody>
      </p:sp>
      <p:sp>
        <p:nvSpPr>
          <p:cNvPr id="16" name="Text 14"/>
          <p:cNvSpPr/>
          <p:nvPr/>
        </p:nvSpPr>
        <p:spPr>
          <a:xfrm>
            <a:off x="8321040" y="1874520"/>
            <a:ext cx="3291840" cy="274320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Escalate always names a person and an SLA. Over-autonomy is blocked: the crew cannot send, sign, or convert.</a:t>
            </a:r>
            <a:endParaRPr lang="en-US" sz="1200" dirty="0"/>
          </a:p>
        </p:txBody>
      </p:sp>
      <p:sp>
        <p:nvSpPr>
          <p:cNvPr id="17" name="Shape 15"/>
          <p:cNvSpPr/>
          <p:nvPr/>
        </p:nvSpPr>
        <p:spPr>
          <a:xfrm>
            <a:off x="274320" y="5029200"/>
            <a:ext cx="11640312" cy="1508760"/>
          </a:xfrm>
          <a:prstGeom prst="roundRect">
            <a:avLst>
              <a:gd name="adj" fmla="val 6061"/>
            </a:avLst>
          </a:prstGeom>
          <a:solidFill>
            <a:srgbClr val="1A2530"/>
          </a:solidFill>
          <a:ln/>
        </p:spPr>
      </p:sp>
      <p:sp>
        <p:nvSpPr>
          <p:cNvPr id="18" name="Text 16"/>
          <p:cNvSpPr/>
          <p:nvPr/>
        </p:nvSpPr>
        <p:spPr>
          <a:xfrm>
            <a:off x="457200" y="5166360"/>
            <a:ext cx="10972800" cy="27432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DEPLOYMENT BOUNDARY</a:t>
            </a:r>
            <a:endParaRPr lang="en-US" sz="1200" dirty="0"/>
          </a:p>
        </p:txBody>
      </p:sp>
      <p:sp>
        <p:nvSpPr>
          <p:cNvPr id="19" name="Text 17"/>
          <p:cNvSpPr/>
          <p:nvPr/>
        </p:nvSpPr>
        <p:spPr>
          <a:xfrm>
            <a:off x="457200" y="5532120"/>
            <a:ext cx="11247120" cy="822960"/>
          </a:xfrm>
          <a:prstGeom prst="rect">
            <a:avLst/>
          </a:prstGeom>
          <a:noFill/>
          <a:ln/>
        </p:spPr>
        <p:txBody>
          <a:bodyPr wrap="square" rtlCol="0" anchor="ctr"/>
          <a:lstStyle/>
          <a:p>
            <a:pPr indent="0" marL="0">
              <a:buNone/>
            </a:pPr>
            <a:r>
              <a:rPr lang="en-US" sz="1300" dirty="0">
                <a:solidFill>
                  <a:srgbClr val="E8E4DC"/>
                </a:solidFill>
                <a:latin typeface="Calibri" pitchFamily="34" charset="0"/>
                <a:ea typeface="Calibri" pitchFamily="34" charset="-122"/>
                <a:cs typeface="Calibri" pitchFamily="34" charset="-120"/>
              </a:rPr>
              <a:t>The product is a specialist the CPQ calls. It is not a CPQ replacement. In production the graph runs beside the system of record. The only thing written back is one stage or one named assignment. Everything else stays with the seller and the CPQ.</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Deployment Considerations</dc:title>
  <dc:subject>PptxGenJS Presentation</dc:subject>
  <dc:creator>Shashank Jasra</dc:creator>
  <cp:lastModifiedBy>Shashank Jasra</cp:lastModifiedBy>
  <cp:revision>1</cp:revision>
  <dcterms:created xsi:type="dcterms:W3CDTF">2026-10-30T15:09:48Z</dcterms:created>
  <dcterms:modified xsi:type="dcterms:W3CDTF">2026-10-30T15:09:48Z</dcterms:modified>
</cp:coreProperties>
</file>